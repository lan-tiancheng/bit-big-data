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tags/tag8.xml" ContentType="application/vnd.openxmlformats-officedocument.presentationml.tag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5" r:id="rId3"/>
    <p:sldMasterId id="2147483667" r:id="rId4"/>
    <p:sldMasterId id="2147483693" r:id="rId5"/>
  </p:sldMasterIdLst>
  <p:notesMasterIdLst>
    <p:notesMasterId r:id="rId61"/>
  </p:notesMasterIdLst>
  <p:sldIdLst>
    <p:sldId id="1832" r:id="rId6"/>
    <p:sldId id="1729" r:id="rId7"/>
    <p:sldId id="1833" r:id="rId8"/>
    <p:sldId id="1795" r:id="rId9"/>
    <p:sldId id="2760" r:id="rId10"/>
    <p:sldId id="2761" r:id="rId11"/>
    <p:sldId id="2762" r:id="rId12"/>
    <p:sldId id="2676" r:id="rId13"/>
    <p:sldId id="2697" r:id="rId14"/>
    <p:sldId id="2763" r:id="rId15"/>
    <p:sldId id="2752" r:id="rId16"/>
    <p:sldId id="2764" r:id="rId17"/>
    <p:sldId id="2765" r:id="rId18"/>
    <p:sldId id="2766" r:id="rId19"/>
    <p:sldId id="2767" r:id="rId20"/>
    <p:sldId id="2768" r:id="rId21"/>
    <p:sldId id="2769" r:id="rId22"/>
    <p:sldId id="2770" r:id="rId23"/>
    <p:sldId id="2771" r:id="rId24"/>
    <p:sldId id="2772" r:id="rId25"/>
    <p:sldId id="2773" r:id="rId26"/>
    <p:sldId id="2685" r:id="rId27"/>
    <p:sldId id="2789" r:id="rId28"/>
    <p:sldId id="2774" r:id="rId29"/>
    <p:sldId id="2793" r:id="rId30"/>
    <p:sldId id="2794" r:id="rId31"/>
    <p:sldId id="2797" r:id="rId32"/>
    <p:sldId id="2798" r:id="rId33"/>
    <p:sldId id="2799" r:id="rId34"/>
    <p:sldId id="2790" r:id="rId35"/>
    <p:sldId id="2791" r:id="rId36"/>
    <p:sldId id="2792" r:id="rId37"/>
    <p:sldId id="2671" r:id="rId38"/>
    <p:sldId id="2775" r:id="rId39"/>
    <p:sldId id="2781" r:id="rId40"/>
    <p:sldId id="2776" r:id="rId41"/>
    <p:sldId id="2782" r:id="rId42"/>
    <p:sldId id="2800" r:id="rId43"/>
    <p:sldId id="2801" r:id="rId44"/>
    <p:sldId id="2802" r:id="rId45"/>
    <p:sldId id="2803" r:id="rId46"/>
    <p:sldId id="2804" r:id="rId47"/>
    <p:sldId id="2805" r:id="rId48"/>
    <p:sldId id="2806" r:id="rId49"/>
    <p:sldId id="2807" r:id="rId50"/>
    <p:sldId id="2808" r:id="rId51"/>
    <p:sldId id="2809" r:id="rId52"/>
    <p:sldId id="2778" r:id="rId53"/>
    <p:sldId id="2674" r:id="rId54"/>
    <p:sldId id="2810" r:id="rId55"/>
    <p:sldId id="2811" r:id="rId56"/>
    <p:sldId id="2785" r:id="rId57"/>
    <p:sldId id="2779" r:id="rId58"/>
    <p:sldId id="2787" r:id="rId59"/>
    <p:sldId id="1835" r:id="rId6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88" autoAdjust="0"/>
  </p:normalViewPr>
  <p:slideViewPr>
    <p:cSldViewPr snapToGrid="0">
      <p:cViewPr varScale="1">
        <p:scale>
          <a:sx n="81" d="100"/>
          <a:sy n="81" d="100"/>
        </p:scale>
        <p:origin x="3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5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3433B-6F60-45C5-BEA9-A1D615DF616B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B9002-ACCA-4B1B-BA66-05BED9764F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19AF1A-C455-4844-80A4-D9AEE66907D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19AF1A-C455-4844-80A4-D9AEE66907D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You can see C like melon and strawberry, and so does A, so A is the neighbor of C, predict C will like orange as A.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用户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都喜欢物品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，而用户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还喜欢物品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，且物品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与物品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相似，故而就会给用户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推荐物品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元素 </a:t>
            </a:r>
            <a:r>
              <a:rPr lang="en-US" altLang="zh-CN" dirty="0"/>
              <a:t>element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Norm of A and B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之前的喜欢与不喜欢相对简单，直接判断，现在的需要用</a:t>
            </a:r>
            <a:r>
              <a:rPr lang="en-US" altLang="zh-CN" dirty="0"/>
              <a:t>rating score </a:t>
            </a:r>
            <a:r>
              <a:rPr lang="zh-CN" altLang="en-US" dirty="0"/>
              <a:t>来衡量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64383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稀疏性 用一个实例来讲解 真实的矩阵 </a:t>
            </a:r>
            <a:endParaRPr lang="en-US" altLang="zh-CN" dirty="0"/>
          </a:p>
          <a:p>
            <a:r>
              <a:rPr lang="en-US" altLang="zh-CN" dirty="0"/>
              <a:t>Cold-start </a:t>
            </a:r>
            <a:r>
              <a:rPr lang="zh-CN" altLang="en-US" dirty="0"/>
              <a:t>缺少用户 </a:t>
            </a:r>
            <a:endParaRPr lang="en-US" altLang="zh-CN" dirty="0"/>
          </a:p>
          <a:p>
            <a:r>
              <a:rPr lang="en-US" altLang="zh-CN" dirty="0" err="1"/>
              <a:t>paris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86428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用户</a:t>
            </a:r>
            <a:r>
              <a:rPr lang="en-US" altLang="zh-CN" dirty="0"/>
              <a:t>–</a:t>
            </a:r>
            <a:r>
              <a:rPr lang="zh-CN" altLang="en-US" dirty="0"/>
              <a:t>物品矩阵非常稀疏（大多数用户只评价过极少项目）；</a:t>
            </a:r>
          </a:p>
          <a:p>
            <a:endParaRPr lang="zh-CN" altLang="en-US" dirty="0"/>
          </a:p>
          <a:p>
            <a:r>
              <a:rPr lang="zh-CN" altLang="en-US" dirty="0"/>
              <a:t>相似度难以计算（例如两个用户共同评分的项目太少）；</a:t>
            </a:r>
          </a:p>
          <a:p>
            <a:endParaRPr lang="zh-CN" altLang="en-US" dirty="0"/>
          </a:p>
          <a:p>
            <a:r>
              <a:rPr lang="zh-CN" altLang="en-US" dirty="0"/>
              <a:t>很难进行泛化（冷启动、长尾物品无法推荐）。</a:t>
            </a:r>
          </a:p>
          <a:p>
            <a:endParaRPr lang="zh-CN" altLang="en-US" dirty="0"/>
          </a:p>
          <a:p>
            <a:r>
              <a:rPr lang="zh-CN" altLang="en-US" dirty="0"/>
              <a:t>隐语义模型的优势：</a:t>
            </a:r>
          </a:p>
          <a:p>
            <a:endParaRPr lang="zh-CN" altLang="en-US" dirty="0"/>
          </a:p>
          <a:p>
            <a:r>
              <a:rPr lang="zh-CN" altLang="en-US" dirty="0"/>
              <a:t>不再依赖用户之间或物品之间的“直接相似度”；</a:t>
            </a:r>
          </a:p>
          <a:p>
            <a:endParaRPr lang="zh-CN" altLang="en-US" dirty="0"/>
          </a:p>
          <a:p>
            <a:r>
              <a:rPr lang="zh-CN" altLang="en-US" dirty="0"/>
              <a:t>通过潜在空间学习到“间接关联”；</a:t>
            </a:r>
          </a:p>
          <a:p>
            <a:endParaRPr lang="zh-CN" altLang="en-US" dirty="0"/>
          </a:p>
          <a:p>
            <a:r>
              <a:rPr lang="zh-CN" altLang="en-US" dirty="0"/>
              <a:t>即使用户没看过某类电影，也能根据潜在特征预测他是否会喜欢。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80BF4-C0A6-0187-C7C9-2AE3B3529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4BF52F-3E0E-068D-A238-A30417A55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BCAE42-BA27-19A5-26D2-6B5004EA8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DD28CB-B76A-DC83-B129-BD15323810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5673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4EE4-80B6-C24C-6C7D-22B5BE7C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5F2BE3-7F5A-4B35-9D1F-729B45EF5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86990D-68C6-DAEB-C157-10F7E6568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FB125C-46D5-403A-A22D-EA126DB61F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98272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71C1E-2B95-3C85-1F19-56982844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E5E339-9709-8153-C992-87B0F667D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D8441A-A8F8-BFEC-375A-D4E292830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UV </a:t>
            </a:r>
            <a:r>
              <a:rPr lang="zh-CN" altLang="en-US" dirty="0"/>
              <a:t>是旋转变换 ∑是伸缩变换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E41ACC-6FE6-8428-1A4A-B3F5016511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4519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ED96A-5DE8-F93E-739A-FFD412252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502824-5FB8-57BE-36BB-E00D1CA1B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64F72D-E6A2-96DB-73AE-E1B4BE6AC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转置 </a:t>
            </a:r>
            <a:r>
              <a:rPr lang="en-US" altLang="zh-CN" dirty="0"/>
              <a:t>transpose</a:t>
            </a:r>
          </a:p>
          <a:p>
            <a:r>
              <a:rPr lang="en-US" altLang="zh-CN" dirty="0"/>
              <a:t>The sqrt of …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B274A5-DC39-5110-0989-749E74AEAE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0162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1D01-6F1A-59EC-E0A9-DAA0FCC91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CB6DEC-5E03-F7C0-F37F-C9F64CD7E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2B6448-FF79-A326-B247-BD5DAF3FE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转置 </a:t>
            </a:r>
            <a:r>
              <a:rPr lang="en-US" altLang="zh-CN" dirty="0"/>
              <a:t>transpose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7CFCAD-61EE-422E-746C-3A43224CB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33648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D27DD-81D5-768C-B86B-E0FE4166C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8FC797-0856-98BA-A92D-C944CE2EB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734408-9DAC-7B21-DF36-084868244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563915-2B5A-AC59-4D8C-307DCCF99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25615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17E89-E455-13C9-8566-6C3E57A7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247A70-65DD-77C1-64D2-BB3E17BD8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23C853F5-CA2B-255C-0923-5929A1220F9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矩阵分解中的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</m:oMath>
                </a14:m>
                <a:r>
                  <a:rPr lang="zh-CN" altLang="en-US" dirty="0"/>
                  <a:t>（用户特征矩阵）和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𝑄</m:t>
                    </m:r>
                  </m:oMath>
                </a14:m>
                <a:r>
                  <a:rPr lang="zh-CN" altLang="en-US" dirty="0"/>
                  <a:t>（物品特征矩阵）中的数值，是</a:t>
                </a:r>
                <a:r>
                  <a:rPr lang="zh-CN" altLang="en-US" b="1" dirty="0"/>
                  <a:t>连续实数参数</a:t>
                </a:r>
                <a:r>
                  <a:rPr lang="zh-CN" altLang="en-US" dirty="0"/>
                  <a:t>，不是“比例”或“权重和为</a:t>
                </a:r>
                <a:r>
                  <a:rPr lang="en-US" altLang="zh-CN" dirty="0"/>
                  <a:t>1”</a:t>
                </a:r>
                <a:r>
                  <a:rPr lang="zh-CN" altLang="en-US" dirty="0"/>
                  <a:t>的概率。</a:t>
                </a:r>
                <a:endParaRPr lang="en-US" altLang="zh-CN" dirty="0"/>
              </a:p>
              <a:p>
                <a:r>
                  <a:rPr lang="zh-CN" altLang="en-US" dirty="0"/>
                  <a:t>就是把用户对</a:t>
                </a:r>
                <a:r>
                  <a:rPr lang="en-US" altLang="zh-CN" dirty="0"/>
                  <a:t>item</a:t>
                </a:r>
                <a:r>
                  <a:rPr lang="zh-CN" altLang="en-US" dirty="0"/>
                  <a:t>的评分矩阵分解为两个目标特征的矩阵。</a:t>
                </a:r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23C853F5-CA2B-255C-0923-5929A1220F9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矩阵分解中的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zh-CN" altLang="en-US" dirty="0"/>
                  <a:t>（用户特征矩阵）和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</a:t>
                </a:r>
                <a:r>
                  <a:rPr lang="zh-CN" altLang="en-US" dirty="0"/>
                  <a:t>（物品特征矩阵）中的数值，是</a:t>
                </a:r>
                <a:r>
                  <a:rPr lang="zh-CN" altLang="en-US" b="1" dirty="0"/>
                  <a:t>连续实数参数</a:t>
                </a:r>
                <a:r>
                  <a:rPr lang="zh-CN" altLang="en-US" dirty="0"/>
                  <a:t>，不是“比例”或“权重和为</a:t>
                </a:r>
                <a:r>
                  <a:rPr lang="en-US" altLang="zh-CN" dirty="0"/>
                  <a:t>1”</a:t>
                </a:r>
                <a:r>
                  <a:rPr lang="zh-CN" altLang="en-US" dirty="0"/>
                  <a:t>的概率。</a:t>
                </a:r>
                <a:endParaRPr lang="en-US" altLang="zh-CN" dirty="0"/>
              </a:p>
              <a:p>
                <a:r>
                  <a:rPr lang="zh-CN" altLang="en-US" dirty="0"/>
                  <a:t>就是把用户对</a:t>
                </a:r>
                <a:r>
                  <a:rPr lang="en-US" altLang="zh-CN" dirty="0"/>
                  <a:t>item</a:t>
                </a:r>
                <a:r>
                  <a:rPr lang="zh-CN" altLang="en-US" dirty="0"/>
                  <a:t>的评分矩阵分解为两个目标特征的矩阵。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EB9DDC-CDB6-C5A3-650E-DDAF2D0548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93108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EF73E-DDD6-6B50-6F18-CE618D3B5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5441CC-909D-B9FA-1BDB-30028F78A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9590BCD2-8186-A160-9FBF-C2EA9F295B7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但是第二步中的计算结果不一定是最好的，我们会利用梯度下降法来更新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矩阵，来得到更加精确的结果。</a:t>
                </a:r>
                <a:endParaRPr lang="en-US" altLang="zh-CN" dirty="0"/>
              </a:p>
              <a:p>
                <a:r>
                  <a:rPr lang="zh-CN" altLang="en-US" dirty="0"/>
                  <a:t>正则化防止过拟合 </a:t>
                </a:r>
                <a:br>
                  <a:rPr lang="en-US" altLang="zh-CN" dirty="0"/>
                </a:br>
                <a:r>
                  <a:rPr lang="en-US" altLang="zh-CN" b="1" dirty="0"/>
                  <a:t>1️⃣ </a:t>
                </a:r>
                <a:r>
                  <a:rPr lang="zh-CN" altLang="en-US" b="1" dirty="0"/>
                  <a:t>矩阵和向量</a:t>
                </a:r>
              </a:p>
              <a:p>
                <a:r>
                  <a:rPr lang="zh-CN" altLang="en-US" dirty="0"/>
                  <a:t>符号含义备注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</m:oMath>
                </a14:m>
                <a:r>
                  <a:rPr lang="zh-CN" altLang="en-US" dirty="0"/>
                  <a:t>用户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物品评分矩阵每个元素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𝑢𝑖</m:t>
                        </m:r>
                      </m:sub>
                    </m:sSub>
                  </m:oMath>
                </a14:m>
                <a:r>
                  <a:rPr lang="zh-CN" altLang="en-US" dirty="0"/>
                  <a:t>表示用户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</m:oMath>
                </a14:m>
                <a:r>
                  <a:rPr lang="zh-CN" altLang="en-US" dirty="0"/>
                  <a:t>对物品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dirty="0"/>
                  <a:t>的评分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𝑢𝑖</m:t>
                        </m:r>
                      </m:sub>
                    </m:sSub>
                  </m:oMath>
                </a14:m>
                <a:r>
                  <a:rPr lang="zh-CN" altLang="en-US" dirty="0"/>
                  <a:t>用户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</m:oMath>
                </a14:m>
                <a:r>
                  <a:rPr lang="zh-CN" altLang="en-US" dirty="0"/>
                  <a:t>对物品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dirty="0"/>
                  <a:t>的真实评分已知评分，训练目标是预测未知评分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𝑢𝑖</m:t>
                        </m:r>
                      </m:sub>
                    </m:sSub>
                  </m:oMath>
                </a14:m>
                <a:r>
                  <a:rPr lang="ar-AE" altLang="zh-CN" dirty="0"/>
                  <a:t> </a:t>
                </a:r>
                <a:r>
                  <a:rPr lang="zh-CN" altLang="en-US" dirty="0"/>
                  <a:t>或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  <m:sup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用户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</m:oMath>
                </a14:m>
                <a:r>
                  <a:rPr lang="zh-CN" altLang="en-US" dirty="0"/>
                  <a:t>对物品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dirty="0"/>
                  <a:t>的预测评分点积表示用户向量和物品向量的相似性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</m:oMath>
                </a14:m>
                <a:r>
                  <a:rPr lang="zh-CN" altLang="en-US" dirty="0"/>
                  <a:t>用户特征矩阵每一行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CN" altLang="en-US" dirty="0"/>
                  <a:t>是用户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</m:oMath>
                </a14:m>
                <a:r>
                  <a:rPr lang="zh-CN" altLang="en-US" dirty="0"/>
                  <a:t>的潜在特征向量（长度为隐向量维度 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CN" altLang="en-US" dirty="0"/>
                  <a:t>用户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</m:oMath>
                </a14:m>
                <a:r>
                  <a:rPr lang="zh-CN" altLang="en-US" dirty="0"/>
                  <a:t>的潜在特征向量维度为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zh-CN" altLang="en-US" dirty="0"/>
                  <a:t>，表示用户的兴趣特征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𝑄</m:t>
                    </m:r>
                  </m:oMath>
                </a14:m>
                <a:r>
                  <a:rPr lang="zh-CN" altLang="en-US" dirty="0"/>
                  <a:t>物品特征矩阵每一行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是物品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dirty="0"/>
                  <a:t>的潜在特征向量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物品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dirty="0"/>
                  <a:t>的潜在特征向量维度为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zh-CN" altLang="en-US" dirty="0"/>
                  <a:t>，表示物品的属性特征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en-US" altLang="zh-CN" b="1" dirty="0"/>
                  <a:t>2️⃣ </a:t>
                </a:r>
                <a:r>
                  <a:rPr lang="zh-CN" altLang="en-US" b="1" dirty="0"/>
                  <a:t>集合与指标</a:t>
                </a:r>
              </a:p>
              <a:p>
                <a:r>
                  <a:rPr lang="zh-CN" altLang="en-US" dirty="0"/>
                  <a:t>符号含义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𝐾</m:t>
                    </m:r>
                  </m:oMath>
                </a14:m>
                <a:r>
                  <a:rPr lang="zh-CN" altLang="en-US" dirty="0"/>
                  <a:t>已知评分的集合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</m:oMath>
                </a14:m>
                <a:r>
                  <a:rPr lang="zh-CN" altLang="en-US" dirty="0"/>
                  <a:t>用户索引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dirty="0"/>
                  <a:t>物品索引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en-US" altLang="zh-CN" b="1" dirty="0"/>
                  <a:t>3️⃣ </a:t>
                </a:r>
                <a:r>
                  <a:rPr lang="zh-CN" altLang="en-US" b="1" dirty="0"/>
                  <a:t>损失函数相关</a:t>
                </a:r>
              </a:p>
              <a:p>
                <a:r>
                  <a:rPr lang="zh-CN" altLang="en-US" dirty="0"/>
                  <a:t>符号含义备注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𝑢𝑖</m:t>
                            </m:r>
                          </m:sub>
                        </m:sSub>
                        <m:r>
                          <a:rPr lang="ar-AE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sSubSup>
                          <m:sSubSup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𝑢</m:t>
                            </m:r>
                          </m:sub>
                          <m:sup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altLang="zh-CN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lang="ar-AE" altLang="zh-CN" sz="1200" i="0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altLang="zh-CN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预测误差平方惩罚预测和真实评分的差距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</m:oMath>
                </a14:m>
                <a:r>
                  <a:rPr lang="zh-CN" altLang="en-US" dirty="0"/>
                  <a:t>正则化系数控制参数大小，防止过拟合</a:t>
                </a:r>
                <a14:m>
                  <m:oMath xmlns:m="http://schemas.openxmlformats.org/officeDocument/2006/math">
                    <m:r>
                      <a:rPr lang="zh-CN" alt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∥</m:t>
                    </m:r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</m:sSub>
                    <m:sSup>
                      <m:sSup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∥</m:t>
                        </m:r>
                      </m:e>
                      <m:sup>
                        <m:r>
                          <a:rPr lang="ar-AE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用户向量的平方范数正则化用户特征</a:t>
                </a:r>
                <a14:m>
                  <m:oMath xmlns:m="http://schemas.openxmlformats.org/officeDocument/2006/math">
                    <m:r>
                      <a:rPr lang="zh-CN" alt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∥</m:t>
                    </m:r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∥</m:t>
                        </m:r>
                      </m:e>
                      <m:sup>
                        <m:r>
                          <a:rPr lang="ar-AE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物品向量的平方范数正则化物品特征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en-US" altLang="zh-CN" b="1" dirty="0"/>
                  <a:t>4️⃣ SGD </a:t>
                </a:r>
                <a:r>
                  <a:rPr lang="zh-CN" altLang="en-US" b="1" dirty="0"/>
                  <a:t>更新公式</a:t>
                </a:r>
              </a:p>
              <a:p>
                <a:r>
                  <a:rPr lang="zh-CN" altLang="en-US" dirty="0"/>
                  <a:t>符号含义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𝑢𝑖</m:t>
                        </m:r>
                      </m:sub>
                    </m:sSub>
                  </m:oMath>
                </a14:m>
                <a:r>
                  <a:rPr lang="zh-CN" altLang="en-US" dirty="0"/>
                  <a:t>预测误差，等于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𝑢𝑖</m:t>
                        </m:r>
                      </m:sub>
                    </m:sSub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sSubSup>
                      <m:sSubSup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  <m:sup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zh-CN" alt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𝜂</m:t>
                    </m:r>
                  </m:oMath>
                </a14:m>
                <a:r>
                  <a:rPr lang="zh-CN" altLang="en-US" dirty="0"/>
                  <a:t>学习率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</m:sSub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←</m:t>
                    </m:r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</m:sSub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zh-CN" alt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𝜂</m:t>
                    </m:r>
                    <m:d>
                      <m:d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𝑒</m:t>
                            </m:r>
                          </m:e>
                          <m:sub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𝑢𝑖</m:t>
                            </m:r>
                          </m:sub>
                        </m:sSub>
                        <m:sSub>
                          <m:sSub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lang="ar-AE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𝜆</m:t>
                        </m:r>
                        <m:sSub>
                          <m:sSub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𝑢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更新用户向量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←</m:t>
                    </m:r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zh-CN" alt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𝜂</m:t>
                    </m:r>
                    <m:d>
                      <m:d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𝑒</m:t>
                            </m:r>
                          </m:e>
                          <m:sub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𝑢𝑖</m:t>
                            </m:r>
                          </m:sub>
                        </m:sSub>
                        <m:sSub>
                          <m:sSub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𝑢</m:t>
                            </m:r>
                          </m:sub>
                        </m:sSub>
                        <m:r>
                          <a:rPr lang="ar-AE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𝜆</m:t>
                        </m:r>
                        <m:sSub>
                          <m:sSub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更新物品向量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zh-CN" altLang="en-US" dirty="0"/>
                  <a:t>💡 </a:t>
                </a:r>
                <a:r>
                  <a:rPr lang="zh-CN" altLang="en-US" b="1" dirty="0"/>
                  <a:t>直观理解</a:t>
                </a:r>
                <a:r>
                  <a:rPr lang="zh-CN" altLang="en-US" dirty="0"/>
                  <a:t>：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  <m:sup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altLang="zh-CN" dirty="0"/>
                  <a:t>→ </a:t>
                </a:r>
                <a:r>
                  <a:rPr lang="zh-CN" altLang="en-US" dirty="0"/>
                  <a:t>用户和物品在潜在空间的“匹配度”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𝑢𝑖</m:t>
                        </m:r>
                      </m:sub>
                    </m:sSub>
                  </m:oMath>
                </a14:m>
                <a:r>
                  <a:rPr lang="ar-AE" altLang="zh-CN" dirty="0"/>
                  <a:t>→ </a:t>
                </a:r>
                <a:r>
                  <a:rPr lang="zh-CN" altLang="en-US" dirty="0"/>
                  <a:t>当前预测和真实评分的差距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𝜂</m:t>
                    </m:r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𝑢𝑖</m:t>
                        </m:r>
                      </m:sub>
                    </m:sSub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altLang="zh-CN" dirty="0"/>
                  <a:t>→ </a:t>
                </a:r>
                <a:r>
                  <a:rPr lang="zh-CN" altLang="en-US" dirty="0"/>
                  <a:t>根据误差调整用户特征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𝜂𝜆</m:t>
                    </m:r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ar-AE" altLang="zh-CN" dirty="0"/>
                  <a:t>→ </a:t>
                </a:r>
                <a:r>
                  <a:rPr lang="zh-CN" altLang="en-US" dirty="0"/>
                  <a:t>正则化收缩，防止特征过大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9590BCD2-8186-A160-9FBF-C2EA9F295B7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但是第二步中的计算结果不足够精确，我们会利用梯度下降法来更新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矩阵，来得到更加精确的结果。</a:t>
                </a:r>
                <a:endParaRPr lang="en-US" altLang="zh-CN" dirty="0"/>
              </a:p>
              <a:p>
                <a:r>
                  <a:rPr lang="zh-CN" altLang="en-US" dirty="0"/>
                  <a:t>正则化防止过拟合 </a:t>
                </a:r>
                <a:br>
                  <a:rPr lang="en-US" altLang="zh-CN" dirty="0"/>
                </a:br>
                <a:r>
                  <a:rPr lang="en-US" altLang="zh-CN" b="1" dirty="0"/>
                  <a:t>1️⃣ </a:t>
                </a:r>
                <a:r>
                  <a:rPr lang="zh-CN" altLang="en-US" b="1" dirty="0"/>
                  <a:t>矩阵和向量</a:t>
                </a:r>
              </a:p>
              <a:p>
                <a:r>
                  <a:rPr lang="zh-CN" altLang="en-US" dirty="0"/>
                  <a:t>符号含义备注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</a:t>
                </a:r>
                <a:r>
                  <a:rPr lang="zh-CN" altLang="en-US" dirty="0"/>
                  <a:t>用户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物品评分矩阵每个元素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𝑢𝑖</a:t>
                </a:r>
                <a:r>
                  <a:rPr lang="zh-CN" altLang="en-US" dirty="0"/>
                  <a:t>表示用户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zh-CN" altLang="en-US" dirty="0"/>
                  <a:t>对物品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dirty="0"/>
                  <a:t>的评分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𝑢𝑖</a:t>
                </a:r>
                <a:r>
                  <a:rPr lang="zh-CN" altLang="en-US" dirty="0"/>
                  <a:t>用户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zh-CN" altLang="en-US" dirty="0"/>
                  <a:t>对物品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dirty="0"/>
                  <a:t>的真实评分已知评分，训练目标是预测未知评分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 ̂_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𝑢𝑖</a:t>
                </a:r>
                <a:r>
                  <a:rPr lang="ar-AE" altLang="zh-CN" dirty="0"/>
                  <a:t> </a:t>
                </a:r>
                <a:r>
                  <a:rPr lang="zh-CN" altLang="en-US" dirty="0"/>
                  <a:t>或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𝑢^𝑇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dirty="0"/>
                  <a:t>用户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zh-CN" altLang="en-US" dirty="0"/>
                  <a:t>对物品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dirty="0"/>
                  <a:t>的预测评分点积表示用户向量和物品向量的相似性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zh-CN" altLang="en-US" dirty="0"/>
                  <a:t>用户特征矩阵每一行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zh-CN" altLang="en-US" dirty="0"/>
                  <a:t>是用户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zh-CN" altLang="en-US" dirty="0"/>
                  <a:t>的潜在特征向量（长度为隐向量维度 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）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zh-CN" altLang="en-US" dirty="0"/>
                  <a:t>用户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zh-CN" altLang="en-US" dirty="0"/>
                  <a:t>的潜在特征向量维度为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zh-CN" altLang="en-US" dirty="0"/>
                  <a:t>，表示用户的兴趣特征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</a:t>
                </a:r>
                <a:r>
                  <a:rPr lang="zh-CN" altLang="en-US" dirty="0"/>
                  <a:t>物品特征矩阵每一行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dirty="0"/>
                  <a:t>是物品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dirty="0"/>
                  <a:t>的潜在特征向量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dirty="0"/>
                  <a:t>物品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dirty="0"/>
                  <a:t>的潜在特征向量维度为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zh-CN" altLang="en-US" dirty="0"/>
                  <a:t>，表示物品的属性特征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en-US" altLang="zh-CN" b="1" dirty="0"/>
                  <a:t>2️⃣ </a:t>
                </a:r>
                <a:r>
                  <a:rPr lang="zh-CN" altLang="en-US" b="1" dirty="0"/>
                  <a:t>集合与指标</a:t>
                </a:r>
              </a:p>
              <a:p>
                <a:r>
                  <a:rPr lang="zh-CN" altLang="en-US" dirty="0"/>
                  <a:t>符号含义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</a:t>
                </a:r>
                <a:r>
                  <a:rPr lang="zh-CN" altLang="en-US" dirty="0"/>
                  <a:t>已知评分的集合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zh-CN" altLang="en-US" dirty="0"/>
                  <a:t>用户索引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dirty="0"/>
                  <a:t>物品索引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en-US" altLang="zh-CN" b="1" dirty="0"/>
                  <a:t>3️⃣ </a:t>
                </a:r>
                <a:r>
                  <a:rPr lang="zh-CN" altLang="en-US" b="1" dirty="0"/>
                  <a:t>损失函数相关</a:t>
                </a:r>
              </a:p>
              <a:p>
                <a:r>
                  <a:rPr lang="zh-CN" altLang="en-US" dirty="0"/>
                  <a:t>符号含义备注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𝑢^𝑇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├ )┤^2 ┤</a:t>
                </a:r>
                <a:r>
                  <a:rPr lang="zh-CN" altLang="en-US" dirty="0"/>
                  <a:t>预测误差平方惩罚预测和真实评分的差距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zh-CN" altLang="en-US" dirty="0"/>
                  <a:t>正则化系数控制参数大小，防止过拟合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∥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∥^2</a:t>
                </a:r>
                <a:r>
                  <a:rPr lang="zh-CN" altLang="en-US" dirty="0"/>
                  <a:t>用户向量的平方范数正则化用户特征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∥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∥^2</a:t>
                </a:r>
                <a:r>
                  <a:rPr lang="zh-CN" altLang="en-US" dirty="0"/>
                  <a:t>物品向量的平方范数正则化物品特征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en-US" altLang="zh-CN" b="1" dirty="0"/>
                  <a:t>4️⃣ SGD </a:t>
                </a:r>
                <a:r>
                  <a:rPr lang="zh-CN" altLang="en-US" b="1" dirty="0"/>
                  <a:t>更新公式</a:t>
                </a:r>
              </a:p>
              <a:p>
                <a:r>
                  <a:rPr lang="zh-CN" altLang="en-US" dirty="0"/>
                  <a:t>符号含义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𝑢𝑖</a:t>
                </a:r>
                <a:r>
                  <a:rPr lang="zh-CN" altLang="en-US" dirty="0"/>
                  <a:t>预测误差，等于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𝑢^𝑇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 𝜂</a:t>
                </a:r>
                <a:r>
                  <a:rPr lang="zh-CN" altLang="en-US" dirty="0"/>
                  <a:t>学习率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←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𝜂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</a:t>
                </a:r>
                <a:r>
                  <a:rPr lang="zh-CN" altLang="en-US" dirty="0"/>
                  <a:t>更新用户向量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←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𝜂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𝜆𝑞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</a:t>
                </a:r>
                <a:r>
                  <a:rPr lang="zh-CN" altLang="en-US" dirty="0"/>
                  <a:t>更新物品向量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zh-CN" altLang="en-US" dirty="0"/>
                  <a:t>💡 </a:t>
                </a:r>
                <a:r>
                  <a:rPr lang="zh-CN" altLang="en-US" b="1" dirty="0"/>
                  <a:t>直观理解</a:t>
                </a:r>
                <a:r>
                  <a:rPr lang="zh-CN" altLang="en-US" dirty="0"/>
                  <a:t>：</a:t>
                </a:r>
              </a:p>
              <a:p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𝑢^𝑇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dirty="0"/>
                  <a:t>→ </a:t>
                </a:r>
                <a:r>
                  <a:rPr lang="zh-CN" altLang="en-US" dirty="0"/>
                  <a:t>用户和物品在潜在空间的“匹配度”</a:t>
                </a:r>
              </a:p>
              <a:p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𝑢𝑖</a:t>
                </a:r>
                <a:r>
                  <a:rPr lang="ar-AE" altLang="zh-CN" dirty="0"/>
                  <a:t>→ </a:t>
                </a:r>
                <a:r>
                  <a:rPr lang="zh-CN" altLang="en-US" dirty="0"/>
                  <a:t>当前预测和真实评分的差距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𝜂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dirty="0"/>
                  <a:t>→ </a:t>
                </a:r>
                <a:r>
                  <a:rPr lang="zh-CN" altLang="en-US" dirty="0"/>
                  <a:t>根据误差调整用户特征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−𝜂𝜆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ar-AE" altLang="zh-CN" dirty="0"/>
                  <a:t>→ </a:t>
                </a:r>
                <a:r>
                  <a:rPr lang="zh-CN" altLang="en-US" dirty="0"/>
                  <a:t>正则化收缩，防止特征过大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41A038-C6A7-49B8-E2B1-157A41F054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06960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在处理这些非结构化数据时</a:t>
            </a:r>
            <a:r>
              <a:rPr lang="en-US" altLang="zh-CN" dirty="0"/>
              <a:t>LLM</a:t>
            </a:r>
            <a:r>
              <a:rPr lang="zh-CN" altLang="en-US" dirty="0"/>
              <a:t>有较好的能力，由此引出</a:t>
            </a:r>
            <a:r>
              <a:rPr lang="en-US" altLang="zh-CN" dirty="0"/>
              <a:t>LLM-REC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80652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重点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08DA4-C3A0-6716-0FC4-AED0E840A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BCB114-580A-CF10-FE91-D0CBA2297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488EFA-F9CD-82C0-C3CE-95D0B0324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D8522F-ABC4-92E9-9F5E-5BD92FC9B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5319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AE974-86C9-A5E0-3C04-12461F31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2D0BFD-E265-210F-7BAE-F30270B37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CAD451-4AB8-0139-06D6-886895F15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2F29DD-5056-D881-4776-134DB55E23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3238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17C88-69AD-9406-3A88-F8396968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DAED46-689A-7A69-7E16-8EF26EAD3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9DC75A-46FB-30EE-1668-29DE6EC54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Classification → </a:t>
            </a:r>
            <a:r>
              <a:rPr lang="en-US" altLang="zh-CN" b="1" dirty="0"/>
              <a:t>Cross-Entropy Loss</a:t>
            </a:r>
            <a:endParaRPr lang="en-US" altLang="zh-CN" dirty="0"/>
          </a:p>
          <a:p>
            <a:r>
              <a:rPr lang="en-US" altLang="zh-CN" dirty="0"/>
              <a:t>Regression → </a:t>
            </a:r>
            <a:r>
              <a:rPr lang="en-US" altLang="zh-CN" b="1" dirty="0"/>
              <a:t>Mean Squared Error (MSE) Loss</a:t>
            </a:r>
            <a:endParaRPr lang="en-US" altLang="zh-CN" dirty="0"/>
          </a:p>
          <a:p>
            <a:r>
              <a:rPr lang="en-US" altLang="zh-CN" dirty="0"/>
              <a:t>Recommendation/Ranking → </a:t>
            </a:r>
            <a:r>
              <a:rPr lang="en-US" altLang="zh-CN" b="1" dirty="0"/>
              <a:t>BPR Loss</a:t>
            </a:r>
            <a:r>
              <a:rPr lang="en-US" altLang="zh-CN" dirty="0"/>
              <a:t> or </a:t>
            </a:r>
            <a:r>
              <a:rPr lang="en-US" altLang="zh-CN" b="1" dirty="0"/>
              <a:t>Contrastive Loss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9710F1-4501-C1E2-BD1A-381920E9CE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18891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1BAFF-45D7-C3C1-CE02-AB5F370B5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35126-9F90-B7E3-3773-E032326C9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6AB4B8-FE38-3EB1-48C2-FD57E48B9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Simulate your behavior.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C072B9-ACA6-C8FB-51BB-3DDEC4E28D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5923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0D61D-843A-8BF6-FAE4-DB3D835FA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F107BD-BBC5-5EF6-941B-5CA82D1FF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3383E6-104E-B3E1-5BC2-A46436BD4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829C0A-14B9-DE41-1D5D-1AF090A770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36141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A2AC6-FF2E-A4D9-6553-B3CCA250D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BC96A8-1EDB-0F72-3661-A230AA61A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95A8FE-A97A-A184-F15F-A243D7356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121AC7-0C9D-46DA-C106-3FFC6B9ACD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7890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E2D6D-C5A5-BC8D-E118-62D422FCD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8FDB8F-FDBD-2C90-7282-483B5DB27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6BA9A1-A8AB-5F57-C251-608E233EF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A9AD37-B949-5681-1F1F-B42ACDCE91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72599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23CE5-C99F-56FD-C635-034119CF3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37043F-C910-CD26-CFDD-40CB1561F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F78B06-D93F-AFE0-BDD1-A846ECA9D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嵌入向量（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 Vectors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）的工作原理基于将复杂的数据类型，如文本中的单词或句子、图像、用户行为等，转换为数值向量形式。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BA56FE-B061-718C-2E3F-4A9DE6687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052248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38315-84B2-208E-6985-DC05C2D0E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0C507A-ABB7-0944-2810-0BC5C97EA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445E97-BBC0-8C4D-C800-921BE770A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Token </a:t>
            </a:r>
            <a:r>
              <a:rPr lang="zh-CN" altLang="en-US" dirty="0"/>
              <a:t>词元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65A6E6-C950-52EA-31E2-57252FA5AB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8379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7223A-B0B5-506D-C34A-50E6E1C9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41D421-245A-9CD1-DF7E-750193256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15EC5E-D82D-2482-5D0E-87F92D0F1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从输入（用户数据）到输出（推荐结果），模型在中间</a:t>
            </a:r>
            <a:r>
              <a:rPr lang="zh-CN" altLang="en-US" b="1" dirty="0"/>
              <a:t>不需要额外的模块或人工干预</a:t>
            </a:r>
            <a:r>
              <a:rPr lang="zh-CN" altLang="en-US" dirty="0"/>
              <a:t>，直接通过一次性推理（</a:t>
            </a:r>
            <a:r>
              <a:rPr lang="en-US" altLang="zh-CN" dirty="0"/>
              <a:t>inference</a:t>
            </a:r>
            <a:r>
              <a:rPr lang="zh-CN" altLang="en-US" dirty="0"/>
              <a:t>）完成整个任务。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05169E-0C79-1035-C3D5-DEB7BDEE72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28545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这里介绍那堆公式的部分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48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540744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54074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37B74-8D4C-FD2C-FEFB-49CBD65F4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8089FD-C1D6-9632-6D45-44FF10D75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75637-6FB3-3EF2-770F-8B6F566FE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6D7BDC-CDF6-99CE-717C-8D8F8EA6B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561751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53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在这里介绍矩阵分解的相关内容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54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55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55D5-59EA-4BA7-B367-93189BD2ED10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80619-B9DF-4E21-AAEF-5353A7E32A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55D5-59EA-4BA7-B367-93189BD2ED10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80619-B9DF-4E21-AAEF-5353A7E32A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55D5-59EA-4BA7-B367-93189BD2ED10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80619-B9DF-4E21-AAEF-5353A7E32A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55D5-59EA-4BA7-B367-93189BD2ED10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80619-B9DF-4E21-AAEF-5353A7E32A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55D5-59EA-4BA7-B367-93189BD2ED10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80619-B9DF-4E21-AAEF-5353A7E32A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55D5-59EA-4BA7-B367-93189BD2ED10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80619-B9DF-4E21-AAEF-5353A7E32A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55D5-59EA-4BA7-B367-93189BD2ED10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80619-B9DF-4E21-AAEF-5353A7E32A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55D5-59EA-4BA7-B367-93189BD2ED10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80619-B9DF-4E21-AAEF-5353A7E32A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55D5-59EA-4BA7-B367-93189BD2ED10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80619-B9DF-4E21-AAEF-5353A7E32A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55D5-59EA-4BA7-B367-93189BD2ED10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80619-B9DF-4E21-AAEF-5353A7E32A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55D5-59EA-4BA7-B367-93189BD2ED10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80619-B9DF-4E21-AAEF-5353A7E32A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71368" y="2616692"/>
            <a:ext cx="701500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71367" y="2352090"/>
            <a:ext cx="5137927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71366" y="4094394"/>
            <a:ext cx="6221139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2104863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◁ BIT </a:t>
            </a: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▷</a:t>
            </a:r>
            <a:endParaRPr kumimoji="0" lang="zh-CN" altLang="en-US" sz="2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671368" y="6061309"/>
            <a:ext cx="2479573" cy="304965"/>
            <a:chOff x="671368" y="6061309"/>
            <a:chExt cx="2479573" cy="304965"/>
          </a:xfrm>
        </p:grpSpPr>
        <p:grpSp>
          <p:nvGrpSpPr>
            <p:cNvPr id="74" name="组合 7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</p:grpSpPr>
          <p:sp>
            <p:nvSpPr>
              <p:cNvPr id="8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4620305" y="1246611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  <p:grpSp>
          <p:nvGrpSpPr>
            <p:cNvPr id="75" name="组合 7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</p:grpSpPr>
          <p:grpSp>
            <p:nvGrpSpPr>
              <p:cNvPr id="76" name="组合 7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8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8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43364" y="2558484"/>
            <a:ext cx="6206079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85030"/>
            <a:ext cx="6229674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1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8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141362" y="5528219"/>
            <a:ext cx="7909277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BIT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|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SINCE 1940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0272478" y="6308389"/>
            <a:ext cx="1629576" cy="198576"/>
            <a:chOff x="10272478" y="6308389"/>
            <a:chExt cx="1629576" cy="198576"/>
          </a:xfrm>
        </p:grpSpPr>
        <p:grpSp>
          <p:nvGrpSpPr>
            <p:cNvPr id="40" name="组合 39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7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1" name="Freeform 6"/>
              <p:cNvSpPr/>
              <p:nvPr/>
            </p:nvSpPr>
            <p:spPr bwMode="auto">
              <a:xfrm>
                <a:off x="4620306" y="1237050"/>
                <a:ext cx="331665" cy="499208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72" name="组合 7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7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7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  <p:grpSp>
          <p:nvGrpSpPr>
            <p:cNvPr id="41" name="组合 40"/>
            <p:cNvGrpSpPr/>
            <p:nvPr userDrawn="1"/>
          </p:nvGrpSpPr>
          <p:grpSpPr>
            <a:xfrm>
              <a:off x="10272478" y="6308389"/>
              <a:ext cx="721622" cy="198576"/>
              <a:chOff x="2372715" y="161759"/>
              <a:chExt cx="2714952" cy="747103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6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6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6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4613354" y="313344"/>
                <a:ext cx="474313" cy="479486"/>
                <a:chOff x="11893474" y="1994534"/>
                <a:chExt cx="286683" cy="289808"/>
              </a:xfrm>
              <a:solidFill>
                <a:schemeClr val="accent3"/>
              </a:solidFill>
            </p:grpSpPr>
            <p:sp>
              <p:nvSpPr>
                <p:cNvPr id="46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4"/>
                  <a:ext cx="204058" cy="285679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47" name="Freeform 12"/>
                <p:cNvSpPr/>
                <p:nvPr/>
              </p:nvSpPr>
              <p:spPr bwMode="auto">
                <a:xfrm>
                  <a:off x="11893474" y="2009126"/>
                  <a:ext cx="109877" cy="275216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/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/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6" name="组合 10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6" name="组合 10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79" name="组合 78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79" name="组合 78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7" name="组合 56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7" name="组合 56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43859387"/>
      </p:ext>
    </p:extLst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77457623"/>
      </p:ext>
    </p:extLst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243275"/>
      </p:ext>
    </p:extLst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868017416"/>
      </p:ext>
    </p:extLst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99373209"/>
      </p:ext>
    </p:extLst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809578"/>
      </p:ext>
    </p:extLst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30252324"/>
      </p:ext>
    </p:extLst>
  </p:cSld>
  <p:clrMapOvr>
    <a:masterClrMapping/>
  </p:clrMapOvr>
  <p:transition spd="med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8511443"/>
      </p:ext>
    </p:extLst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459907"/>
      </p:ext>
    </p:extLst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78928990"/>
      </p:ext>
    </p:extLst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9659945"/>
      </p:ext>
    </p:extLst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1802279"/>
      </p:ext>
    </p:extLst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08426327"/>
      </p:ext>
    </p:extLst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6944"/>
      </p:ext>
    </p:extLst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605761131"/>
      </p:ext>
    </p:extLst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68843676"/>
      </p:ext>
    </p:extLst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43988"/>
      </p:ext>
    </p:extLst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598118"/>
      </p:ext>
    </p:extLst>
  </p:cSld>
  <p:clrMapOvr>
    <a:masterClrMapping/>
  </p:clrMapOvr>
  <p:transition spd="med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55376552"/>
      </p:ext>
    </p:extLst>
  </p:cSld>
  <p:clrMapOvr>
    <a:masterClrMapping/>
  </p:clrMapOvr>
  <p:transition spd="med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41731"/>
      </p:ext>
    </p:extLst>
  </p:cSld>
  <p:clrMapOvr>
    <a:masterClrMapping/>
  </p:clrMapOvr>
  <p:transition spd="med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58104047"/>
      </p:ext>
    </p:extLst>
  </p:cSld>
  <p:clrMapOvr>
    <a:masterClrMapping/>
  </p:clrMapOvr>
  <p:transition spd="med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73832434"/>
      </p:ext>
    </p:extLst>
  </p:cSld>
  <p:clrMapOvr>
    <a:masterClrMapping/>
  </p:clrMapOvr>
  <p:transition spd="med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9755"/>
      </p:ext>
    </p:extLst>
  </p:cSld>
  <p:clrMapOvr>
    <a:masterClrMapping/>
  </p:clrMapOvr>
  <p:transition spd="med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025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:p14="http://schemas.microsoft.com/office/powerpoint/2010/main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theme" Target="../theme/theme5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755D5-59EA-4BA7-B367-93189BD2ED10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80619-B9DF-4E21-AAEF-5353A7E32A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2025/10/23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2025/10/23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t>2025/10/23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  <p:sldLayoutId id="2147483692" r:id="rId25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2025/10/23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776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0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arxiv.org/abs/2412.13432?utm" TargetMode="External"/><Relationship Id="rId4" Type="http://schemas.openxmlformats.org/officeDocument/2006/relationships/hyperlink" Target="https://arxiv.org/abs/2502.10050?utm" TargetMode="Externa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1366" y="2036996"/>
            <a:ext cx="7015008" cy="1754326"/>
          </a:xfrm>
        </p:spPr>
        <p:txBody>
          <a:bodyPr/>
          <a:lstStyle/>
          <a:p>
            <a:r>
              <a:rPr lang="en-US" altLang="zh-CN" dirty="0"/>
              <a:t>Traditional collaborative filtering VS LLM enhanced recommendation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671366" y="1907730"/>
            <a:ext cx="5137927" cy="258532"/>
          </a:xfrm>
        </p:spPr>
        <p:txBody>
          <a:bodyPr/>
          <a:lstStyle/>
          <a:p>
            <a:r>
              <a:rPr lang="en-US" altLang="zh-CN" dirty="0"/>
              <a:t>BIT-BDA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71366" y="4108052"/>
            <a:ext cx="6221139" cy="345094"/>
          </a:xfrm>
        </p:spPr>
        <p:txBody>
          <a:bodyPr/>
          <a:lstStyle/>
          <a:p>
            <a:r>
              <a:rPr lang="en-US" altLang="zh-CN" dirty="0"/>
              <a:t>Reporter</a:t>
            </a:r>
            <a:r>
              <a:rPr lang="zh-CN" altLang="en-US" dirty="0"/>
              <a:t>：兰天丞　　　　时间：</a:t>
            </a:r>
            <a:fld id="{D59A35C6-7D58-4C95-A60A-B688BEF8C3D6}" type="datetime1">
              <a:rPr lang="zh-CN" altLang="en-US" smtClean="0"/>
              <a:t>2025/10/23</a:t>
            </a:fld>
            <a:endParaRPr lang="zh-CN" altLang="en-US" dirty="0"/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 bwMode="auto">
          <a:xfrm>
            <a:off x="3262558" y="112345"/>
            <a:ext cx="952500" cy="14462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8" name="文本框 67"/>
          <p:cNvSpPr txBox="1"/>
          <p:nvPr/>
        </p:nvSpPr>
        <p:spPr bwMode="auto">
          <a:xfrm>
            <a:off x="5335437" y="844409"/>
            <a:ext cx="861774" cy="5243358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2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目录 </a:t>
            </a:r>
            <a:r>
              <a:rPr kumimoji="0" lang="en-US" altLang="zh-CN" sz="4400" b="1" i="0" u="none" strike="noStrike" kern="1200" cap="none" spc="2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| </a:t>
            </a:r>
            <a:r>
              <a:rPr kumimoji="0" lang="en-US" altLang="zh-CN" sz="4400" b="1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CONTENTS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192665" y="1070567"/>
            <a:ext cx="5157507" cy="4766065"/>
            <a:chOff x="6597449" y="1148208"/>
            <a:chExt cx="5157507" cy="4766065"/>
          </a:xfrm>
        </p:grpSpPr>
        <p:grpSp>
          <p:nvGrpSpPr>
            <p:cNvPr id="3" name="组合 2"/>
            <p:cNvGrpSpPr/>
            <p:nvPr/>
          </p:nvGrpSpPr>
          <p:grpSpPr>
            <a:xfrm>
              <a:off x="6597449" y="1148208"/>
              <a:ext cx="3147213" cy="620713"/>
              <a:chOff x="5855427" y="1647453"/>
              <a:chExt cx="3147213" cy="620713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6549853" y="1696200"/>
                <a:ext cx="2452787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en-US" altLang="zh-CN" sz="2800" b="1" dirty="0"/>
                  <a:t>Introduction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  <a:sym typeface="+mn-lt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rPr>
                  <a:t>1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6597449" y="2185044"/>
              <a:ext cx="3362977" cy="620713"/>
              <a:chOff x="5855427" y="1647453"/>
              <a:chExt cx="3362977" cy="620713"/>
            </a:xfrm>
          </p:grpSpPr>
          <p:sp>
            <p:nvSpPr>
              <p:cNvPr id="72" name="文本框 71"/>
              <p:cNvSpPr txBox="1"/>
              <p:nvPr/>
            </p:nvSpPr>
            <p:spPr>
              <a:xfrm>
                <a:off x="6549853" y="1696200"/>
                <a:ext cx="266855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en-US" altLang="zh-CN" sz="2800" b="1" dirty="0"/>
                  <a:t>Traditional CF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  <a:sym typeface="+mn-lt"/>
                </a:endParaRPr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rPr>
                  <a:t>2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6597449" y="3221216"/>
              <a:ext cx="2977423" cy="620713"/>
              <a:chOff x="5855427" y="1647453"/>
              <a:chExt cx="2977423" cy="620713"/>
            </a:xfrm>
          </p:grpSpPr>
          <p:sp>
            <p:nvSpPr>
              <p:cNvPr id="76" name="文本框 75"/>
              <p:cNvSpPr txBox="1"/>
              <p:nvPr/>
            </p:nvSpPr>
            <p:spPr>
              <a:xfrm>
                <a:off x="6549853" y="1696200"/>
                <a:ext cx="2282997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  <a:sym typeface="+mn-lt"/>
                  </a:rPr>
                  <a:t>CF workflow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  <a:sym typeface="+mn-lt"/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rPr>
                  <a:t>3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6597449" y="4257388"/>
              <a:ext cx="5157507" cy="620713"/>
              <a:chOff x="5855427" y="1647453"/>
              <a:chExt cx="5157507" cy="620713"/>
            </a:xfrm>
          </p:grpSpPr>
          <p:sp>
            <p:nvSpPr>
              <p:cNvPr id="80" name="文本框 79"/>
              <p:cNvSpPr txBox="1"/>
              <p:nvPr/>
            </p:nvSpPr>
            <p:spPr>
              <a:xfrm>
                <a:off x="6549853" y="1696200"/>
                <a:ext cx="446308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en-US" altLang="zh-CN" sz="2800" b="1" dirty="0"/>
                  <a:t>Challenges</a:t>
                </a: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  <a:sym typeface="+mn-lt"/>
                  </a:rPr>
                  <a:t> and solution 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  <a:sym typeface="+mn-lt"/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rPr>
                  <a:t>4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6597449" y="5293560"/>
              <a:ext cx="2908494" cy="620713"/>
              <a:chOff x="5855427" y="1647453"/>
              <a:chExt cx="2908494" cy="620713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6549853" y="1696200"/>
                <a:ext cx="2214068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  <a:sym typeface="+mn-lt"/>
                  </a:rPr>
                  <a:t>Arise of LLM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  <a:sym typeface="+mn-lt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rPr>
                  <a:t>5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 bwMode="auto">
          <a:xfrm>
            <a:off x="3262558" y="112345"/>
            <a:ext cx="952500" cy="14462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8" name="文本框 67"/>
          <p:cNvSpPr txBox="1"/>
          <p:nvPr/>
        </p:nvSpPr>
        <p:spPr bwMode="auto">
          <a:xfrm>
            <a:off x="5335437" y="844409"/>
            <a:ext cx="861774" cy="5243358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2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目录 </a:t>
            </a:r>
            <a:r>
              <a:rPr kumimoji="0" lang="en-US" altLang="zh-CN" sz="4400" b="1" i="0" u="none" strike="noStrike" kern="1200" cap="none" spc="2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| </a:t>
            </a:r>
            <a:r>
              <a:rPr kumimoji="0" lang="en-US" altLang="zh-CN" sz="4400" b="1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CONTENTS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192665" y="1070567"/>
            <a:ext cx="2703309" cy="3729893"/>
            <a:chOff x="6597449" y="1148208"/>
            <a:chExt cx="2703309" cy="3729893"/>
          </a:xfrm>
        </p:grpSpPr>
        <p:grpSp>
          <p:nvGrpSpPr>
            <p:cNvPr id="3" name="组合 2"/>
            <p:cNvGrpSpPr/>
            <p:nvPr/>
          </p:nvGrpSpPr>
          <p:grpSpPr>
            <a:xfrm>
              <a:off x="6597449" y="1148208"/>
              <a:ext cx="2497933" cy="620713"/>
              <a:chOff x="5855427" y="1647453"/>
              <a:chExt cx="2497933" cy="620713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6549853" y="1696200"/>
                <a:ext cx="1803507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en-US" altLang="zh-CN" sz="2800" b="1" dirty="0"/>
                  <a:t>LLM4Rec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  <a:sym typeface="+mn-lt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3200" b="1" dirty="0">
                    <a:solidFill>
                      <a:prstClr val="white"/>
                    </a:solidFill>
                    <a:latin typeface="Century Gothic" panose="020B0502020202020204" pitchFamily="34" charset="0"/>
                    <a:ea typeface="微软雅黑" panose="020B0503020204020204" charset="-122"/>
                  </a:rPr>
                  <a:t>6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6597449" y="2185044"/>
              <a:ext cx="2443623" cy="620713"/>
              <a:chOff x="5855427" y="1647453"/>
              <a:chExt cx="2443623" cy="620713"/>
            </a:xfrm>
          </p:grpSpPr>
          <p:sp>
            <p:nvSpPr>
              <p:cNvPr id="72" name="文本框 71"/>
              <p:cNvSpPr txBox="1"/>
              <p:nvPr/>
            </p:nvSpPr>
            <p:spPr>
              <a:xfrm>
                <a:off x="6549853" y="1696200"/>
                <a:ext cx="1749197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en-US" altLang="zh-CN" sz="2800" b="1" dirty="0"/>
                  <a:t>LLM</a:t>
                </a:r>
                <a:r>
                  <a:rPr lang="zh-CN" altLang="en-US" sz="2800" b="1" dirty="0"/>
                  <a:t>＋</a:t>
                </a:r>
                <a:r>
                  <a:rPr lang="en-US" altLang="zh-CN" sz="2800" b="1" dirty="0"/>
                  <a:t>CF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  <a:sym typeface="+mn-lt"/>
                </a:endParaRPr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3200" b="1" dirty="0">
                    <a:solidFill>
                      <a:prstClr val="white"/>
                    </a:solidFill>
                    <a:latin typeface="Century Gothic" panose="020B0502020202020204" pitchFamily="34" charset="0"/>
                    <a:ea typeface="微软雅黑" panose="020B0503020204020204" charset="-122"/>
                  </a:rPr>
                  <a:t>7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6597449" y="3221216"/>
              <a:ext cx="879157" cy="620713"/>
              <a:chOff x="5855427" y="1647453"/>
              <a:chExt cx="879157" cy="620713"/>
            </a:xfrm>
          </p:grpSpPr>
          <p:sp>
            <p:nvSpPr>
              <p:cNvPr id="76" name="文本框 75"/>
              <p:cNvSpPr txBox="1"/>
              <p:nvPr/>
            </p:nvSpPr>
            <p:spPr>
              <a:xfrm>
                <a:off x="6549853" y="1696200"/>
                <a:ext cx="18473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  <a:sym typeface="+mn-lt"/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3200" b="1" dirty="0">
                    <a:solidFill>
                      <a:prstClr val="white"/>
                    </a:solidFill>
                    <a:latin typeface="Century Gothic" panose="020B0502020202020204" pitchFamily="34" charset="0"/>
                    <a:ea typeface="微软雅黑" panose="020B0503020204020204" charset="-122"/>
                  </a:rPr>
                  <a:t>8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6597449" y="4257388"/>
              <a:ext cx="2703309" cy="620713"/>
              <a:chOff x="5855427" y="1647453"/>
              <a:chExt cx="2703309" cy="620713"/>
            </a:xfrm>
          </p:grpSpPr>
          <p:sp>
            <p:nvSpPr>
              <p:cNvPr id="80" name="文本框 79"/>
              <p:cNvSpPr txBox="1"/>
              <p:nvPr/>
            </p:nvSpPr>
            <p:spPr>
              <a:xfrm>
                <a:off x="6549853" y="1696200"/>
                <a:ext cx="2008883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en-US" altLang="zh-CN" sz="2800" b="1" dirty="0">
                    <a:solidFill>
                      <a:prstClr val="black"/>
                    </a:solidFill>
                    <a:latin typeface="Century Gothic" panose="020B0502020202020204" pitchFamily="34" charset="0"/>
                    <a:ea typeface="微软雅黑" panose="020B0503020204020204" charset="-122"/>
                    <a:sym typeface="+mn-lt"/>
                  </a:rPr>
                  <a:t>NEW Trend</a:t>
                </a: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3200" b="1" dirty="0">
                    <a:solidFill>
                      <a:prstClr val="white"/>
                    </a:solidFill>
                    <a:latin typeface="Century Gothic" panose="020B0502020202020204" pitchFamily="34" charset="0"/>
                    <a:ea typeface="微软雅黑" panose="020B0503020204020204" charset="-122"/>
                  </a:rPr>
                  <a:t>9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sp>
        <p:nvSpPr>
          <p:cNvPr id="6" name="文本框 5"/>
          <p:cNvSpPr txBox="1"/>
          <p:nvPr/>
        </p:nvSpPr>
        <p:spPr>
          <a:xfrm>
            <a:off x="7815834" y="3187188"/>
            <a:ext cx="2272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2800" b="1" dirty="0"/>
              <a:t>CF vs LLM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  <a:sym typeface="+mn-lt"/>
            </a:endParaRP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3831542" cy="857460"/>
            <a:chOff x="5588007" y="1590635"/>
            <a:chExt cx="3831542" cy="857460"/>
          </a:xfrm>
        </p:grpSpPr>
        <p:sp>
          <p:nvSpPr>
            <p:cNvPr id="19" name="文本框 18"/>
            <p:cNvSpPr txBox="1"/>
            <p:nvPr/>
          </p:nvSpPr>
          <p:spPr>
            <a:xfrm>
              <a:off x="6549853" y="1696200"/>
              <a:ext cx="2869696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  <a:sym typeface="+mn-lt"/>
                </a:rPr>
                <a:t>Introduction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rPr>
                <a:t>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Recommendation System?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60399" y="1131263"/>
            <a:ext cx="4732215" cy="4352182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09086" y="1239565"/>
            <a:ext cx="5690690" cy="1402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1800" b="1" dirty="0"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recommender system</a:t>
            </a:r>
            <a:r>
              <a:rPr lang="en-US" altLang="zh-CN" sz="1800" dirty="0"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is a type of system designed to </a:t>
            </a:r>
            <a:r>
              <a:rPr lang="en-US" altLang="zh-CN" sz="1800" b="1" dirty="0"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predict items </a:t>
            </a:r>
            <a:r>
              <a:rPr lang="en-US" altLang="zh-CN" sz="1800" dirty="0"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(such as products, movies, or news articles) that a user is likely to prefer or find interesting.</a:t>
            </a:r>
            <a:endParaRPr kumimoji="0" lang="zh-CN" altLang="en-US" sz="1800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highlight>
                <a:srgbClr val="FFFF00"/>
              </a:highlight>
              <a:uLnTx/>
              <a:uFillTx/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74521" y="5685891"/>
            <a:ext cx="4998741" cy="2983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/>
              <a:t>Recommendation system application </a:t>
            </a:r>
            <a:endParaRPr kumimoji="0" lang="zh-CN" altLang="en-US" sz="1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93" y="1108832"/>
            <a:ext cx="2880370" cy="3211329"/>
          </a:xfrm>
          <a:prstGeom prst="rect">
            <a:avLst/>
          </a:prstGeom>
        </p:spPr>
      </p:pic>
      <p:pic>
        <p:nvPicPr>
          <p:cNvPr id="1034" name="Picture 10" descr="提高淘宝成交量的四个因素，你知道几个？__财经头条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32" y="4367048"/>
            <a:ext cx="2316793" cy="97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448" y="1608103"/>
            <a:ext cx="2565481" cy="301887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928474" y="2932004"/>
            <a:ext cx="6094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Recommender systems are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applied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fields such as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e-commerce, social media, content platforms, and education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928474" y="3628384"/>
            <a:ext cx="60949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lies in addressing the challenge of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overload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when users face an overwhelming number of choices, recommender systems help by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content to match individual preferences.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D68BD3-AF27-7A19-80F3-39BE2C16B1E0}"/>
              </a:ext>
            </a:extLst>
          </p:cNvPr>
          <p:cNvSpPr/>
          <p:nvPr/>
        </p:nvSpPr>
        <p:spPr>
          <a:xfrm>
            <a:off x="1232452" y="1470991"/>
            <a:ext cx="539553" cy="41237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4155349" cy="857460"/>
            <a:chOff x="5588007" y="1590635"/>
            <a:chExt cx="4155349" cy="857460"/>
          </a:xfrm>
        </p:grpSpPr>
        <p:sp>
          <p:nvSpPr>
            <p:cNvPr id="19" name="文本框 18"/>
            <p:cNvSpPr txBox="1"/>
            <p:nvPr/>
          </p:nvSpPr>
          <p:spPr>
            <a:xfrm>
              <a:off x="6549853" y="1696200"/>
              <a:ext cx="3193503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  <a:sym typeface="+mn-lt"/>
                </a:rPr>
                <a:t>Traditional CF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Century Gothic" panose="020B0502020202020204" pitchFamily="34" charset="0"/>
                  <a:ea typeface="微软雅黑" panose="020B0503020204020204" charset="-122"/>
                </a:rPr>
                <a:t>2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collaborative filtering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60399" y="1131263"/>
            <a:ext cx="4732215" cy="4352182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21" y="1239565"/>
            <a:ext cx="4402969" cy="4088801"/>
          </a:xfrm>
          <a:prstGeom prst="rect">
            <a:avLst/>
          </a:prstGeom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715113" y="1187793"/>
            <a:ext cx="63083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Collaborative Filtering (CF)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widely used technique in recommender systems.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predicts a user’s potential interests by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analyzing similarities among users or items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—that is, through “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.”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these similarity patterns, the system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recommends content that similar users have liked or interacted with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715113" y="3817797"/>
            <a:ext cx="60949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For example, the last user likes photos </a:t>
            </a:r>
            <a:r>
              <a:rPr lang="zh-CN" altLang="en-US" dirty="0"/>
              <a:t>👍</a:t>
            </a:r>
            <a:r>
              <a:rPr lang="en-US" altLang="zh-CN" dirty="0"/>
              <a:t>, books </a:t>
            </a:r>
            <a:r>
              <a:rPr lang="zh-CN" altLang="en-US" dirty="0"/>
              <a:t>👍</a:t>
            </a:r>
            <a:r>
              <a:rPr lang="en-US" altLang="zh-CN" dirty="0"/>
              <a:t>, and dislikes games </a:t>
            </a:r>
            <a:r>
              <a:rPr lang="zh-CN" altLang="en-US" dirty="0"/>
              <a:t>👎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Users 2 and 3 have similar tastes and both dislike videos </a:t>
            </a:r>
            <a:r>
              <a:rPr lang="zh-CN" altLang="en-US" dirty="0"/>
              <a:t>👎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So, the system predicts that the last user will also dislike videos </a:t>
            </a:r>
            <a:r>
              <a:rPr lang="zh-CN" altLang="en-US" dirty="0"/>
              <a:t>👎</a:t>
            </a:r>
            <a:r>
              <a:rPr lang="en-US" altLang="zh-CN" dirty="0"/>
              <a:t>.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94" y="1262953"/>
            <a:ext cx="4273021" cy="408880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 of CF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660400" y="2426768"/>
            <a:ext cx="5246913" cy="343807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27124" y="1217305"/>
            <a:ext cx="10090604" cy="3602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/>
              <a:t>Collaborative filtering can be classified into </a:t>
            </a:r>
            <a:r>
              <a:rPr lang="en-US" altLang="zh-CN" sz="2000" b="1" dirty="0"/>
              <a:t>two types based on approach</a:t>
            </a:r>
            <a:r>
              <a:rPr lang="en-US" altLang="zh-CN" sz="2000" dirty="0"/>
              <a:t>: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2757298" y="2649204"/>
            <a:ext cx="1020741" cy="102074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955799" y="3793345"/>
            <a:ext cx="2656114" cy="5055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User-based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006C3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74271" y="4505437"/>
            <a:ext cx="4619170" cy="10447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Identify </a:t>
            </a:r>
            <a:r>
              <a:rPr lang="en-US" altLang="zh-CN" b="1" dirty="0"/>
              <a:t>users</a:t>
            </a:r>
            <a:r>
              <a:rPr lang="en-US" altLang="zh-CN" dirty="0"/>
              <a:t> who have similar interests to the </a:t>
            </a:r>
            <a:r>
              <a:rPr lang="en-US" altLang="zh-CN" b="1" dirty="0"/>
              <a:t>target user </a:t>
            </a:r>
            <a:r>
              <a:rPr lang="en-US" altLang="zh-CN" dirty="0"/>
              <a:t>and recommend items that these similar users have liked.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284688" y="2426768"/>
            <a:ext cx="5246911" cy="343807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8402241" y="2649204"/>
            <a:ext cx="1020741" cy="10207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580086" y="3793345"/>
            <a:ext cx="2656114" cy="5055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Item-based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A13F0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598558" y="4505437"/>
            <a:ext cx="4619170" cy="14046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Identify</a:t>
            </a:r>
            <a:r>
              <a:rPr lang="en-US" altLang="zh-CN" b="1" dirty="0"/>
              <a:t> items </a:t>
            </a:r>
            <a:r>
              <a:rPr lang="en-US" altLang="zh-CN" dirty="0"/>
              <a:t>that are similar to the </a:t>
            </a:r>
            <a:r>
              <a:rPr lang="en-US" altLang="zh-CN" b="1" dirty="0"/>
              <a:t>target item </a:t>
            </a:r>
            <a:r>
              <a:rPr lang="en-US" altLang="zh-CN" dirty="0"/>
              <a:t>and recommend them based on the target user’s interactions with these similar items.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8672105" y="2913206"/>
            <a:ext cx="481013" cy="454026"/>
            <a:chOff x="1528763" y="4175125"/>
            <a:chExt cx="481013" cy="454026"/>
          </a:xfrm>
          <a:solidFill>
            <a:schemeClr val="bg1"/>
          </a:solidFill>
        </p:grpSpPr>
        <p:sp>
          <p:nvSpPr>
            <p:cNvPr id="40" name="Freeform 82"/>
            <p:cNvSpPr/>
            <p:nvPr/>
          </p:nvSpPr>
          <p:spPr bwMode="auto">
            <a:xfrm>
              <a:off x="1603375" y="4175125"/>
              <a:ext cx="330200" cy="398463"/>
            </a:xfrm>
            <a:custGeom>
              <a:avLst/>
              <a:gdLst>
                <a:gd name="T0" fmla="*/ 4 w 88"/>
                <a:gd name="T1" fmla="*/ 46 h 106"/>
                <a:gd name="T2" fmla="*/ 42 w 88"/>
                <a:gd name="T3" fmla="*/ 8 h 106"/>
                <a:gd name="T4" fmla="*/ 42 w 88"/>
                <a:gd name="T5" fmla="*/ 104 h 106"/>
                <a:gd name="T6" fmla="*/ 44 w 88"/>
                <a:gd name="T7" fmla="*/ 106 h 106"/>
                <a:gd name="T8" fmla="*/ 46 w 88"/>
                <a:gd name="T9" fmla="*/ 104 h 106"/>
                <a:gd name="T10" fmla="*/ 46 w 88"/>
                <a:gd name="T11" fmla="*/ 8 h 106"/>
                <a:gd name="T12" fmla="*/ 84 w 88"/>
                <a:gd name="T13" fmla="*/ 46 h 106"/>
                <a:gd name="T14" fmla="*/ 88 w 88"/>
                <a:gd name="T15" fmla="*/ 46 h 106"/>
                <a:gd name="T16" fmla="*/ 88 w 88"/>
                <a:gd name="T17" fmla="*/ 43 h 106"/>
                <a:gd name="T18" fmla="*/ 46 w 88"/>
                <a:gd name="T19" fmla="*/ 1 h 106"/>
                <a:gd name="T20" fmla="*/ 42 w 88"/>
                <a:gd name="T21" fmla="*/ 1 h 106"/>
                <a:gd name="T22" fmla="*/ 0 w 88"/>
                <a:gd name="T23" fmla="*/ 43 h 106"/>
                <a:gd name="T24" fmla="*/ 0 w 88"/>
                <a:gd name="T25" fmla="*/ 46 h 106"/>
                <a:gd name="T26" fmla="*/ 4 w 88"/>
                <a:gd name="T27" fmla="*/ 4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8" h="106">
                  <a:moveTo>
                    <a:pt x="4" y="46"/>
                  </a:moveTo>
                  <a:cubicBezTo>
                    <a:pt x="42" y="8"/>
                    <a:pt x="42" y="8"/>
                    <a:pt x="42" y="8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2" y="105"/>
                    <a:pt x="43" y="106"/>
                    <a:pt x="44" y="106"/>
                  </a:cubicBezTo>
                  <a:cubicBezTo>
                    <a:pt x="45" y="106"/>
                    <a:pt x="46" y="105"/>
                    <a:pt x="46" y="104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5" y="47"/>
                    <a:pt x="87" y="47"/>
                    <a:pt x="88" y="46"/>
                  </a:cubicBezTo>
                  <a:cubicBezTo>
                    <a:pt x="88" y="45"/>
                    <a:pt x="88" y="44"/>
                    <a:pt x="88" y="43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5" y="0"/>
                    <a:pt x="43" y="0"/>
                    <a:pt x="42" y="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0" y="45"/>
                    <a:pt x="0" y="46"/>
                  </a:cubicBezTo>
                  <a:cubicBezTo>
                    <a:pt x="1" y="47"/>
                    <a:pt x="3" y="47"/>
                    <a:pt x="4" y="4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83"/>
            <p:cNvSpPr/>
            <p:nvPr/>
          </p:nvSpPr>
          <p:spPr bwMode="auto">
            <a:xfrm>
              <a:off x="1528763" y="4557713"/>
              <a:ext cx="481013" cy="71438"/>
            </a:xfrm>
            <a:custGeom>
              <a:avLst/>
              <a:gdLst>
                <a:gd name="T0" fmla="*/ 126 w 128"/>
                <a:gd name="T1" fmla="*/ 0 h 19"/>
                <a:gd name="T2" fmla="*/ 123 w 128"/>
                <a:gd name="T3" fmla="*/ 2 h 19"/>
                <a:gd name="T4" fmla="*/ 123 w 128"/>
                <a:gd name="T5" fmla="*/ 14 h 19"/>
                <a:gd name="T6" fmla="*/ 5 w 128"/>
                <a:gd name="T7" fmla="*/ 14 h 19"/>
                <a:gd name="T8" fmla="*/ 5 w 128"/>
                <a:gd name="T9" fmla="*/ 2 h 19"/>
                <a:gd name="T10" fmla="*/ 2 w 128"/>
                <a:gd name="T11" fmla="*/ 0 h 19"/>
                <a:gd name="T12" fmla="*/ 0 w 128"/>
                <a:gd name="T13" fmla="*/ 2 h 19"/>
                <a:gd name="T14" fmla="*/ 0 w 128"/>
                <a:gd name="T15" fmla="*/ 17 h 19"/>
                <a:gd name="T16" fmla="*/ 2 w 128"/>
                <a:gd name="T17" fmla="*/ 19 h 19"/>
                <a:gd name="T18" fmla="*/ 126 w 128"/>
                <a:gd name="T19" fmla="*/ 19 h 19"/>
                <a:gd name="T20" fmla="*/ 128 w 128"/>
                <a:gd name="T21" fmla="*/ 17 h 19"/>
                <a:gd name="T22" fmla="*/ 128 w 128"/>
                <a:gd name="T23" fmla="*/ 2 h 19"/>
                <a:gd name="T24" fmla="*/ 126 w 128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9">
                  <a:moveTo>
                    <a:pt x="126" y="0"/>
                  </a:moveTo>
                  <a:cubicBezTo>
                    <a:pt x="124" y="0"/>
                    <a:pt x="123" y="1"/>
                    <a:pt x="123" y="2"/>
                  </a:cubicBezTo>
                  <a:cubicBezTo>
                    <a:pt x="123" y="14"/>
                    <a:pt x="123" y="14"/>
                    <a:pt x="123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7" y="19"/>
                    <a:pt x="128" y="18"/>
                    <a:pt x="128" y="17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611" y="2837244"/>
            <a:ext cx="633809" cy="59175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0507" y="2847504"/>
            <a:ext cx="795271" cy="60529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User-based CF 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42914" y="2496630"/>
            <a:ext cx="11270173" cy="2398426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: 圆角 93"/>
          <p:cNvSpPr/>
          <p:nvPr/>
        </p:nvSpPr>
        <p:spPr>
          <a:xfrm>
            <a:off x="6211455" y="1924534"/>
            <a:ext cx="3032502" cy="54375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A13F0B"/>
                </a:solidFill>
                <a:latin typeface="微软雅黑" panose="020B0503020204020204" charset="-122"/>
                <a:ea typeface="微软雅黑" panose="020B0503020204020204" charset="-122"/>
              </a:rPr>
              <a:t>USER-BASED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A13F0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0811838" y="5034461"/>
            <a:ext cx="937250" cy="175081"/>
            <a:chOff x="10802319" y="5357813"/>
            <a:chExt cx="937250" cy="175081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10802319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0899951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0997583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1095215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1192847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11290479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11388111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11485743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11583375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11681007" y="5357813"/>
              <a:ext cx="58562" cy="175081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/>
          <p:cNvSpPr/>
          <p:nvPr/>
        </p:nvSpPr>
        <p:spPr>
          <a:xfrm>
            <a:off x="11713087" y="2496631"/>
            <a:ext cx="36000" cy="23984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44" y="2196411"/>
            <a:ext cx="4904602" cy="2988947"/>
          </a:xfrm>
          <a:prstGeom prst="rect">
            <a:avLst/>
          </a:prstGeom>
        </p:spPr>
      </p:pic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5748029" y="2952220"/>
            <a:ext cx="567888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dirty="0"/>
              <a:t>Identify the “neighboring users” whose interests are most similar to the target user.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dirty="0"/>
              <a:t>Predict the target user’s rating by computing a weighted average of the neighbors’ ratings.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36147" y="5034461"/>
            <a:ext cx="43396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“人以群分”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5445146" y="5448563"/>
            <a:ext cx="6509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Find the similar user first -&gt; find the recommendation</a:t>
            </a:r>
            <a:endParaRPr lang="zh-CN" altLang="en-US" dirty="0"/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Item-based CF 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42914" y="2496630"/>
            <a:ext cx="11270173" cy="2398426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: 圆角 93"/>
          <p:cNvSpPr/>
          <p:nvPr/>
        </p:nvSpPr>
        <p:spPr>
          <a:xfrm>
            <a:off x="6211455" y="1924534"/>
            <a:ext cx="3032502" cy="54375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A13F0B"/>
                </a:solidFill>
                <a:latin typeface="微软雅黑" panose="020B0503020204020204" charset="-122"/>
                <a:ea typeface="微软雅黑" panose="020B0503020204020204" charset="-122"/>
              </a:rPr>
              <a:t>ITEM-BASED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A13F0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0811838" y="5034461"/>
            <a:ext cx="937250" cy="175081"/>
            <a:chOff x="10802319" y="5357813"/>
            <a:chExt cx="937250" cy="175081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10802319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0899951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0997583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1095215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1192847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11290479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11388111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11485743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11583375" y="5357813"/>
              <a:ext cx="58562" cy="1750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11681007" y="5357813"/>
              <a:ext cx="58562" cy="175081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/>
          <p:cNvSpPr/>
          <p:nvPr/>
        </p:nvSpPr>
        <p:spPr>
          <a:xfrm>
            <a:off x="11713087" y="2496631"/>
            <a:ext cx="36000" cy="23984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5748029" y="3090719"/>
            <a:ext cx="56788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dirty="0">
                <a:solidFill>
                  <a:prstClr val="black"/>
                </a:solidFill>
              </a:rPr>
              <a:t>Identify items most similar to the target item.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dirty="0">
              <a:solidFill>
                <a:prstClr val="black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dirty="0">
                <a:solidFill>
                  <a:prstClr val="black"/>
                </a:solidFill>
              </a:rPr>
              <a:t>Predict the user’s rating for the target item by using their ratings on these similar items.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36148" y="5034461"/>
            <a:ext cx="43396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 w="0"/>
                <a:gradFill>
                  <a:gsLst>
                    <a:gs pos="0">
                      <a:srgbClr val="4EB3CF">
                        <a:lumMod val="50000"/>
                      </a:srgbClr>
                    </a:gs>
                    <a:gs pos="50000">
                      <a:srgbClr val="4EB3CF"/>
                    </a:gs>
                    <a:gs pos="100000">
                      <a:srgbClr val="4EB3CF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“物以类聚”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5445146" y="5448563"/>
            <a:ext cx="6509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Based on the ITEM , recommend to different people.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85" y="2154021"/>
            <a:ext cx="3678357" cy="2887914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evaluate</a:t>
            </a:r>
            <a:r>
              <a:rPr lang="zh-CN" altLang="en-US" dirty="0"/>
              <a:t> </a:t>
            </a:r>
            <a:r>
              <a:rPr lang="en-US" altLang="zh-CN" dirty="0"/>
              <a:t>“similarity”?</a:t>
            </a:r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598409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946542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533575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0120610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0" name="volume-bars_84227"/>
          <p:cNvSpPr>
            <a:spLocks noChangeAspect="1"/>
          </p:cNvSpPr>
          <p:nvPr/>
        </p:nvSpPr>
        <p:spPr bwMode="auto">
          <a:xfrm>
            <a:off x="5952728" y="2859384"/>
            <a:ext cx="304842" cy="239382"/>
          </a:xfrm>
          <a:custGeom>
            <a:avLst/>
            <a:gdLst>
              <a:gd name="connsiteX0" fmla="*/ 187043 w 606298"/>
              <a:gd name="connsiteY0" fmla="*/ 364682 h 476105"/>
              <a:gd name="connsiteX1" fmla="*/ 307528 w 606298"/>
              <a:gd name="connsiteY1" fmla="*/ 364682 h 476105"/>
              <a:gd name="connsiteX2" fmla="*/ 325320 w 606298"/>
              <a:gd name="connsiteY2" fmla="*/ 382440 h 476105"/>
              <a:gd name="connsiteX3" fmla="*/ 325320 w 606298"/>
              <a:gd name="connsiteY3" fmla="*/ 389984 h 476105"/>
              <a:gd name="connsiteX4" fmla="*/ 575785 w 606298"/>
              <a:gd name="connsiteY4" fmla="*/ 389984 h 476105"/>
              <a:gd name="connsiteX5" fmla="*/ 606298 w 606298"/>
              <a:gd name="connsiteY5" fmla="*/ 420440 h 476105"/>
              <a:gd name="connsiteX6" fmla="*/ 575785 w 606298"/>
              <a:gd name="connsiteY6" fmla="*/ 450803 h 476105"/>
              <a:gd name="connsiteX7" fmla="*/ 325320 w 606298"/>
              <a:gd name="connsiteY7" fmla="*/ 450803 h 476105"/>
              <a:gd name="connsiteX8" fmla="*/ 325320 w 606298"/>
              <a:gd name="connsiteY8" fmla="*/ 458347 h 476105"/>
              <a:gd name="connsiteX9" fmla="*/ 307528 w 606298"/>
              <a:gd name="connsiteY9" fmla="*/ 476105 h 476105"/>
              <a:gd name="connsiteX10" fmla="*/ 187043 w 606298"/>
              <a:gd name="connsiteY10" fmla="*/ 476105 h 476105"/>
              <a:gd name="connsiteX11" fmla="*/ 169343 w 606298"/>
              <a:gd name="connsiteY11" fmla="*/ 458347 h 476105"/>
              <a:gd name="connsiteX12" fmla="*/ 169343 w 606298"/>
              <a:gd name="connsiteY12" fmla="*/ 450803 h 476105"/>
              <a:gd name="connsiteX13" fmla="*/ 30421 w 606298"/>
              <a:gd name="connsiteY13" fmla="*/ 450803 h 476105"/>
              <a:gd name="connsiteX14" fmla="*/ 0 w 606298"/>
              <a:gd name="connsiteY14" fmla="*/ 420440 h 476105"/>
              <a:gd name="connsiteX15" fmla="*/ 30421 w 606298"/>
              <a:gd name="connsiteY15" fmla="*/ 389984 h 476105"/>
              <a:gd name="connsiteX16" fmla="*/ 169343 w 606298"/>
              <a:gd name="connsiteY16" fmla="*/ 389984 h 476105"/>
              <a:gd name="connsiteX17" fmla="*/ 169343 w 606298"/>
              <a:gd name="connsiteY17" fmla="*/ 382440 h 476105"/>
              <a:gd name="connsiteX18" fmla="*/ 187043 w 606298"/>
              <a:gd name="connsiteY18" fmla="*/ 364682 h 476105"/>
              <a:gd name="connsiteX19" fmla="*/ 322185 w 606298"/>
              <a:gd name="connsiteY19" fmla="*/ 182341 h 476105"/>
              <a:gd name="connsiteX20" fmla="*/ 442671 w 606298"/>
              <a:gd name="connsiteY20" fmla="*/ 182341 h 476105"/>
              <a:gd name="connsiteX21" fmla="*/ 460370 w 606298"/>
              <a:gd name="connsiteY21" fmla="*/ 200099 h 476105"/>
              <a:gd name="connsiteX22" fmla="*/ 460370 w 606298"/>
              <a:gd name="connsiteY22" fmla="*/ 207643 h 476105"/>
              <a:gd name="connsiteX23" fmla="*/ 575785 w 606298"/>
              <a:gd name="connsiteY23" fmla="*/ 207643 h 476105"/>
              <a:gd name="connsiteX24" fmla="*/ 606298 w 606298"/>
              <a:gd name="connsiteY24" fmla="*/ 238006 h 476105"/>
              <a:gd name="connsiteX25" fmla="*/ 575785 w 606298"/>
              <a:gd name="connsiteY25" fmla="*/ 268369 h 476105"/>
              <a:gd name="connsiteX26" fmla="*/ 460370 w 606298"/>
              <a:gd name="connsiteY26" fmla="*/ 268369 h 476105"/>
              <a:gd name="connsiteX27" fmla="*/ 460370 w 606298"/>
              <a:gd name="connsiteY27" fmla="*/ 276006 h 476105"/>
              <a:gd name="connsiteX28" fmla="*/ 442671 w 606298"/>
              <a:gd name="connsiteY28" fmla="*/ 293764 h 476105"/>
              <a:gd name="connsiteX29" fmla="*/ 322185 w 606298"/>
              <a:gd name="connsiteY29" fmla="*/ 293764 h 476105"/>
              <a:gd name="connsiteX30" fmla="*/ 304394 w 606298"/>
              <a:gd name="connsiteY30" fmla="*/ 276006 h 476105"/>
              <a:gd name="connsiteX31" fmla="*/ 304394 w 606298"/>
              <a:gd name="connsiteY31" fmla="*/ 268369 h 476105"/>
              <a:gd name="connsiteX32" fmla="*/ 30421 w 606298"/>
              <a:gd name="connsiteY32" fmla="*/ 268369 h 476105"/>
              <a:gd name="connsiteX33" fmla="*/ 0 w 606298"/>
              <a:gd name="connsiteY33" fmla="*/ 238006 h 476105"/>
              <a:gd name="connsiteX34" fmla="*/ 30421 w 606298"/>
              <a:gd name="connsiteY34" fmla="*/ 207643 h 476105"/>
              <a:gd name="connsiteX35" fmla="*/ 304394 w 606298"/>
              <a:gd name="connsiteY35" fmla="*/ 207643 h 476105"/>
              <a:gd name="connsiteX36" fmla="*/ 304394 w 606298"/>
              <a:gd name="connsiteY36" fmla="*/ 200099 h 476105"/>
              <a:gd name="connsiteX37" fmla="*/ 322185 w 606298"/>
              <a:gd name="connsiteY37" fmla="*/ 182341 h 476105"/>
              <a:gd name="connsiteX38" fmla="*/ 109055 w 606298"/>
              <a:gd name="connsiteY38" fmla="*/ 0 h 476105"/>
              <a:gd name="connsiteX39" fmla="*/ 229540 w 606298"/>
              <a:gd name="connsiteY39" fmla="*/ 0 h 476105"/>
              <a:gd name="connsiteX40" fmla="*/ 247331 w 606298"/>
              <a:gd name="connsiteY40" fmla="*/ 17669 h 476105"/>
              <a:gd name="connsiteX41" fmla="*/ 247331 w 606298"/>
              <a:gd name="connsiteY41" fmla="*/ 25307 h 476105"/>
              <a:gd name="connsiteX42" fmla="*/ 575785 w 606298"/>
              <a:gd name="connsiteY42" fmla="*/ 25307 h 476105"/>
              <a:gd name="connsiteX43" fmla="*/ 606298 w 606298"/>
              <a:gd name="connsiteY43" fmla="*/ 55676 h 476105"/>
              <a:gd name="connsiteX44" fmla="*/ 575785 w 606298"/>
              <a:gd name="connsiteY44" fmla="*/ 86045 h 476105"/>
              <a:gd name="connsiteX45" fmla="*/ 247331 w 606298"/>
              <a:gd name="connsiteY45" fmla="*/ 86045 h 476105"/>
              <a:gd name="connsiteX46" fmla="*/ 247331 w 606298"/>
              <a:gd name="connsiteY46" fmla="*/ 93683 h 476105"/>
              <a:gd name="connsiteX47" fmla="*/ 229540 w 606298"/>
              <a:gd name="connsiteY47" fmla="*/ 111352 h 476105"/>
              <a:gd name="connsiteX48" fmla="*/ 109055 w 606298"/>
              <a:gd name="connsiteY48" fmla="*/ 111352 h 476105"/>
              <a:gd name="connsiteX49" fmla="*/ 91355 w 606298"/>
              <a:gd name="connsiteY49" fmla="*/ 93683 h 476105"/>
              <a:gd name="connsiteX50" fmla="*/ 91355 w 606298"/>
              <a:gd name="connsiteY50" fmla="*/ 86045 h 476105"/>
              <a:gd name="connsiteX51" fmla="*/ 30421 w 606298"/>
              <a:gd name="connsiteY51" fmla="*/ 86045 h 476105"/>
              <a:gd name="connsiteX52" fmla="*/ 0 w 606298"/>
              <a:gd name="connsiteY52" fmla="*/ 55676 h 476105"/>
              <a:gd name="connsiteX53" fmla="*/ 30421 w 606298"/>
              <a:gd name="connsiteY53" fmla="*/ 25307 h 476105"/>
              <a:gd name="connsiteX54" fmla="*/ 91355 w 606298"/>
              <a:gd name="connsiteY54" fmla="*/ 25307 h 476105"/>
              <a:gd name="connsiteX55" fmla="*/ 91355 w 606298"/>
              <a:gd name="connsiteY55" fmla="*/ 17669 h 476105"/>
              <a:gd name="connsiteX56" fmla="*/ 109055 w 606298"/>
              <a:gd name="connsiteY56" fmla="*/ 0 h 476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606298" h="476105">
                <a:moveTo>
                  <a:pt x="187043" y="364682"/>
                </a:moveTo>
                <a:lnTo>
                  <a:pt x="307528" y="364682"/>
                </a:lnTo>
                <a:cubicBezTo>
                  <a:pt x="317392" y="364682"/>
                  <a:pt x="325320" y="372595"/>
                  <a:pt x="325320" y="382440"/>
                </a:cubicBezTo>
                <a:lnTo>
                  <a:pt x="325320" y="389984"/>
                </a:lnTo>
                <a:lnTo>
                  <a:pt x="575785" y="389984"/>
                </a:lnTo>
                <a:cubicBezTo>
                  <a:pt x="592655" y="389984"/>
                  <a:pt x="606298" y="403602"/>
                  <a:pt x="606298" y="420440"/>
                </a:cubicBezTo>
                <a:cubicBezTo>
                  <a:pt x="606298" y="437185"/>
                  <a:pt x="592655" y="450803"/>
                  <a:pt x="575785" y="450803"/>
                </a:cubicBezTo>
                <a:lnTo>
                  <a:pt x="325320" y="450803"/>
                </a:lnTo>
                <a:lnTo>
                  <a:pt x="325320" y="458347"/>
                </a:lnTo>
                <a:cubicBezTo>
                  <a:pt x="325320" y="468192"/>
                  <a:pt x="317392" y="476105"/>
                  <a:pt x="307528" y="476105"/>
                </a:cubicBezTo>
                <a:lnTo>
                  <a:pt x="187043" y="476105"/>
                </a:lnTo>
                <a:cubicBezTo>
                  <a:pt x="177271" y="476105"/>
                  <a:pt x="169343" y="468192"/>
                  <a:pt x="169343" y="458347"/>
                </a:cubicBezTo>
                <a:lnTo>
                  <a:pt x="169343" y="450803"/>
                </a:lnTo>
                <a:lnTo>
                  <a:pt x="30421" y="450803"/>
                </a:lnTo>
                <a:cubicBezTo>
                  <a:pt x="13644" y="450803"/>
                  <a:pt x="0" y="437185"/>
                  <a:pt x="0" y="420440"/>
                </a:cubicBezTo>
                <a:cubicBezTo>
                  <a:pt x="0" y="403602"/>
                  <a:pt x="13644" y="389984"/>
                  <a:pt x="30421" y="389984"/>
                </a:cubicBezTo>
                <a:lnTo>
                  <a:pt x="169343" y="389984"/>
                </a:lnTo>
                <a:lnTo>
                  <a:pt x="169343" y="382440"/>
                </a:lnTo>
                <a:cubicBezTo>
                  <a:pt x="169343" y="372595"/>
                  <a:pt x="177271" y="364682"/>
                  <a:pt x="187043" y="364682"/>
                </a:cubicBezTo>
                <a:close/>
                <a:moveTo>
                  <a:pt x="322185" y="182341"/>
                </a:moveTo>
                <a:lnTo>
                  <a:pt x="442671" y="182341"/>
                </a:lnTo>
                <a:cubicBezTo>
                  <a:pt x="452442" y="182341"/>
                  <a:pt x="460370" y="190254"/>
                  <a:pt x="460370" y="200099"/>
                </a:cubicBezTo>
                <a:lnTo>
                  <a:pt x="460370" y="207643"/>
                </a:lnTo>
                <a:lnTo>
                  <a:pt x="575785" y="207643"/>
                </a:lnTo>
                <a:cubicBezTo>
                  <a:pt x="592655" y="207643"/>
                  <a:pt x="606298" y="221261"/>
                  <a:pt x="606298" y="238006"/>
                </a:cubicBezTo>
                <a:cubicBezTo>
                  <a:pt x="606298" y="254844"/>
                  <a:pt x="592655" y="268369"/>
                  <a:pt x="575785" y="268369"/>
                </a:cubicBezTo>
                <a:lnTo>
                  <a:pt x="460370" y="268369"/>
                </a:lnTo>
                <a:lnTo>
                  <a:pt x="460370" y="276006"/>
                </a:lnTo>
                <a:cubicBezTo>
                  <a:pt x="460370" y="285759"/>
                  <a:pt x="452442" y="293764"/>
                  <a:pt x="442671" y="293764"/>
                </a:cubicBezTo>
                <a:lnTo>
                  <a:pt x="322185" y="293764"/>
                </a:lnTo>
                <a:cubicBezTo>
                  <a:pt x="312322" y="293764"/>
                  <a:pt x="304394" y="285759"/>
                  <a:pt x="304394" y="276006"/>
                </a:cubicBezTo>
                <a:lnTo>
                  <a:pt x="304394" y="268369"/>
                </a:lnTo>
                <a:lnTo>
                  <a:pt x="30421" y="268369"/>
                </a:lnTo>
                <a:cubicBezTo>
                  <a:pt x="13644" y="268369"/>
                  <a:pt x="0" y="254844"/>
                  <a:pt x="0" y="238006"/>
                </a:cubicBezTo>
                <a:cubicBezTo>
                  <a:pt x="0" y="221261"/>
                  <a:pt x="13644" y="207643"/>
                  <a:pt x="30421" y="207643"/>
                </a:cubicBezTo>
                <a:lnTo>
                  <a:pt x="304394" y="207643"/>
                </a:lnTo>
                <a:lnTo>
                  <a:pt x="304394" y="200099"/>
                </a:lnTo>
                <a:cubicBezTo>
                  <a:pt x="304394" y="190254"/>
                  <a:pt x="312322" y="182341"/>
                  <a:pt x="322185" y="182341"/>
                </a:cubicBezTo>
                <a:close/>
                <a:moveTo>
                  <a:pt x="109055" y="0"/>
                </a:moveTo>
                <a:lnTo>
                  <a:pt x="229540" y="0"/>
                </a:lnTo>
                <a:cubicBezTo>
                  <a:pt x="239404" y="0"/>
                  <a:pt x="247331" y="7914"/>
                  <a:pt x="247331" y="17669"/>
                </a:cubicBezTo>
                <a:lnTo>
                  <a:pt x="247331" y="25307"/>
                </a:lnTo>
                <a:lnTo>
                  <a:pt x="575785" y="25307"/>
                </a:lnTo>
                <a:cubicBezTo>
                  <a:pt x="592655" y="25307"/>
                  <a:pt x="606298" y="38927"/>
                  <a:pt x="606298" y="55676"/>
                </a:cubicBezTo>
                <a:cubicBezTo>
                  <a:pt x="606298" y="72425"/>
                  <a:pt x="592655" y="86045"/>
                  <a:pt x="575785" y="86045"/>
                </a:cubicBezTo>
                <a:lnTo>
                  <a:pt x="247331" y="86045"/>
                </a:lnTo>
                <a:lnTo>
                  <a:pt x="247331" y="93683"/>
                </a:lnTo>
                <a:cubicBezTo>
                  <a:pt x="247331" y="103438"/>
                  <a:pt x="239404" y="111352"/>
                  <a:pt x="229540" y="111352"/>
                </a:cubicBezTo>
                <a:lnTo>
                  <a:pt x="109055" y="111352"/>
                </a:lnTo>
                <a:cubicBezTo>
                  <a:pt x="99283" y="111352"/>
                  <a:pt x="91355" y="103438"/>
                  <a:pt x="91355" y="93683"/>
                </a:cubicBezTo>
                <a:lnTo>
                  <a:pt x="91355" y="86045"/>
                </a:lnTo>
                <a:lnTo>
                  <a:pt x="30421" y="86045"/>
                </a:lnTo>
                <a:cubicBezTo>
                  <a:pt x="13644" y="86045"/>
                  <a:pt x="0" y="72425"/>
                  <a:pt x="0" y="55676"/>
                </a:cubicBezTo>
                <a:cubicBezTo>
                  <a:pt x="0" y="38927"/>
                  <a:pt x="13644" y="25307"/>
                  <a:pt x="30421" y="25307"/>
                </a:cubicBezTo>
                <a:lnTo>
                  <a:pt x="91355" y="25307"/>
                </a:lnTo>
                <a:lnTo>
                  <a:pt x="91355" y="17669"/>
                </a:lnTo>
                <a:cubicBezTo>
                  <a:pt x="91355" y="7914"/>
                  <a:pt x="99283" y="0"/>
                  <a:pt x="1090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71" name="menu_159761"/>
          <p:cNvSpPr>
            <a:spLocks noChangeAspect="1"/>
          </p:cNvSpPr>
          <p:nvPr/>
        </p:nvSpPr>
        <p:spPr bwMode="auto">
          <a:xfrm>
            <a:off x="9165222" y="2853623"/>
            <a:ext cx="253584" cy="253198"/>
          </a:xfrm>
          <a:custGeom>
            <a:avLst/>
            <a:gdLst>
              <a:gd name="connsiteX0" fmla="*/ 387180 w 602346"/>
              <a:gd name="connsiteY0" fmla="*/ 343654 h 601429"/>
              <a:gd name="connsiteX1" fmla="*/ 559313 w 602346"/>
              <a:gd name="connsiteY1" fmla="*/ 343654 h 601429"/>
              <a:gd name="connsiteX2" fmla="*/ 602346 w 602346"/>
              <a:gd name="connsiteY2" fmla="*/ 386617 h 601429"/>
              <a:gd name="connsiteX3" fmla="*/ 602346 w 602346"/>
              <a:gd name="connsiteY3" fmla="*/ 558467 h 601429"/>
              <a:gd name="connsiteX4" fmla="*/ 559313 w 602346"/>
              <a:gd name="connsiteY4" fmla="*/ 601429 h 601429"/>
              <a:gd name="connsiteX5" fmla="*/ 387180 w 602346"/>
              <a:gd name="connsiteY5" fmla="*/ 601429 h 601429"/>
              <a:gd name="connsiteX6" fmla="*/ 344147 w 602346"/>
              <a:gd name="connsiteY6" fmla="*/ 558467 h 601429"/>
              <a:gd name="connsiteX7" fmla="*/ 344147 w 602346"/>
              <a:gd name="connsiteY7" fmla="*/ 386617 h 601429"/>
              <a:gd name="connsiteX8" fmla="*/ 387180 w 602346"/>
              <a:gd name="connsiteY8" fmla="*/ 343654 h 601429"/>
              <a:gd name="connsiteX9" fmla="*/ 43021 w 602346"/>
              <a:gd name="connsiteY9" fmla="*/ 343654 h 601429"/>
              <a:gd name="connsiteX10" fmla="*/ 215107 w 602346"/>
              <a:gd name="connsiteY10" fmla="*/ 343654 h 601429"/>
              <a:gd name="connsiteX11" fmla="*/ 258128 w 602346"/>
              <a:gd name="connsiteY11" fmla="*/ 386617 h 601429"/>
              <a:gd name="connsiteX12" fmla="*/ 258128 w 602346"/>
              <a:gd name="connsiteY12" fmla="*/ 558467 h 601429"/>
              <a:gd name="connsiteX13" fmla="*/ 215107 w 602346"/>
              <a:gd name="connsiteY13" fmla="*/ 601429 h 601429"/>
              <a:gd name="connsiteX14" fmla="*/ 43021 w 602346"/>
              <a:gd name="connsiteY14" fmla="*/ 601429 h 601429"/>
              <a:gd name="connsiteX15" fmla="*/ 0 w 602346"/>
              <a:gd name="connsiteY15" fmla="*/ 558467 h 601429"/>
              <a:gd name="connsiteX16" fmla="*/ 0 w 602346"/>
              <a:gd name="connsiteY16" fmla="*/ 386617 h 601429"/>
              <a:gd name="connsiteX17" fmla="*/ 43021 w 602346"/>
              <a:gd name="connsiteY17" fmla="*/ 343654 h 601429"/>
              <a:gd name="connsiteX18" fmla="*/ 387180 w 602346"/>
              <a:gd name="connsiteY18" fmla="*/ 0 h 601429"/>
              <a:gd name="connsiteX19" fmla="*/ 559313 w 602346"/>
              <a:gd name="connsiteY19" fmla="*/ 0 h 601429"/>
              <a:gd name="connsiteX20" fmla="*/ 602346 w 602346"/>
              <a:gd name="connsiteY20" fmla="*/ 42963 h 601429"/>
              <a:gd name="connsiteX21" fmla="*/ 602346 w 602346"/>
              <a:gd name="connsiteY21" fmla="*/ 214813 h 601429"/>
              <a:gd name="connsiteX22" fmla="*/ 559313 w 602346"/>
              <a:gd name="connsiteY22" fmla="*/ 257775 h 601429"/>
              <a:gd name="connsiteX23" fmla="*/ 387180 w 602346"/>
              <a:gd name="connsiteY23" fmla="*/ 257775 h 601429"/>
              <a:gd name="connsiteX24" fmla="*/ 344147 w 602346"/>
              <a:gd name="connsiteY24" fmla="*/ 214813 h 601429"/>
              <a:gd name="connsiteX25" fmla="*/ 344147 w 602346"/>
              <a:gd name="connsiteY25" fmla="*/ 42963 h 601429"/>
              <a:gd name="connsiteX26" fmla="*/ 387180 w 602346"/>
              <a:gd name="connsiteY26" fmla="*/ 0 h 601429"/>
              <a:gd name="connsiteX27" fmla="*/ 43021 w 602346"/>
              <a:gd name="connsiteY27" fmla="*/ 0 h 601429"/>
              <a:gd name="connsiteX28" fmla="*/ 215107 w 602346"/>
              <a:gd name="connsiteY28" fmla="*/ 0 h 601429"/>
              <a:gd name="connsiteX29" fmla="*/ 258128 w 602346"/>
              <a:gd name="connsiteY29" fmla="*/ 42963 h 601429"/>
              <a:gd name="connsiteX30" fmla="*/ 258128 w 602346"/>
              <a:gd name="connsiteY30" fmla="*/ 214813 h 601429"/>
              <a:gd name="connsiteX31" fmla="*/ 215107 w 602346"/>
              <a:gd name="connsiteY31" fmla="*/ 257775 h 601429"/>
              <a:gd name="connsiteX32" fmla="*/ 43021 w 602346"/>
              <a:gd name="connsiteY32" fmla="*/ 257775 h 601429"/>
              <a:gd name="connsiteX33" fmla="*/ 0 w 602346"/>
              <a:gd name="connsiteY33" fmla="*/ 214813 h 601429"/>
              <a:gd name="connsiteX34" fmla="*/ 0 w 602346"/>
              <a:gd name="connsiteY34" fmla="*/ 42963 h 601429"/>
              <a:gd name="connsiteX35" fmla="*/ 43021 w 602346"/>
              <a:gd name="connsiteY35" fmla="*/ 0 h 60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02346" h="601429">
                <a:moveTo>
                  <a:pt x="387180" y="343654"/>
                </a:moveTo>
                <a:lnTo>
                  <a:pt x="559313" y="343654"/>
                </a:lnTo>
                <a:cubicBezTo>
                  <a:pt x="582981" y="343654"/>
                  <a:pt x="602346" y="362987"/>
                  <a:pt x="602346" y="386617"/>
                </a:cubicBezTo>
                <a:lnTo>
                  <a:pt x="602346" y="558467"/>
                </a:lnTo>
                <a:cubicBezTo>
                  <a:pt x="602346" y="582096"/>
                  <a:pt x="582981" y="601429"/>
                  <a:pt x="559313" y="601429"/>
                </a:cubicBezTo>
                <a:lnTo>
                  <a:pt x="387180" y="601429"/>
                </a:lnTo>
                <a:cubicBezTo>
                  <a:pt x="363512" y="601429"/>
                  <a:pt x="344147" y="582096"/>
                  <a:pt x="344147" y="558467"/>
                </a:cubicBezTo>
                <a:lnTo>
                  <a:pt x="344147" y="386617"/>
                </a:lnTo>
                <a:cubicBezTo>
                  <a:pt x="344147" y="362987"/>
                  <a:pt x="363512" y="343654"/>
                  <a:pt x="387180" y="343654"/>
                </a:cubicBezTo>
                <a:close/>
                <a:moveTo>
                  <a:pt x="43021" y="343654"/>
                </a:moveTo>
                <a:lnTo>
                  <a:pt x="215107" y="343654"/>
                </a:lnTo>
                <a:cubicBezTo>
                  <a:pt x="238768" y="343654"/>
                  <a:pt x="258128" y="362987"/>
                  <a:pt x="258128" y="386617"/>
                </a:cubicBezTo>
                <a:lnTo>
                  <a:pt x="258128" y="558467"/>
                </a:lnTo>
                <a:cubicBezTo>
                  <a:pt x="258128" y="582096"/>
                  <a:pt x="238768" y="601429"/>
                  <a:pt x="215107" y="601429"/>
                </a:cubicBezTo>
                <a:lnTo>
                  <a:pt x="43021" y="601429"/>
                </a:lnTo>
                <a:cubicBezTo>
                  <a:pt x="19360" y="601429"/>
                  <a:pt x="0" y="582096"/>
                  <a:pt x="0" y="558467"/>
                </a:cubicBezTo>
                <a:lnTo>
                  <a:pt x="0" y="386617"/>
                </a:lnTo>
                <a:cubicBezTo>
                  <a:pt x="0" y="362987"/>
                  <a:pt x="19360" y="343654"/>
                  <a:pt x="43021" y="343654"/>
                </a:cubicBezTo>
                <a:close/>
                <a:moveTo>
                  <a:pt x="387180" y="0"/>
                </a:moveTo>
                <a:lnTo>
                  <a:pt x="559313" y="0"/>
                </a:lnTo>
                <a:cubicBezTo>
                  <a:pt x="582981" y="0"/>
                  <a:pt x="602346" y="19333"/>
                  <a:pt x="602346" y="42963"/>
                </a:cubicBezTo>
                <a:lnTo>
                  <a:pt x="602346" y="214813"/>
                </a:lnTo>
                <a:cubicBezTo>
                  <a:pt x="602346" y="238442"/>
                  <a:pt x="582981" y="257775"/>
                  <a:pt x="559313" y="257775"/>
                </a:cubicBezTo>
                <a:lnTo>
                  <a:pt x="387180" y="257775"/>
                </a:lnTo>
                <a:cubicBezTo>
                  <a:pt x="363512" y="257775"/>
                  <a:pt x="344147" y="238442"/>
                  <a:pt x="344147" y="214813"/>
                </a:cubicBezTo>
                <a:lnTo>
                  <a:pt x="344147" y="42963"/>
                </a:lnTo>
                <a:cubicBezTo>
                  <a:pt x="344147" y="19333"/>
                  <a:pt x="363512" y="0"/>
                  <a:pt x="387180" y="0"/>
                </a:cubicBezTo>
                <a:close/>
                <a:moveTo>
                  <a:pt x="43021" y="0"/>
                </a:moveTo>
                <a:lnTo>
                  <a:pt x="215107" y="0"/>
                </a:lnTo>
                <a:cubicBezTo>
                  <a:pt x="238768" y="0"/>
                  <a:pt x="258128" y="19333"/>
                  <a:pt x="258128" y="42963"/>
                </a:cubicBezTo>
                <a:lnTo>
                  <a:pt x="258128" y="214813"/>
                </a:lnTo>
                <a:cubicBezTo>
                  <a:pt x="258128" y="238442"/>
                  <a:pt x="238768" y="257775"/>
                  <a:pt x="215107" y="257775"/>
                </a:cubicBezTo>
                <a:lnTo>
                  <a:pt x="43021" y="257775"/>
                </a:lnTo>
                <a:cubicBezTo>
                  <a:pt x="19360" y="257775"/>
                  <a:pt x="0" y="238442"/>
                  <a:pt x="0" y="214813"/>
                </a:cubicBezTo>
                <a:lnTo>
                  <a:pt x="0" y="42963"/>
                </a:lnTo>
                <a:cubicBezTo>
                  <a:pt x="0" y="19333"/>
                  <a:pt x="19360" y="0"/>
                  <a:pt x="430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471" y="1341425"/>
            <a:ext cx="4042962" cy="401569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97471" y="5417031"/>
            <a:ext cx="404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Multiple ways to describe similarity 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486101" y="2297837"/>
            <a:ext cx="6094948" cy="258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dirty="0"/>
              <a:t>We can use </a:t>
            </a:r>
            <a:r>
              <a:rPr lang="en-US" altLang="zh-CN" b="1" dirty="0"/>
              <a:t>various mathematical models</a:t>
            </a:r>
            <a:r>
              <a:rPr lang="en-US" altLang="zh-CN" dirty="0"/>
              <a:t> to represent the relationships between users and items, such as </a:t>
            </a:r>
            <a:r>
              <a:rPr lang="en-US" altLang="zh-CN" b="1" dirty="0"/>
              <a:t>matrices</a:t>
            </a:r>
            <a:r>
              <a:rPr lang="en-US" altLang="zh-CN" dirty="0"/>
              <a:t> or </a:t>
            </a:r>
            <a:r>
              <a:rPr lang="en-US" altLang="zh-CN" b="1" dirty="0"/>
              <a:t>graphs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Subsequently, we can apply different methods to </a:t>
            </a:r>
            <a:r>
              <a:rPr lang="en-US" altLang="zh-CN" b="1" dirty="0"/>
              <a:t>quantify the similarity between users or between items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Method1: Jaccard Similarity</a:t>
            </a:r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598409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946542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533575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0120610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0" name="volume-bars_84227"/>
          <p:cNvSpPr>
            <a:spLocks noChangeAspect="1"/>
          </p:cNvSpPr>
          <p:nvPr/>
        </p:nvSpPr>
        <p:spPr bwMode="auto">
          <a:xfrm>
            <a:off x="5952728" y="2859384"/>
            <a:ext cx="304842" cy="239382"/>
          </a:xfrm>
          <a:custGeom>
            <a:avLst/>
            <a:gdLst>
              <a:gd name="connsiteX0" fmla="*/ 187043 w 606298"/>
              <a:gd name="connsiteY0" fmla="*/ 364682 h 476105"/>
              <a:gd name="connsiteX1" fmla="*/ 307528 w 606298"/>
              <a:gd name="connsiteY1" fmla="*/ 364682 h 476105"/>
              <a:gd name="connsiteX2" fmla="*/ 325320 w 606298"/>
              <a:gd name="connsiteY2" fmla="*/ 382440 h 476105"/>
              <a:gd name="connsiteX3" fmla="*/ 325320 w 606298"/>
              <a:gd name="connsiteY3" fmla="*/ 389984 h 476105"/>
              <a:gd name="connsiteX4" fmla="*/ 575785 w 606298"/>
              <a:gd name="connsiteY4" fmla="*/ 389984 h 476105"/>
              <a:gd name="connsiteX5" fmla="*/ 606298 w 606298"/>
              <a:gd name="connsiteY5" fmla="*/ 420440 h 476105"/>
              <a:gd name="connsiteX6" fmla="*/ 575785 w 606298"/>
              <a:gd name="connsiteY6" fmla="*/ 450803 h 476105"/>
              <a:gd name="connsiteX7" fmla="*/ 325320 w 606298"/>
              <a:gd name="connsiteY7" fmla="*/ 450803 h 476105"/>
              <a:gd name="connsiteX8" fmla="*/ 325320 w 606298"/>
              <a:gd name="connsiteY8" fmla="*/ 458347 h 476105"/>
              <a:gd name="connsiteX9" fmla="*/ 307528 w 606298"/>
              <a:gd name="connsiteY9" fmla="*/ 476105 h 476105"/>
              <a:gd name="connsiteX10" fmla="*/ 187043 w 606298"/>
              <a:gd name="connsiteY10" fmla="*/ 476105 h 476105"/>
              <a:gd name="connsiteX11" fmla="*/ 169343 w 606298"/>
              <a:gd name="connsiteY11" fmla="*/ 458347 h 476105"/>
              <a:gd name="connsiteX12" fmla="*/ 169343 w 606298"/>
              <a:gd name="connsiteY12" fmla="*/ 450803 h 476105"/>
              <a:gd name="connsiteX13" fmla="*/ 30421 w 606298"/>
              <a:gd name="connsiteY13" fmla="*/ 450803 h 476105"/>
              <a:gd name="connsiteX14" fmla="*/ 0 w 606298"/>
              <a:gd name="connsiteY14" fmla="*/ 420440 h 476105"/>
              <a:gd name="connsiteX15" fmla="*/ 30421 w 606298"/>
              <a:gd name="connsiteY15" fmla="*/ 389984 h 476105"/>
              <a:gd name="connsiteX16" fmla="*/ 169343 w 606298"/>
              <a:gd name="connsiteY16" fmla="*/ 389984 h 476105"/>
              <a:gd name="connsiteX17" fmla="*/ 169343 w 606298"/>
              <a:gd name="connsiteY17" fmla="*/ 382440 h 476105"/>
              <a:gd name="connsiteX18" fmla="*/ 187043 w 606298"/>
              <a:gd name="connsiteY18" fmla="*/ 364682 h 476105"/>
              <a:gd name="connsiteX19" fmla="*/ 322185 w 606298"/>
              <a:gd name="connsiteY19" fmla="*/ 182341 h 476105"/>
              <a:gd name="connsiteX20" fmla="*/ 442671 w 606298"/>
              <a:gd name="connsiteY20" fmla="*/ 182341 h 476105"/>
              <a:gd name="connsiteX21" fmla="*/ 460370 w 606298"/>
              <a:gd name="connsiteY21" fmla="*/ 200099 h 476105"/>
              <a:gd name="connsiteX22" fmla="*/ 460370 w 606298"/>
              <a:gd name="connsiteY22" fmla="*/ 207643 h 476105"/>
              <a:gd name="connsiteX23" fmla="*/ 575785 w 606298"/>
              <a:gd name="connsiteY23" fmla="*/ 207643 h 476105"/>
              <a:gd name="connsiteX24" fmla="*/ 606298 w 606298"/>
              <a:gd name="connsiteY24" fmla="*/ 238006 h 476105"/>
              <a:gd name="connsiteX25" fmla="*/ 575785 w 606298"/>
              <a:gd name="connsiteY25" fmla="*/ 268369 h 476105"/>
              <a:gd name="connsiteX26" fmla="*/ 460370 w 606298"/>
              <a:gd name="connsiteY26" fmla="*/ 268369 h 476105"/>
              <a:gd name="connsiteX27" fmla="*/ 460370 w 606298"/>
              <a:gd name="connsiteY27" fmla="*/ 276006 h 476105"/>
              <a:gd name="connsiteX28" fmla="*/ 442671 w 606298"/>
              <a:gd name="connsiteY28" fmla="*/ 293764 h 476105"/>
              <a:gd name="connsiteX29" fmla="*/ 322185 w 606298"/>
              <a:gd name="connsiteY29" fmla="*/ 293764 h 476105"/>
              <a:gd name="connsiteX30" fmla="*/ 304394 w 606298"/>
              <a:gd name="connsiteY30" fmla="*/ 276006 h 476105"/>
              <a:gd name="connsiteX31" fmla="*/ 304394 w 606298"/>
              <a:gd name="connsiteY31" fmla="*/ 268369 h 476105"/>
              <a:gd name="connsiteX32" fmla="*/ 30421 w 606298"/>
              <a:gd name="connsiteY32" fmla="*/ 268369 h 476105"/>
              <a:gd name="connsiteX33" fmla="*/ 0 w 606298"/>
              <a:gd name="connsiteY33" fmla="*/ 238006 h 476105"/>
              <a:gd name="connsiteX34" fmla="*/ 30421 w 606298"/>
              <a:gd name="connsiteY34" fmla="*/ 207643 h 476105"/>
              <a:gd name="connsiteX35" fmla="*/ 304394 w 606298"/>
              <a:gd name="connsiteY35" fmla="*/ 207643 h 476105"/>
              <a:gd name="connsiteX36" fmla="*/ 304394 w 606298"/>
              <a:gd name="connsiteY36" fmla="*/ 200099 h 476105"/>
              <a:gd name="connsiteX37" fmla="*/ 322185 w 606298"/>
              <a:gd name="connsiteY37" fmla="*/ 182341 h 476105"/>
              <a:gd name="connsiteX38" fmla="*/ 109055 w 606298"/>
              <a:gd name="connsiteY38" fmla="*/ 0 h 476105"/>
              <a:gd name="connsiteX39" fmla="*/ 229540 w 606298"/>
              <a:gd name="connsiteY39" fmla="*/ 0 h 476105"/>
              <a:gd name="connsiteX40" fmla="*/ 247331 w 606298"/>
              <a:gd name="connsiteY40" fmla="*/ 17669 h 476105"/>
              <a:gd name="connsiteX41" fmla="*/ 247331 w 606298"/>
              <a:gd name="connsiteY41" fmla="*/ 25307 h 476105"/>
              <a:gd name="connsiteX42" fmla="*/ 575785 w 606298"/>
              <a:gd name="connsiteY42" fmla="*/ 25307 h 476105"/>
              <a:gd name="connsiteX43" fmla="*/ 606298 w 606298"/>
              <a:gd name="connsiteY43" fmla="*/ 55676 h 476105"/>
              <a:gd name="connsiteX44" fmla="*/ 575785 w 606298"/>
              <a:gd name="connsiteY44" fmla="*/ 86045 h 476105"/>
              <a:gd name="connsiteX45" fmla="*/ 247331 w 606298"/>
              <a:gd name="connsiteY45" fmla="*/ 86045 h 476105"/>
              <a:gd name="connsiteX46" fmla="*/ 247331 w 606298"/>
              <a:gd name="connsiteY46" fmla="*/ 93683 h 476105"/>
              <a:gd name="connsiteX47" fmla="*/ 229540 w 606298"/>
              <a:gd name="connsiteY47" fmla="*/ 111352 h 476105"/>
              <a:gd name="connsiteX48" fmla="*/ 109055 w 606298"/>
              <a:gd name="connsiteY48" fmla="*/ 111352 h 476105"/>
              <a:gd name="connsiteX49" fmla="*/ 91355 w 606298"/>
              <a:gd name="connsiteY49" fmla="*/ 93683 h 476105"/>
              <a:gd name="connsiteX50" fmla="*/ 91355 w 606298"/>
              <a:gd name="connsiteY50" fmla="*/ 86045 h 476105"/>
              <a:gd name="connsiteX51" fmla="*/ 30421 w 606298"/>
              <a:gd name="connsiteY51" fmla="*/ 86045 h 476105"/>
              <a:gd name="connsiteX52" fmla="*/ 0 w 606298"/>
              <a:gd name="connsiteY52" fmla="*/ 55676 h 476105"/>
              <a:gd name="connsiteX53" fmla="*/ 30421 w 606298"/>
              <a:gd name="connsiteY53" fmla="*/ 25307 h 476105"/>
              <a:gd name="connsiteX54" fmla="*/ 91355 w 606298"/>
              <a:gd name="connsiteY54" fmla="*/ 25307 h 476105"/>
              <a:gd name="connsiteX55" fmla="*/ 91355 w 606298"/>
              <a:gd name="connsiteY55" fmla="*/ 17669 h 476105"/>
              <a:gd name="connsiteX56" fmla="*/ 109055 w 606298"/>
              <a:gd name="connsiteY56" fmla="*/ 0 h 476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606298" h="476105">
                <a:moveTo>
                  <a:pt x="187043" y="364682"/>
                </a:moveTo>
                <a:lnTo>
                  <a:pt x="307528" y="364682"/>
                </a:lnTo>
                <a:cubicBezTo>
                  <a:pt x="317392" y="364682"/>
                  <a:pt x="325320" y="372595"/>
                  <a:pt x="325320" y="382440"/>
                </a:cubicBezTo>
                <a:lnTo>
                  <a:pt x="325320" y="389984"/>
                </a:lnTo>
                <a:lnTo>
                  <a:pt x="575785" y="389984"/>
                </a:lnTo>
                <a:cubicBezTo>
                  <a:pt x="592655" y="389984"/>
                  <a:pt x="606298" y="403602"/>
                  <a:pt x="606298" y="420440"/>
                </a:cubicBezTo>
                <a:cubicBezTo>
                  <a:pt x="606298" y="437185"/>
                  <a:pt x="592655" y="450803"/>
                  <a:pt x="575785" y="450803"/>
                </a:cubicBezTo>
                <a:lnTo>
                  <a:pt x="325320" y="450803"/>
                </a:lnTo>
                <a:lnTo>
                  <a:pt x="325320" y="458347"/>
                </a:lnTo>
                <a:cubicBezTo>
                  <a:pt x="325320" y="468192"/>
                  <a:pt x="317392" y="476105"/>
                  <a:pt x="307528" y="476105"/>
                </a:cubicBezTo>
                <a:lnTo>
                  <a:pt x="187043" y="476105"/>
                </a:lnTo>
                <a:cubicBezTo>
                  <a:pt x="177271" y="476105"/>
                  <a:pt x="169343" y="468192"/>
                  <a:pt x="169343" y="458347"/>
                </a:cubicBezTo>
                <a:lnTo>
                  <a:pt x="169343" y="450803"/>
                </a:lnTo>
                <a:lnTo>
                  <a:pt x="30421" y="450803"/>
                </a:lnTo>
                <a:cubicBezTo>
                  <a:pt x="13644" y="450803"/>
                  <a:pt x="0" y="437185"/>
                  <a:pt x="0" y="420440"/>
                </a:cubicBezTo>
                <a:cubicBezTo>
                  <a:pt x="0" y="403602"/>
                  <a:pt x="13644" y="389984"/>
                  <a:pt x="30421" y="389984"/>
                </a:cubicBezTo>
                <a:lnTo>
                  <a:pt x="169343" y="389984"/>
                </a:lnTo>
                <a:lnTo>
                  <a:pt x="169343" y="382440"/>
                </a:lnTo>
                <a:cubicBezTo>
                  <a:pt x="169343" y="372595"/>
                  <a:pt x="177271" y="364682"/>
                  <a:pt x="187043" y="364682"/>
                </a:cubicBezTo>
                <a:close/>
                <a:moveTo>
                  <a:pt x="322185" y="182341"/>
                </a:moveTo>
                <a:lnTo>
                  <a:pt x="442671" y="182341"/>
                </a:lnTo>
                <a:cubicBezTo>
                  <a:pt x="452442" y="182341"/>
                  <a:pt x="460370" y="190254"/>
                  <a:pt x="460370" y="200099"/>
                </a:cubicBezTo>
                <a:lnTo>
                  <a:pt x="460370" y="207643"/>
                </a:lnTo>
                <a:lnTo>
                  <a:pt x="575785" y="207643"/>
                </a:lnTo>
                <a:cubicBezTo>
                  <a:pt x="592655" y="207643"/>
                  <a:pt x="606298" y="221261"/>
                  <a:pt x="606298" y="238006"/>
                </a:cubicBezTo>
                <a:cubicBezTo>
                  <a:pt x="606298" y="254844"/>
                  <a:pt x="592655" y="268369"/>
                  <a:pt x="575785" y="268369"/>
                </a:cubicBezTo>
                <a:lnTo>
                  <a:pt x="460370" y="268369"/>
                </a:lnTo>
                <a:lnTo>
                  <a:pt x="460370" y="276006"/>
                </a:lnTo>
                <a:cubicBezTo>
                  <a:pt x="460370" y="285759"/>
                  <a:pt x="452442" y="293764"/>
                  <a:pt x="442671" y="293764"/>
                </a:cubicBezTo>
                <a:lnTo>
                  <a:pt x="322185" y="293764"/>
                </a:lnTo>
                <a:cubicBezTo>
                  <a:pt x="312322" y="293764"/>
                  <a:pt x="304394" y="285759"/>
                  <a:pt x="304394" y="276006"/>
                </a:cubicBezTo>
                <a:lnTo>
                  <a:pt x="304394" y="268369"/>
                </a:lnTo>
                <a:lnTo>
                  <a:pt x="30421" y="268369"/>
                </a:lnTo>
                <a:cubicBezTo>
                  <a:pt x="13644" y="268369"/>
                  <a:pt x="0" y="254844"/>
                  <a:pt x="0" y="238006"/>
                </a:cubicBezTo>
                <a:cubicBezTo>
                  <a:pt x="0" y="221261"/>
                  <a:pt x="13644" y="207643"/>
                  <a:pt x="30421" y="207643"/>
                </a:cubicBezTo>
                <a:lnTo>
                  <a:pt x="304394" y="207643"/>
                </a:lnTo>
                <a:lnTo>
                  <a:pt x="304394" y="200099"/>
                </a:lnTo>
                <a:cubicBezTo>
                  <a:pt x="304394" y="190254"/>
                  <a:pt x="312322" y="182341"/>
                  <a:pt x="322185" y="182341"/>
                </a:cubicBezTo>
                <a:close/>
                <a:moveTo>
                  <a:pt x="109055" y="0"/>
                </a:moveTo>
                <a:lnTo>
                  <a:pt x="229540" y="0"/>
                </a:lnTo>
                <a:cubicBezTo>
                  <a:pt x="239404" y="0"/>
                  <a:pt x="247331" y="7914"/>
                  <a:pt x="247331" y="17669"/>
                </a:cubicBezTo>
                <a:lnTo>
                  <a:pt x="247331" y="25307"/>
                </a:lnTo>
                <a:lnTo>
                  <a:pt x="575785" y="25307"/>
                </a:lnTo>
                <a:cubicBezTo>
                  <a:pt x="592655" y="25307"/>
                  <a:pt x="606298" y="38927"/>
                  <a:pt x="606298" y="55676"/>
                </a:cubicBezTo>
                <a:cubicBezTo>
                  <a:pt x="606298" y="72425"/>
                  <a:pt x="592655" y="86045"/>
                  <a:pt x="575785" y="86045"/>
                </a:cubicBezTo>
                <a:lnTo>
                  <a:pt x="247331" y="86045"/>
                </a:lnTo>
                <a:lnTo>
                  <a:pt x="247331" y="93683"/>
                </a:lnTo>
                <a:cubicBezTo>
                  <a:pt x="247331" y="103438"/>
                  <a:pt x="239404" y="111352"/>
                  <a:pt x="229540" y="111352"/>
                </a:cubicBezTo>
                <a:lnTo>
                  <a:pt x="109055" y="111352"/>
                </a:lnTo>
                <a:cubicBezTo>
                  <a:pt x="99283" y="111352"/>
                  <a:pt x="91355" y="103438"/>
                  <a:pt x="91355" y="93683"/>
                </a:cubicBezTo>
                <a:lnTo>
                  <a:pt x="91355" y="86045"/>
                </a:lnTo>
                <a:lnTo>
                  <a:pt x="30421" y="86045"/>
                </a:lnTo>
                <a:cubicBezTo>
                  <a:pt x="13644" y="86045"/>
                  <a:pt x="0" y="72425"/>
                  <a:pt x="0" y="55676"/>
                </a:cubicBezTo>
                <a:cubicBezTo>
                  <a:pt x="0" y="38927"/>
                  <a:pt x="13644" y="25307"/>
                  <a:pt x="30421" y="25307"/>
                </a:cubicBezTo>
                <a:lnTo>
                  <a:pt x="91355" y="25307"/>
                </a:lnTo>
                <a:lnTo>
                  <a:pt x="91355" y="17669"/>
                </a:lnTo>
                <a:cubicBezTo>
                  <a:pt x="91355" y="7914"/>
                  <a:pt x="99283" y="0"/>
                  <a:pt x="1090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71" name="menu_159761"/>
          <p:cNvSpPr>
            <a:spLocks noChangeAspect="1"/>
          </p:cNvSpPr>
          <p:nvPr/>
        </p:nvSpPr>
        <p:spPr bwMode="auto">
          <a:xfrm>
            <a:off x="9165222" y="2853623"/>
            <a:ext cx="253584" cy="253198"/>
          </a:xfrm>
          <a:custGeom>
            <a:avLst/>
            <a:gdLst>
              <a:gd name="connsiteX0" fmla="*/ 387180 w 602346"/>
              <a:gd name="connsiteY0" fmla="*/ 343654 h 601429"/>
              <a:gd name="connsiteX1" fmla="*/ 559313 w 602346"/>
              <a:gd name="connsiteY1" fmla="*/ 343654 h 601429"/>
              <a:gd name="connsiteX2" fmla="*/ 602346 w 602346"/>
              <a:gd name="connsiteY2" fmla="*/ 386617 h 601429"/>
              <a:gd name="connsiteX3" fmla="*/ 602346 w 602346"/>
              <a:gd name="connsiteY3" fmla="*/ 558467 h 601429"/>
              <a:gd name="connsiteX4" fmla="*/ 559313 w 602346"/>
              <a:gd name="connsiteY4" fmla="*/ 601429 h 601429"/>
              <a:gd name="connsiteX5" fmla="*/ 387180 w 602346"/>
              <a:gd name="connsiteY5" fmla="*/ 601429 h 601429"/>
              <a:gd name="connsiteX6" fmla="*/ 344147 w 602346"/>
              <a:gd name="connsiteY6" fmla="*/ 558467 h 601429"/>
              <a:gd name="connsiteX7" fmla="*/ 344147 w 602346"/>
              <a:gd name="connsiteY7" fmla="*/ 386617 h 601429"/>
              <a:gd name="connsiteX8" fmla="*/ 387180 w 602346"/>
              <a:gd name="connsiteY8" fmla="*/ 343654 h 601429"/>
              <a:gd name="connsiteX9" fmla="*/ 43021 w 602346"/>
              <a:gd name="connsiteY9" fmla="*/ 343654 h 601429"/>
              <a:gd name="connsiteX10" fmla="*/ 215107 w 602346"/>
              <a:gd name="connsiteY10" fmla="*/ 343654 h 601429"/>
              <a:gd name="connsiteX11" fmla="*/ 258128 w 602346"/>
              <a:gd name="connsiteY11" fmla="*/ 386617 h 601429"/>
              <a:gd name="connsiteX12" fmla="*/ 258128 w 602346"/>
              <a:gd name="connsiteY12" fmla="*/ 558467 h 601429"/>
              <a:gd name="connsiteX13" fmla="*/ 215107 w 602346"/>
              <a:gd name="connsiteY13" fmla="*/ 601429 h 601429"/>
              <a:gd name="connsiteX14" fmla="*/ 43021 w 602346"/>
              <a:gd name="connsiteY14" fmla="*/ 601429 h 601429"/>
              <a:gd name="connsiteX15" fmla="*/ 0 w 602346"/>
              <a:gd name="connsiteY15" fmla="*/ 558467 h 601429"/>
              <a:gd name="connsiteX16" fmla="*/ 0 w 602346"/>
              <a:gd name="connsiteY16" fmla="*/ 386617 h 601429"/>
              <a:gd name="connsiteX17" fmla="*/ 43021 w 602346"/>
              <a:gd name="connsiteY17" fmla="*/ 343654 h 601429"/>
              <a:gd name="connsiteX18" fmla="*/ 387180 w 602346"/>
              <a:gd name="connsiteY18" fmla="*/ 0 h 601429"/>
              <a:gd name="connsiteX19" fmla="*/ 559313 w 602346"/>
              <a:gd name="connsiteY19" fmla="*/ 0 h 601429"/>
              <a:gd name="connsiteX20" fmla="*/ 602346 w 602346"/>
              <a:gd name="connsiteY20" fmla="*/ 42963 h 601429"/>
              <a:gd name="connsiteX21" fmla="*/ 602346 w 602346"/>
              <a:gd name="connsiteY21" fmla="*/ 214813 h 601429"/>
              <a:gd name="connsiteX22" fmla="*/ 559313 w 602346"/>
              <a:gd name="connsiteY22" fmla="*/ 257775 h 601429"/>
              <a:gd name="connsiteX23" fmla="*/ 387180 w 602346"/>
              <a:gd name="connsiteY23" fmla="*/ 257775 h 601429"/>
              <a:gd name="connsiteX24" fmla="*/ 344147 w 602346"/>
              <a:gd name="connsiteY24" fmla="*/ 214813 h 601429"/>
              <a:gd name="connsiteX25" fmla="*/ 344147 w 602346"/>
              <a:gd name="connsiteY25" fmla="*/ 42963 h 601429"/>
              <a:gd name="connsiteX26" fmla="*/ 387180 w 602346"/>
              <a:gd name="connsiteY26" fmla="*/ 0 h 601429"/>
              <a:gd name="connsiteX27" fmla="*/ 43021 w 602346"/>
              <a:gd name="connsiteY27" fmla="*/ 0 h 601429"/>
              <a:gd name="connsiteX28" fmla="*/ 215107 w 602346"/>
              <a:gd name="connsiteY28" fmla="*/ 0 h 601429"/>
              <a:gd name="connsiteX29" fmla="*/ 258128 w 602346"/>
              <a:gd name="connsiteY29" fmla="*/ 42963 h 601429"/>
              <a:gd name="connsiteX30" fmla="*/ 258128 w 602346"/>
              <a:gd name="connsiteY30" fmla="*/ 214813 h 601429"/>
              <a:gd name="connsiteX31" fmla="*/ 215107 w 602346"/>
              <a:gd name="connsiteY31" fmla="*/ 257775 h 601429"/>
              <a:gd name="connsiteX32" fmla="*/ 43021 w 602346"/>
              <a:gd name="connsiteY32" fmla="*/ 257775 h 601429"/>
              <a:gd name="connsiteX33" fmla="*/ 0 w 602346"/>
              <a:gd name="connsiteY33" fmla="*/ 214813 h 601429"/>
              <a:gd name="connsiteX34" fmla="*/ 0 w 602346"/>
              <a:gd name="connsiteY34" fmla="*/ 42963 h 601429"/>
              <a:gd name="connsiteX35" fmla="*/ 43021 w 602346"/>
              <a:gd name="connsiteY35" fmla="*/ 0 h 60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02346" h="601429">
                <a:moveTo>
                  <a:pt x="387180" y="343654"/>
                </a:moveTo>
                <a:lnTo>
                  <a:pt x="559313" y="343654"/>
                </a:lnTo>
                <a:cubicBezTo>
                  <a:pt x="582981" y="343654"/>
                  <a:pt x="602346" y="362987"/>
                  <a:pt x="602346" y="386617"/>
                </a:cubicBezTo>
                <a:lnTo>
                  <a:pt x="602346" y="558467"/>
                </a:lnTo>
                <a:cubicBezTo>
                  <a:pt x="602346" y="582096"/>
                  <a:pt x="582981" y="601429"/>
                  <a:pt x="559313" y="601429"/>
                </a:cubicBezTo>
                <a:lnTo>
                  <a:pt x="387180" y="601429"/>
                </a:lnTo>
                <a:cubicBezTo>
                  <a:pt x="363512" y="601429"/>
                  <a:pt x="344147" y="582096"/>
                  <a:pt x="344147" y="558467"/>
                </a:cubicBezTo>
                <a:lnTo>
                  <a:pt x="344147" y="386617"/>
                </a:lnTo>
                <a:cubicBezTo>
                  <a:pt x="344147" y="362987"/>
                  <a:pt x="363512" y="343654"/>
                  <a:pt x="387180" y="343654"/>
                </a:cubicBezTo>
                <a:close/>
                <a:moveTo>
                  <a:pt x="43021" y="343654"/>
                </a:moveTo>
                <a:lnTo>
                  <a:pt x="215107" y="343654"/>
                </a:lnTo>
                <a:cubicBezTo>
                  <a:pt x="238768" y="343654"/>
                  <a:pt x="258128" y="362987"/>
                  <a:pt x="258128" y="386617"/>
                </a:cubicBezTo>
                <a:lnTo>
                  <a:pt x="258128" y="558467"/>
                </a:lnTo>
                <a:cubicBezTo>
                  <a:pt x="258128" y="582096"/>
                  <a:pt x="238768" y="601429"/>
                  <a:pt x="215107" y="601429"/>
                </a:cubicBezTo>
                <a:lnTo>
                  <a:pt x="43021" y="601429"/>
                </a:lnTo>
                <a:cubicBezTo>
                  <a:pt x="19360" y="601429"/>
                  <a:pt x="0" y="582096"/>
                  <a:pt x="0" y="558467"/>
                </a:cubicBezTo>
                <a:lnTo>
                  <a:pt x="0" y="386617"/>
                </a:lnTo>
                <a:cubicBezTo>
                  <a:pt x="0" y="362987"/>
                  <a:pt x="19360" y="343654"/>
                  <a:pt x="43021" y="343654"/>
                </a:cubicBezTo>
                <a:close/>
                <a:moveTo>
                  <a:pt x="387180" y="0"/>
                </a:moveTo>
                <a:lnTo>
                  <a:pt x="559313" y="0"/>
                </a:lnTo>
                <a:cubicBezTo>
                  <a:pt x="582981" y="0"/>
                  <a:pt x="602346" y="19333"/>
                  <a:pt x="602346" y="42963"/>
                </a:cubicBezTo>
                <a:lnTo>
                  <a:pt x="602346" y="214813"/>
                </a:lnTo>
                <a:cubicBezTo>
                  <a:pt x="602346" y="238442"/>
                  <a:pt x="582981" y="257775"/>
                  <a:pt x="559313" y="257775"/>
                </a:cubicBezTo>
                <a:lnTo>
                  <a:pt x="387180" y="257775"/>
                </a:lnTo>
                <a:cubicBezTo>
                  <a:pt x="363512" y="257775"/>
                  <a:pt x="344147" y="238442"/>
                  <a:pt x="344147" y="214813"/>
                </a:cubicBezTo>
                <a:lnTo>
                  <a:pt x="344147" y="42963"/>
                </a:lnTo>
                <a:cubicBezTo>
                  <a:pt x="344147" y="19333"/>
                  <a:pt x="363512" y="0"/>
                  <a:pt x="387180" y="0"/>
                </a:cubicBezTo>
                <a:close/>
                <a:moveTo>
                  <a:pt x="43021" y="0"/>
                </a:moveTo>
                <a:lnTo>
                  <a:pt x="215107" y="0"/>
                </a:lnTo>
                <a:cubicBezTo>
                  <a:pt x="238768" y="0"/>
                  <a:pt x="258128" y="19333"/>
                  <a:pt x="258128" y="42963"/>
                </a:cubicBezTo>
                <a:lnTo>
                  <a:pt x="258128" y="214813"/>
                </a:lnTo>
                <a:cubicBezTo>
                  <a:pt x="258128" y="238442"/>
                  <a:pt x="238768" y="257775"/>
                  <a:pt x="215107" y="257775"/>
                </a:cubicBezTo>
                <a:lnTo>
                  <a:pt x="43021" y="257775"/>
                </a:lnTo>
                <a:cubicBezTo>
                  <a:pt x="19360" y="257775"/>
                  <a:pt x="0" y="238442"/>
                  <a:pt x="0" y="214813"/>
                </a:cubicBezTo>
                <a:lnTo>
                  <a:pt x="0" y="42963"/>
                </a:lnTo>
                <a:cubicBezTo>
                  <a:pt x="0" y="19333"/>
                  <a:pt x="19360" y="0"/>
                  <a:pt x="430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10" y="2525700"/>
            <a:ext cx="5891857" cy="25098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94" y="1397839"/>
            <a:ext cx="6351885" cy="69848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24" y="5073752"/>
            <a:ext cx="4733504" cy="7728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6801500" y="1723579"/>
                <a:ext cx="5136150" cy="4261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We can compute the </a:t>
                </a:r>
                <a:r>
                  <a:rPr lang="en-US" altLang="zh-CN" b="1" dirty="0"/>
                  <a:t>similarity</a:t>
                </a:r>
                <a:r>
                  <a:rPr lang="en-US" altLang="zh-CN" dirty="0"/>
                  <a:t> between users using their sets of liked items.</a:t>
                </a:r>
              </a:p>
              <a:p>
                <a:r>
                  <a:rPr lang="en-US" altLang="zh-CN" b="1" dirty="0"/>
                  <a:t>Example:</a:t>
                </a:r>
                <a:endParaRPr lang="en-US" altLang="zh-CN" dirty="0"/>
              </a:p>
              <a:p>
                <a:r>
                  <a:rPr lang="en-US" altLang="zh-CN" dirty="0"/>
                  <a:t>User 1 likes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1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3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4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5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7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8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9</m:t>
                        </m:r>
                      </m:e>
                    </m:d>
                  </m:oMath>
                </a14:m>
                <a:endParaRPr lang="ar-AE" altLang="zh-CN" dirty="0"/>
              </a:p>
              <a:p>
                <a:r>
                  <a:rPr lang="en-US" altLang="zh-CN" dirty="0"/>
                  <a:t>User 2 likes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1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2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3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5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6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8</m:t>
                        </m:r>
                      </m:e>
                    </m:d>
                  </m:oMath>
                </a14:m>
                <a:endParaRPr lang="ar-AE" altLang="zh-CN" dirty="0"/>
              </a:p>
              <a:p>
                <a:r>
                  <a:rPr lang="en-US" altLang="zh-CN" b="1" dirty="0"/>
                  <a:t>Step 1: Find the intersection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zh-CN">
                              <a:latin typeface="Cambria Math" panose="02040503050406030204" charset="0"/>
                            </a:rPr>
                            <m:t>1</m:t>
                          </m:r>
                        </m:e>
                        <m:e>
                          <m:r>
                            <a:rPr lang="ar-AE" altLang="zh-CN">
                              <a:latin typeface="Cambria Math" panose="02040503050406030204" charset="0"/>
                            </a:rPr>
                            <m:t>3</m:t>
                          </m:r>
                        </m:e>
                        <m:e>
                          <m:r>
                            <a:rPr lang="ar-AE" altLang="zh-CN">
                              <a:latin typeface="Cambria Math" panose="02040503050406030204" charset="0"/>
                            </a:rPr>
                            <m:t>5</m:t>
                          </m:r>
                        </m:e>
                        <m:e>
                          <m:r>
                            <a:rPr lang="ar-AE" altLang="zh-CN">
                              <a:latin typeface="Cambria Math" panose="02040503050406030204" charset="0"/>
                            </a:rPr>
                            <m:t>8</m:t>
                          </m:r>
                        </m:e>
                      </m:d>
                      <m:r>
                        <a:rPr lang="ar-AE" altLang="zh-CN">
                          <a:latin typeface="Cambria Math" panose="02040503050406030204" charset="0"/>
                        </a:rPr>
                        <m:t> </m:t>
                      </m:r>
                      <m:d>
                        <m:d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ar-AE" altLang="zh-CN" i="1">
                              <a:latin typeface="Cambria Math" panose="02040503050406030204" charset="0"/>
                            </a:rPr>
                            <m:t>4 </m:t>
                          </m:r>
                          <m:r>
                            <m:rPr>
                              <m:nor/>
                            </m:rPr>
                            <a:rPr lang="en-US" altLang="zh-CN" i="1">
                              <a:latin typeface="Cambria Math" panose="02040503050406030204" charset="0"/>
                            </a:rPr>
                            <m:t>items</m:t>
                          </m:r>
                        </m:e>
                      </m:d>
                    </m:oMath>
                  </m:oMathPara>
                </a14:m>
                <a:endParaRPr lang="ar-AE" altLang="zh-CN" b="0" dirty="0"/>
              </a:p>
              <a:p>
                <a:r>
                  <a:rPr lang="en-US" altLang="zh-CN" b="1" dirty="0"/>
                  <a:t>Step 2: Compute similarity</a:t>
                </a:r>
                <a:r>
                  <a:rPr lang="en-US" altLang="zh-CN" dirty="0"/>
                  <a:t> (e.g., using </a:t>
                </a:r>
                <a:r>
                  <a:rPr lang="en-US" altLang="zh-CN" b="1" dirty="0"/>
                  <a:t>Jaccard similarity</a:t>
                </a:r>
                <a:r>
                  <a:rPr lang="en-US" altLang="zh-CN" dirty="0"/>
                  <a:t>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b="0">
                          <a:latin typeface="Cambria Math" panose="02040503050406030204" charset="0"/>
                        </a:rPr>
                        <m:t>Similarity</m:t>
                      </m:r>
                      <m:r>
                        <a:rPr lang="en-US" altLang="zh-CN">
                          <a:latin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>
                              <a:latin typeface="Cambria Math" panose="02040503050406030204" charset="0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lang="en-US" altLang="zh-CN" i="1">
                              <a:latin typeface="Cambria Math" panose="02040503050406030204" charset="0"/>
                            </a:rPr>
                            <m:t>Intersection</m:t>
                          </m:r>
                          <m:r>
                            <a:rPr lang="en-US" altLang="zh-CN">
                              <a:latin typeface="Cambria Math" panose="02040503050406030204" charset="0"/>
                            </a:rPr>
                            <m:t>∣</m:t>
                          </m:r>
                        </m:num>
                        <m:den>
                          <m:r>
                            <a:rPr lang="ar-AE" altLang="zh-CN">
                              <a:latin typeface="Cambria Math" panose="02040503050406030204" charset="0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lang="en-US" altLang="zh-CN" i="1">
                              <a:latin typeface="Cambria Math" panose="02040503050406030204" charset="0"/>
                            </a:rPr>
                            <m:t>Union</m:t>
                          </m:r>
                          <m:r>
                            <a:rPr lang="en-US" altLang="zh-CN">
                              <a:latin typeface="Cambria Math" panose="02040503050406030204" charset="0"/>
                            </a:rPr>
                            <m:t>∣</m:t>
                          </m:r>
                        </m:den>
                      </m:f>
                      <m:r>
                        <a:rPr lang="ar-AE" altLang="zh-CN">
                          <a:latin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>
                              <a:latin typeface="Cambria Math" panose="02040503050406030204" charset="0"/>
                            </a:rPr>
                            <m:t>4</m:t>
                          </m:r>
                        </m:num>
                        <m:den>
                          <m:r>
                            <a:rPr lang="ar-AE" altLang="zh-CN">
                              <a:latin typeface="Cambria Math" panose="02040503050406030204" charset="0"/>
                            </a:rPr>
                            <m:t>9</m:t>
                          </m:r>
                        </m:den>
                      </m:f>
                      <m:r>
                        <a:rPr lang="ar-AE" altLang="zh-CN">
                          <a:latin typeface="Cambria Math" panose="02040503050406030204" charset="0"/>
                        </a:rPr>
                        <m:t>≈</m:t>
                      </m:r>
                      <m:r>
                        <a:rPr lang="ar-AE" altLang="zh-CN">
                          <a:latin typeface="Cambria Math" panose="02040503050406030204" charset="0"/>
                        </a:rPr>
                        <m:t>0</m:t>
                      </m:r>
                      <m:r>
                        <a:rPr lang="ar-AE" altLang="zh-CN">
                          <a:latin typeface="Cambria Math" panose="02040503050406030204" charset="0"/>
                        </a:rPr>
                        <m:t>.</m:t>
                      </m:r>
                      <m:r>
                        <a:rPr lang="ar-AE" altLang="zh-CN">
                          <a:latin typeface="Cambria Math" panose="02040503050406030204" charset="0"/>
                        </a:rPr>
                        <m:t>444</m:t>
                      </m:r>
                    </m:oMath>
                  </m:oMathPara>
                </a14:m>
                <a:endParaRPr lang="ar-AE" altLang="zh-CN" b="0" dirty="0"/>
              </a:p>
              <a:p>
                <a:r>
                  <a:rPr lang="en-US" altLang="zh-CN" dirty="0"/>
                  <a:t>where the union of items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1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2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3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4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5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6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7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8</m:t>
                        </m:r>
                      </m:e>
                      <m:e>
                        <m:r>
                          <a:rPr lang="ar-AE" altLang="zh-CN">
                            <a:latin typeface="Cambria Math" panose="02040503050406030204" charset="0"/>
                          </a:rPr>
                          <m:t>9</m:t>
                        </m:r>
                      </m:e>
                    </m:d>
                  </m:oMath>
                </a14:m>
                <a:r>
                  <a:rPr lang="ar-AE" altLang="zh-CN" dirty="0"/>
                  <a:t>, </a:t>
                </a:r>
                <a:r>
                  <a:rPr lang="en-US" altLang="zh-CN" dirty="0"/>
                  <a:t>size 9.</a:t>
                </a:r>
              </a:p>
              <a:p>
                <a:r>
                  <a:rPr lang="en-US" altLang="zh-CN" dirty="0"/>
                  <a:t>So the </a:t>
                </a:r>
                <a:r>
                  <a:rPr lang="en-US" altLang="zh-CN" b="1" dirty="0"/>
                  <a:t>user similarity</a:t>
                </a:r>
                <a:r>
                  <a:rPr lang="en-US" altLang="zh-CN" dirty="0"/>
                  <a:t> is approximately </a:t>
                </a:r>
                <a:r>
                  <a:rPr lang="en-US" altLang="zh-CN" b="1" dirty="0"/>
                  <a:t>0.44</a:t>
                </a:r>
                <a:r>
                  <a:rPr lang="en-US" altLang="zh-CN" dirty="0"/>
                  <a:t>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500" y="1723579"/>
                <a:ext cx="5136150" cy="4261295"/>
              </a:xfrm>
              <a:prstGeom prst="rect">
                <a:avLst/>
              </a:prstGeom>
              <a:blipFill rotWithShape="1">
                <a:blip r:embed="rId6"/>
                <a:stretch>
                  <a:fillRect t="-4" r="6" b="-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Method2: Cosine Distance</a:t>
            </a:r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598409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451894" y="5446703"/>
            <a:ext cx="4922808" cy="13266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focusing on the direction of preferences rather than the absolute rating values</a:t>
            </a:r>
            <a:r>
              <a:rPr lang="en-US" altLang="zh-CN" sz="1600" dirty="0"/>
              <a:t>.</a:t>
            </a: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533575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0120610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0" name="volume-bars_84227"/>
          <p:cNvSpPr>
            <a:spLocks noChangeAspect="1"/>
          </p:cNvSpPr>
          <p:nvPr/>
        </p:nvSpPr>
        <p:spPr bwMode="auto">
          <a:xfrm>
            <a:off x="5952728" y="2859384"/>
            <a:ext cx="304842" cy="239382"/>
          </a:xfrm>
          <a:custGeom>
            <a:avLst/>
            <a:gdLst>
              <a:gd name="connsiteX0" fmla="*/ 187043 w 606298"/>
              <a:gd name="connsiteY0" fmla="*/ 364682 h 476105"/>
              <a:gd name="connsiteX1" fmla="*/ 307528 w 606298"/>
              <a:gd name="connsiteY1" fmla="*/ 364682 h 476105"/>
              <a:gd name="connsiteX2" fmla="*/ 325320 w 606298"/>
              <a:gd name="connsiteY2" fmla="*/ 382440 h 476105"/>
              <a:gd name="connsiteX3" fmla="*/ 325320 w 606298"/>
              <a:gd name="connsiteY3" fmla="*/ 389984 h 476105"/>
              <a:gd name="connsiteX4" fmla="*/ 575785 w 606298"/>
              <a:gd name="connsiteY4" fmla="*/ 389984 h 476105"/>
              <a:gd name="connsiteX5" fmla="*/ 606298 w 606298"/>
              <a:gd name="connsiteY5" fmla="*/ 420440 h 476105"/>
              <a:gd name="connsiteX6" fmla="*/ 575785 w 606298"/>
              <a:gd name="connsiteY6" fmla="*/ 450803 h 476105"/>
              <a:gd name="connsiteX7" fmla="*/ 325320 w 606298"/>
              <a:gd name="connsiteY7" fmla="*/ 450803 h 476105"/>
              <a:gd name="connsiteX8" fmla="*/ 325320 w 606298"/>
              <a:gd name="connsiteY8" fmla="*/ 458347 h 476105"/>
              <a:gd name="connsiteX9" fmla="*/ 307528 w 606298"/>
              <a:gd name="connsiteY9" fmla="*/ 476105 h 476105"/>
              <a:gd name="connsiteX10" fmla="*/ 187043 w 606298"/>
              <a:gd name="connsiteY10" fmla="*/ 476105 h 476105"/>
              <a:gd name="connsiteX11" fmla="*/ 169343 w 606298"/>
              <a:gd name="connsiteY11" fmla="*/ 458347 h 476105"/>
              <a:gd name="connsiteX12" fmla="*/ 169343 w 606298"/>
              <a:gd name="connsiteY12" fmla="*/ 450803 h 476105"/>
              <a:gd name="connsiteX13" fmla="*/ 30421 w 606298"/>
              <a:gd name="connsiteY13" fmla="*/ 450803 h 476105"/>
              <a:gd name="connsiteX14" fmla="*/ 0 w 606298"/>
              <a:gd name="connsiteY14" fmla="*/ 420440 h 476105"/>
              <a:gd name="connsiteX15" fmla="*/ 30421 w 606298"/>
              <a:gd name="connsiteY15" fmla="*/ 389984 h 476105"/>
              <a:gd name="connsiteX16" fmla="*/ 169343 w 606298"/>
              <a:gd name="connsiteY16" fmla="*/ 389984 h 476105"/>
              <a:gd name="connsiteX17" fmla="*/ 169343 w 606298"/>
              <a:gd name="connsiteY17" fmla="*/ 382440 h 476105"/>
              <a:gd name="connsiteX18" fmla="*/ 187043 w 606298"/>
              <a:gd name="connsiteY18" fmla="*/ 364682 h 476105"/>
              <a:gd name="connsiteX19" fmla="*/ 322185 w 606298"/>
              <a:gd name="connsiteY19" fmla="*/ 182341 h 476105"/>
              <a:gd name="connsiteX20" fmla="*/ 442671 w 606298"/>
              <a:gd name="connsiteY20" fmla="*/ 182341 h 476105"/>
              <a:gd name="connsiteX21" fmla="*/ 460370 w 606298"/>
              <a:gd name="connsiteY21" fmla="*/ 200099 h 476105"/>
              <a:gd name="connsiteX22" fmla="*/ 460370 w 606298"/>
              <a:gd name="connsiteY22" fmla="*/ 207643 h 476105"/>
              <a:gd name="connsiteX23" fmla="*/ 575785 w 606298"/>
              <a:gd name="connsiteY23" fmla="*/ 207643 h 476105"/>
              <a:gd name="connsiteX24" fmla="*/ 606298 w 606298"/>
              <a:gd name="connsiteY24" fmla="*/ 238006 h 476105"/>
              <a:gd name="connsiteX25" fmla="*/ 575785 w 606298"/>
              <a:gd name="connsiteY25" fmla="*/ 268369 h 476105"/>
              <a:gd name="connsiteX26" fmla="*/ 460370 w 606298"/>
              <a:gd name="connsiteY26" fmla="*/ 268369 h 476105"/>
              <a:gd name="connsiteX27" fmla="*/ 460370 w 606298"/>
              <a:gd name="connsiteY27" fmla="*/ 276006 h 476105"/>
              <a:gd name="connsiteX28" fmla="*/ 442671 w 606298"/>
              <a:gd name="connsiteY28" fmla="*/ 293764 h 476105"/>
              <a:gd name="connsiteX29" fmla="*/ 322185 w 606298"/>
              <a:gd name="connsiteY29" fmla="*/ 293764 h 476105"/>
              <a:gd name="connsiteX30" fmla="*/ 304394 w 606298"/>
              <a:gd name="connsiteY30" fmla="*/ 276006 h 476105"/>
              <a:gd name="connsiteX31" fmla="*/ 304394 w 606298"/>
              <a:gd name="connsiteY31" fmla="*/ 268369 h 476105"/>
              <a:gd name="connsiteX32" fmla="*/ 30421 w 606298"/>
              <a:gd name="connsiteY32" fmla="*/ 268369 h 476105"/>
              <a:gd name="connsiteX33" fmla="*/ 0 w 606298"/>
              <a:gd name="connsiteY33" fmla="*/ 238006 h 476105"/>
              <a:gd name="connsiteX34" fmla="*/ 30421 w 606298"/>
              <a:gd name="connsiteY34" fmla="*/ 207643 h 476105"/>
              <a:gd name="connsiteX35" fmla="*/ 304394 w 606298"/>
              <a:gd name="connsiteY35" fmla="*/ 207643 h 476105"/>
              <a:gd name="connsiteX36" fmla="*/ 304394 w 606298"/>
              <a:gd name="connsiteY36" fmla="*/ 200099 h 476105"/>
              <a:gd name="connsiteX37" fmla="*/ 322185 w 606298"/>
              <a:gd name="connsiteY37" fmla="*/ 182341 h 476105"/>
              <a:gd name="connsiteX38" fmla="*/ 109055 w 606298"/>
              <a:gd name="connsiteY38" fmla="*/ 0 h 476105"/>
              <a:gd name="connsiteX39" fmla="*/ 229540 w 606298"/>
              <a:gd name="connsiteY39" fmla="*/ 0 h 476105"/>
              <a:gd name="connsiteX40" fmla="*/ 247331 w 606298"/>
              <a:gd name="connsiteY40" fmla="*/ 17669 h 476105"/>
              <a:gd name="connsiteX41" fmla="*/ 247331 w 606298"/>
              <a:gd name="connsiteY41" fmla="*/ 25307 h 476105"/>
              <a:gd name="connsiteX42" fmla="*/ 575785 w 606298"/>
              <a:gd name="connsiteY42" fmla="*/ 25307 h 476105"/>
              <a:gd name="connsiteX43" fmla="*/ 606298 w 606298"/>
              <a:gd name="connsiteY43" fmla="*/ 55676 h 476105"/>
              <a:gd name="connsiteX44" fmla="*/ 575785 w 606298"/>
              <a:gd name="connsiteY44" fmla="*/ 86045 h 476105"/>
              <a:gd name="connsiteX45" fmla="*/ 247331 w 606298"/>
              <a:gd name="connsiteY45" fmla="*/ 86045 h 476105"/>
              <a:gd name="connsiteX46" fmla="*/ 247331 w 606298"/>
              <a:gd name="connsiteY46" fmla="*/ 93683 h 476105"/>
              <a:gd name="connsiteX47" fmla="*/ 229540 w 606298"/>
              <a:gd name="connsiteY47" fmla="*/ 111352 h 476105"/>
              <a:gd name="connsiteX48" fmla="*/ 109055 w 606298"/>
              <a:gd name="connsiteY48" fmla="*/ 111352 h 476105"/>
              <a:gd name="connsiteX49" fmla="*/ 91355 w 606298"/>
              <a:gd name="connsiteY49" fmla="*/ 93683 h 476105"/>
              <a:gd name="connsiteX50" fmla="*/ 91355 w 606298"/>
              <a:gd name="connsiteY50" fmla="*/ 86045 h 476105"/>
              <a:gd name="connsiteX51" fmla="*/ 30421 w 606298"/>
              <a:gd name="connsiteY51" fmla="*/ 86045 h 476105"/>
              <a:gd name="connsiteX52" fmla="*/ 0 w 606298"/>
              <a:gd name="connsiteY52" fmla="*/ 55676 h 476105"/>
              <a:gd name="connsiteX53" fmla="*/ 30421 w 606298"/>
              <a:gd name="connsiteY53" fmla="*/ 25307 h 476105"/>
              <a:gd name="connsiteX54" fmla="*/ 91355 w 606298"/>
              <a:gd name="connsiteY54" fmla="*/ 25307 h 476105"/>
              <a:gd name="connsiteX55" fmla="*/ 91355 w 606298"/>
              <a:gd name="connsiteY55" fmla="*/ 17669 h 476105"/>
              <a:gd name="connsiteX56" fmla="*/ 109055 w 606298"/>
              <a:gd name="connsiteY56" fmla="*/ 0 h 476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606298" h="476105">
                <a:moveTo>
                  <a:pt x="187043" y="364682"/>
                </a:moveTo>
                <a:lnTo>
                  <a:pt x="307528" y="364682"/>
                </a:lnTo>
                <a:cubicBezTo>
                  <a:pt x="317392" y="364682"/>
                  <a:pt x="325320" y="372595"/>
                  <a:pt x="325320" y="382440"/>
                </a:cubicBezTo>
                <a:lnTo>
                  <a:pt x="325320" y="389984"/>
                </a:lnTo>
                <a:lnTo>
                  <a:pt x="575785" y="389984"/>
                </a:lnTo>
                <a:cubicBezTo>
                  <a:pt x="592655" y="389984"/>
                  <a:pt x="606298" y="403602"/>
                  <a:pt x="606298" y="420440"/>
                </a:cubicBezTo>
                <a:cubicBezTo>
                  <a:pt x="606298" y="437185"/>
                  <a:pt x="592655" y="450803"/>
                  <a:pt x="575785" y="450803"/>
                </a:cubicBezTo>
                <a:lnTo>
                  <a:pt x="325320" y="450803"/>
                </a:lnTo>
                <a:lnTo>
                  <a:pt x="325320" y="458347"/>
                </a:lnTo>
                <a:cubicBezTo>
                  <a:pt x="325320" y="468192"/>
                  <a:pt x="317392" y="476105"/>
                  <a:pt x="307528" y="476105"/>
                </a:cubicBezTo>
                <a:lnTo>
                  <a:pt x="187043" y="476105"/>
                </a:lnTo>
                <a:cubicBezTo>
                  <a:pt x="177271" y="476105"/>
                  <a:pt x="169343" y="468192"/>
                  <a:pt x="169343" y="458347"/>
                </a:cubicBezTo>
                <a:lnTo>
                  <a:pt x="169343" y="450803"/>
                </a:lnTo>
                <a:lnTo>
                  <a:pt x="30421" y="450803"/>
                </a:lnTo>
                <a:cubicBezTo>
                  <a:pt x="13644" y="450803"/>
                  <a:pt x="0" y="437185"/>
                  <a:pt x="0" y="420440"/>
                </a:cubicBezTo>
                <a:cubicBezTo>
                  <a:pt x="0" y="403602"/>
                  <a:pt x="13644" y="389984"/>
                  <a:pt x="30421" y="389984"/>
                </a:cubicBezTo>
                <a:lnTo>
                  <a:pt x="169343" y="389984"/>
                </a:lnTo>
                <a:lnTo>
                  <a:pt x="169343" y="382440"/>
                </a:lnTo>
                <a:cubicBezTo>
                  <a:pt x="169343" y="372595"/>
                  <a:pt x="177271" y="364682"/>
                  <a:pt x="187043" y="364682"/>
                </a:cubicBezTo>
                <a:close/>
                <a:moveTo>
                  <a:pt x="322185" y="182341"/>
                </a:moveTo>
                <a:lnTo>
                  <a:pt x="442671" y="182341"/>
                </a:lnTo>
                <a:cubicBezTo>
                  <a:pt x="452442" y="182341"/>
                  <a:pt x="460370" y="190254"/>
                  <a:pt x="460370" y="200099"/>
                </a:cubicBezTo>
                <a:lnTo>
                  <a:pt x="460370" y="207643"/>
                </a:lnTo>
                <a:lnTo>
                  <a:pt x="575785" y="207643"/>
                </a:lnTo>
                <a:cubicBezTo>
                  <a:pt x="592655" y="207643"/>
                  <a:pt x="606298" y="221261"/>
                  <a:pt x="606298" y="238006"/>
                </a:cubicBezTo>
                <a:cubicBezTo>
                  <a:pt x="606298" y="254844"/>
                  <a:pt x="592655" y="268369"/>
                  <a:pt x="575785" y="268369"/>
                </a:cubicBezTo>
                <a:lnTo>
                  <a:pt x="460370" y="268369"/>
                </a:lnTo>
                <a:lnTo>
                  <a:pt x="460370" y="276006"/>
                </a:lnTo>
                <a:cubicBezTo>
                  <a:pt x="460370" y="285759"/>
                  <a:pt x="452442" y="293764"/>
                  <a:pt x="442671" y="293764"/>
                </a:cubicBezTo>
                <a:lnTo>
                  <a:pt x="322185" y="293764"/>
                </a:lnTo>
                <a:cubicBezTo>
                  <a:pt x="312322" y="293764"/>
                  <a:pt x="304394" y="285759"/>
                  <a:pt x="304394" y="276006"/>
                </a:cubicBezTo>
                <a:lnTo>
                  <a:pt x="304394" y="268369"/>
                </a:lnTo>
                <a:lnTo>
                  <a:pt x="30421" y="268369"/>
                </a:lnTo>
                <a:cubicBezTo>
                  <a:pt x="13644" y="268369"/>
                  <a:pt x="0" y="254844"/>
                  <a:pt x="0" y="238006"/>
                </a:cubicBezTo>
                <a:cubicBezTo>
                  <a:pt x="0" y="221261"/>
                  <a:pt x="13644" y="207643"/>
                  <a:pt x="30421" y="207643"/>
                </a:cubicBezTo>
                <a:lnTo>
                  <a:pt x="304394" y="207643"/>
                </a:lnTo>
                <a:lnTo>
                  <a:pt x="304394" y="200099"/>
                </a:lnTo>
                <a:cubicBezTo>
                  <a:pt x="304394" y="190254"/>
                  <a:pt x="312322" y="182341"/>
                  <a:pt x="322185" y="182341"/>
                </a:cubicBezTo>
                <a:close/>
                <a:moveTo>
                  <a:pt x="109055" y="0"/>
                </a:moveTo>
                <a:lnTo>
                  <a:pt x="229540" y="0"/>
                </a:lnTo>
                <a:cubicBezTo>
                  <a:pt x="239404" y="0"/>
                  <a:pt x="247331" y="7914"/>
                  <a:pt x="247331" y="17669"/>
                </a:cubicBezTo>
                <a:lnTo>
                  <a:pt x="247331" y="25307"/>
                </a:lnTo>
                <a:lnTo>
                  <a:pt x="575785" y="25307"/>
                </a:lnTo>
                <a:cubicBezTo>
                  <a:pt x="592655" y="25307"/>
                  <a:pt x="606298" y="38927"/>
                  <a:pt x="606298" y="55676"/>
                </a:cubicBezTo>
                <a:cubicBezTo>
                  <a:pt x="606298" y="72425"/>
                  <a:pt x="592655" y="86045"/>
                  <a:pt x="575785" y="86045"/>
                </a:cubicBezTo>
                <a:lnTo>
                  <a:pt x="247331" y="86045"/>
                </a:lnTo>
                <a:lnTo>
                  <a:pt x="247331" y="93683"/>
                </a:lnTo>
                <a:cubicBezTo>
                  <a:pt x="247331" y="103438"/>
                  <a:pt x="239404" y="111352"/>
                  <a:pt x="229540" y="111352"/>
                </a:cubicBezTo>
                <a:lnTo>
                  <a:pt x="109055" y="111352"/>
                </a:lnTo>
                <a:cubicBezTo>
                  <a:pt x="99283" y="111352"/>
                  <a:pt x="91355" y="103438"/>
                  <a:pt x="91355" y="93683"/>
                </a:cubicBezTo>
                <a:lnTo>
                  <a:pt x="91355" y="86045"/>
                </a:lnTo>
                <a:lnTo>
                  <a:pt x="30421" y="86045"/>
                </a:lnTo>
                <a:cubicBezTo>
                  <a:pt x="13644" y="86045"/>
                  <a:pt x="0" y="72425"/>
                  <a:pt x="0" y="55676"/>
                </a:cubicBezTo>
                <a:cubicBezTo>
                  <a:pt x="0" y="38927"/>
                  <a:pt x="13644" y="25307"/>
                  <a:pt x="30421" y="25307"/>
                </a:cubicBezTo>
                <a:lnTo>
                  <a:pt x="91355" y="25307"/>
                </a:lnTo>
                <a:lnTo>
                  <a:pt x="91355" y="17669"/>
                </a:lnTo>
                <a:cubicBezTo>
                  <a:pt x="91355" y="7914"/>
                  <a:pt x="99283" y="0"/>
                  <a:pt x="1090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71" name="menu_159761"/>
          <p:cNvSpPr>
            <a:spLocks noChangeAspect="1"/>
          </p:cNvSpPr>
          <p:nvPr/>
        </p:nvSpPr>
        <p:spPr bwMode="auto">
          <a:xfrm>
            <a:off x="9165222" y="2853623"/>
            <a:ext cx="253584" cy="253198"/>
          </a:xfrm>
          <a:custGeom>
            <a:avLst/>
            <a:gdLst>
              <a:gd name="connsiteX0" fmla="*/ 387180 w 602346"/>
              <a:gd name="connsiteY0" fmla="*/ 343654 h 601429"/>
              <a:gd name="connsiteX1" fmla="*/ 559313 w 602346"/>
              <a:gd name="connsiteY1" fmla="*/ 343654 h 601429"/>
              <a:gd name="connsiteX2" fmla="*/ 602346 w 602346"/>
              <a:gd name="connsiteY2" fmla="*/ 386617 h 601429"/>
              <a:gd name="connsiteX3" fmla="*/ 602346 w 602346"/>
              <a:gd name="connsiteY3" fmla="*/ 558467 h 601429"/>
              <a:gd name="connsiteX4" fmla="*/ 559313 w 602346"/>
              <a:gd name="connsiteY4" fmla="*/ 601429 h 601429"/>
              <a:gd name="connsiteX5" fmla="*/ 387180 w 602346"/>
              <a:gd name="connsiteY5" fmla="*/ 601429 h 601429"/>
              <a:gd name="connsiteX6" fmla="*/ 344147 w 602346"/>
              <a:gd name="connsiteY6" fmla="*/ 558467 h 601429"/>
              <a:gd name="connsiteX7" fmla="*/ 344147 w 602346"/>
              <a:gd name="connsiteY7" fmla="*/ 386617 h 601429"/>
              <a:gd name="connsiteX8" fmla="*/ 387180 w 602346"/>
              <a:gd name="connsiteY8" fmla="*/ 343654 h 601429"/>
              <a:gd name="connsiteX9" fmla="*/ 43021 w 602346"/>
              <a:gd name="connsiteY9" fmla="*/ 343654 h 601429"/>
              <a:gd name="connsiteX10" fmla="*/ 215107 w 602346"/>
              <a:gd name="connsiteY10" fmla="*/ 343654 h 601429"/>
              <a:gd name="connsiteX11" fmla="*/ 258128 w 602346"/>
              <a:gd name="connsiteY11" fmla="*/ 386617 h 601429"/>
              <a:gd name="connsiteX12" fmla="*/ 258128 w 602346"/>
              <a:gd name="connsiteY12" fmla="*/ 558467 h 601429"/>
              <a:gd name="connsiteX13" fmla="*/ 215107 w 602346"/>
              <a:gd name="connsiteY13" fmla="*/ 601429 h 601429"/>
              <a:gd name="connsiteX14" fmla="*/ 43021 w 602346"/>
              <a:gd name="connsiteY14" fmla="*/ 601429 h 601429"/>
              <a:gd name="connsiteX15" fmla="*/ 0 w 602346"/>
              <a:gd name="connsiteY15" fmla="*/ 558467 h 601429"/>
              <a:gd name="connsiteX16" fmla="*/ 0 w 602346"/>
              <a:gd name="connsiteY16" fmla="*/ 386617 h 601429"/>
              <a:gd name="connsiteX17" fmla="*/ 43021 w 602346"/>
              <a:gd name="connsiteY17" fmla="*/ 343654 h 601429"/>
              <a:gd name="connsiteX18" fmla="*/ 387180 w 602346"/>
              <a:gd name="connsiteY18" fmla="*/ 0 h 601429"/>
              <a:gd name="connsiteX19" fmla="*/ 559313 w 602346"/>
              <a:gd name="connsiteY19" fmla="*/ 0 h 601429"/>
              <a:gd name="connsiteX20" fmla="*/ 602346 w 602346"/>
              <a:gd name="connsiteY20" fmla="*/ 42963 h 601429"/>
              <a:gd name="connsiteX21" fmla="*/ 602346 w 602346"/>
              <a:gd name="connsiteY21" fmla="*/ 214813 h 601429"/>
              <a:gd name="connsiteX22" fmla="*/ 559313 w 602346"/>
              <a:gd name="connsiteY22" fmla="*/ 257775 h 601429"/>
              <a:gd name="connsiteX23" fmla="*/ 387180 w 602346"/>
              <a:gd name="connsiteY23" fmla="*/ 257775 h 601429"/>
              <a:gd name="connsiteX24" fmla="*/ 344147 w 602346"/>
              <a:gd name="connsiteY24" fmla="*/ 214813 h 601429"/>
              <a:gd name="connsiteX25" fmla="*/ 344147 w 602346"/>
              <a:gd name="connsiteY25" fmla="*/ 42963 h 601429"/>
              <a:gd name="connsiteX26" fmla="*/ 387180 w 602346"/>
              <a:gd name="connsiteY26" fmla="*/ 0 h 601429"/>
              <a:gd name="connsiteX27" fmla="*/ 43021 w 602346"/>
              <a:gd name="connsiteY27" fmla="*/ 0 h 601429"/>
              <a:gd name="connsiteX28" fmla="*/ 215107 w 602346"/>
              <a:gd name="connsiteY28" fmla="*/ 0 h 601429"/>
              <a:gd name="connsiteX29" fmla="*/ 258128 w 602346"/>
              <a:gd name="connsiteY29" fmla="*/ 42963 h 601429"/>
              <a:gd name="connsiteX30" fmla="*/ 258128 w 602346"/>
              <a:gd name="connsiteY30" fmla="*/ 214813 h 601429"/>
              <a:gd name="connsiteX31" fmla="*/ 215107 w 602346"/>
              <a:gd name="connsiteY31" fmla="*/ 257775 h 601429"/>
              <a:gd name="connsiteX32" fmla="*/ 43021 w 602346"/>
              <a:gd name="connsiteY32" fmla="*/ 257775 h 601429"/>
              <a:gd name="connsiteX33" fmla="*/ 0 w 602346"/>
              <a:gd name="connsiteY33" fmla="*/ 214813 h 601429"/>
              <a:gd name="connsiteX34" fmla="*/ 0 w 602346"/>
              <a:gd name="connsiteY34" fmla="*/ 42963 h 601429"/>
              <a:gd name="connsiteX35" fmla="*/ 43021 w 602346"/>
              <a:gd name="connsiteY35" fmla="*/ 0 h 60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02346" h="601429">
                <a:moveTo>
                  <a:pt x="387180" y="343654"/>
                </a:moveTo>
                <a:lnTo>
                  <a:pt x="559313" y="343654"/>
                </a:lnTo>
                <a:cubicBezTo>
                  <a:pt x="582981" y="343654"/>
                  <a:pt x="602346" y="362987"/>
                  <a:pt x="602346" y="386617"/>
                </a:cubicBezTo>
                <a:lnTo>
                  <a:pt x="602346" y="558467"/>
                </a:lnTo>
                <a:cubicBezTo>
                  <a:pt x="602346" y="582096"/>
                  <a:pt x="582981" y="601429"/>
                  <a:pt x="559313" y="601429"/>
                </a:cubicBezTo>
                <a:lnTo>
                  <a:pt x="387180" y="601429"/>
                </a:lnTo>
                <a:cubicBezTo>
                  <a:pt x="363512" y="601429"/>
                  <a:pt x="344147" y="582096"/>
                  <a:pt x="344147" y="558467"/>
                </a:cubicBezTo>
                <a:lnTo>
                  <a:pt x="344147" y="386617"/>
                </a:lnTo>
                <a:cubicBezTo>
                  <a:pt x="344147" y="362987"/>
                  <a:pt x="363512" y="343654"/>
                  <a:pt x="387180" y="343654"/>
                </a:cubicBezTo>
                <a:close/>
                <a:moveTo>
                  <a:pt x="43021" y="343654"/>
                </a:moveTo>
                <a:lnTo>
                  <a:pt x="215107" y="343654"/>
                </a:lnTo>
                <a:cubicBezTo>
                  <a:pt x="238768" y="343654"/>
                  <a:pt x="258128" y="362987"/>
                  <a:pt x="258128" y="386617"/>
                </a:cubicBezTo>
                <a:lnTo>
                  <a:pt x="258128" y="558467"/>
                </a:lnTo>
                <a:cubicBezTo>
                  <a:pt x="258128" y="582096"/>
                  <a:pt x="238768" y="601429"/>
                  <a:pt x="215107" y="601429"/>
                </a:cubicBezTo>
                <a:lnTo>
                  <a:pt x="43021" y="601429"/>
                </a:lnTo>
                <a:cubicBezTo>
                  <a:pt x="19360" y="601429"/>
                  <a:pt x="0" y="582096"/>
                  <a:pt x="0" y="558467"/>
                </a:cubicBezTo>
                <a:lnTo>
                  <a:pt x="0" y="386617"/>
                </a:lnTo>
                <a:cubicBezTo>
                  <a:pt x="0" y="362987"/>
                  <a:pt x="19360" y="343654"/>
                  <a:pt x="43021" y="343654"/>
                </a:cubicBezTo>
                <a:close/>
                <a:moveTo>
                  <a:pt x="387180" y="0"/>
                </a:moveTo>
                <a:lnTo>
                  <a:pt x="559313" y="0"/>
                </a:lnTo>
                <a:cubicBezTo>
                  <a:pt x="582981" y="0"/>
                  <a:pt x="602346" y="19333"/>
                  <a:pt x="602346" y="42963"/>
                </a:cubicBezTo>
                <a:lnTo>
                  <a:pt x="602346" y="214813"/>
                </a:lnTo>
                <a:cubicBezTo>
                  <a:pt x="602346" y="238442"/>
                  <a:pt x="582981" y="257775"/>
                  <a:pt x="559313" y="257775"/>
                </a:cubicBezTo>
                <a:lnTo>
                  <a:pt x="387180" y="257775"/>
                </a:lnTo>
                <a:cubicBezTo>
                  <a:pt x="363512" y="257775"/>
                  <a:pt x="344147" y="238442"/>
                  <a:pt x="344147" y="214813"/>
                </a:cubicBezTo>
                <a:lnTo>
                  <a:pt x="344147" y="42963"/>
                </a:lnTo>
                <a:cubicBezTo>
                  <a:pt x="344147" y="19333"/>
                  <a:pt x="363512" y="0"/>
                  <a:pt x="387180" y="0"/>
                </a:cubicBezTo>
                <a:close/>
                <a:moveTo>
                  <a:pt x="43021" y="0"/>
                </a:moveTo>
                <a:lnTo>
                  <a:pt x="215107" y="0"/>
                </a:lnTo>
                <a:cubicBezTo>
                  <a:pt x="238768" y="0"/>
                  <a:pt x="258128" y="19333"/>
                  <a:pt x="258128" y="42963"/>
                </a:cubicBezTo>
                <a:lnTo>
                  <a:pt x="258128" y="214813"/>
                </a:lnTo>
                <a:cubicBezTo>
                  <a:pt x="258128" y="238442"/>
                  <a:pt x="238768" y="257775"/>
                  <a:pt x="215107" y="257775"/>
                </a:cubicBezTo>
                <a:lnTo>
                  <a:pt x="43021" y="257775"/>
                </a:lnTo>
                <a:cubicBezTo>
                  <a:pt x="19360" y="257775"/>
                  <a:pt x="0" y="238442"/>
                  <a:pt x="0" y="214813"/>
                </a:cubicBezTo>
                <a:lnTo>
                  <a:pt x="0" y="42963"/>
                </a:lnTo>
                <a:cubicBezTo>
                  <a:pt x="0" y="19333"/>
                  <a:pt x="19360" y="0"/>
                  <a:pt x="430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086927" y="3862059"/>
                <a:ext cx="3638367" cy="5660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i="0" smtClean="0">
                          <a:latin typeface="Cambria Math" panose="02040503050406030204" charset="0"/>
                        </a:rPr>
                        <m:t>Cosine</m:t>
                      </m:r>
                      <m:r>
                        <m:rPr>
                          <m:nor/>
                        </m:rPr>
                        <a:rPr lang="en-US" altLang="zh-CN" i="0" smtClean="0">
                          <a:latin typeface="Cambria Math" panose="0204050305040603020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i="0" smtClean="0">
                          <a:latin typeface="Cambria Math" panose="02040503050406030204" charset="0"/>
                        </a:rPr>
                        <m:t>Similarity</m:t>
                      </m:r>
                      <m:r>
                        <a:rPr lang="en-US" altLang="zh-CN" i="1" smtClean="0">
                          <a:latin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 smtClean="0">
                              <a:latin typeface="Cambria Math" panose="02040503050406030204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smtClean="0">
                                  <a:latin typeface="Cambria Math" panose="02040503050406030204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zh-CN" i="1" smtClean="0">
                          <a:latin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smtClean="0">
                              <a:latin typeface="Cambria Math" panose="02040503050406030204" charset="0"/>
                            </a:rPr>
                            <m:t>𝐀</m:t>
                          </m:r>
                          <m:r>
                            <a:rPr lang="en-US" altLang="zh-CN" i="1" smtClean="0">
                              <a:latin typeface="Cambria Math" panose="02040503050406030204" charset="0"/>
                            </a:rPr>
                            <m:t>⋅</m:t>
                          </m:r>
                          <m:r>
                            <a:rPr lang="en-US" altLang="zh-CN" i="1" smtClean="0">
                              <a:latin typeface="Cambria Math" panose="02040503050406030204" charset="0"/>
                            </a:rPr>
                            <m:t>𝐁</m:t>
                          </m:r>
                        </m:num>
                        <m:den>
                          <m:r>
                            <m:rPr>
                              <m:lit/>
                            </m:rPr>
                            <a:rPr lang="en-US" altLang="zh-CN" i="1" smtClean="0">
                              <a:latin typeface="Cambria Math" panose="02040503050406030204" charset="0"/>
                            </a:rPr>
                            <m:t>|</m:t>
                          </m:r>
                          <m:r>
                            <a:rPr lang="en-US" altLang="zh-CN" i="1" smtClean="0">
                              <a:latin typeface="Cambria Math" panose="02040503050406030204" charset="0"/>
                            </a:rPr>
                            <m:t>𝐀</m:t>
                          </m:r>
                          <m:r>
                            <m:rPr>
                              <m:lit/>
                            </m:rPr>
                            <a:rPr lang="en-US" altLang="zh-CN" i="1" smtClean="0">
                              <a:latin typeface="Cambria Math" panose="02040503050406030204" charset="0"/>
                            </a:rPr>
                            <m:t>|</m:t>
                          </m:r>
                          <m:r>
                            <a:rPr lang="en-US" altLang="zh-CN" i="1" smtClean="0">
                              <a:latin typeface="Cambria Math" panose="02040503050406030204" charset="0"/>
                            </a:rPr>
                            <m:t> </m:t>
                          </m:r>
                          <m:r>
                            <m:rPr>
                              <m:lit/>
                            </m:rPr>
                            <a:rPr lang="en-US" altLang="zh-CN" i="1" smtClean="0">
                              <a:latin typeface="Cambria Math" panose="02040503050406030204" charset="0"/>
                            </a:rPr>
                            <m:t>|</m:t>
                          </m:r>
                          <m:r>
                            <a:rPr lang="en-US" altLang="zh-CN" i="1" smtClean="0">
                              <a:latin typeface="Cambria Math" panose="02040503050406030204" charset="0"/>
                            </a:rPr>
                            <m:t>𝐁</m:t>
                          </m:r>
                          <m:r>
                            <m:rPr>
                              <m:lit/>
                            </m:rPr>
                            <a:rPr lang="en-US" altLang="zh-CN" i="1" smtClean="0">
                              <a:latin typeface="Cambria Math" panose="02040503050406030204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927" y="3862059"/>
                <a:ext cx="3638367" cy="566052"/>
              </a:xfrm>
              <a:prstGeom prst="rect">
                <a:avLst/>
              </a:prstGeom>
              <a:blipFill rotWithShape="1">
                <a:blip r:embed="rId3"/>
                <a:stretch>
                  <a:fillRect l="-12" t="-110" r="-1703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864473" y="1124875"/>
          <a:ext cx="81280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User\Item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1040920" y="3235901"/>
            <a:ext cx="9920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Indicating how closely their interests align </a:t>
            </a:r>
            <a:r>
              <a:rPr lang="en-US" altLang="zh-CN" b="1" dirty="0"/>
              <a:t>regardless of the absolute rating values</a:t>
            </a:r>
            <a:r>
              <a:rPr lang="en-US" altLang="zh-CN" dirty="0"/>
              <a:t>.</a:t>
            </a:r>
            <a:endParaRPr lang="zh-CN" altLang="en-US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920" y="4521926"/>
            <a:ext cx="3638367" cy="1588082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1798" y="3629193"/>
            <a:ext cx="5282388" cy="1696956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Method3:</a:t>
            </a:r>
            <a:r>
              <a:rPr lang="zh-CN" altLang="zh-CN" dirty="0">
                <a:latin typeface="Arial" panose="020B0604020202020204" pitchFamily="34" charset="0"/>
              </a:rPr>
              <a:t> Pearson correlation coefficient</a:t>
            </a:r>
            <a:r>
              <a:rPr lang="zh-CN" altLang="zh-CN" b="0" dirty="0">
                <a:latin typeface="Arial" panose="020B0604020202020204" pitchFamily="34" charset="0"/>
              </a:rPr>
              <a:t> </a:t>
            </a:r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598409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451894" y="5446703"/>
            <a:ext cx="4922808" cy="13266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533575" y="4979976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0120610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0" name="volume-bars_84227"/>
          <p:cNvSpPr>
            <a:spLocks noChangeAspect="1"/>
          </p:cNvSpPr>
          <p:nvPr/>
        </p:nvSpPr>
        <p:spPr bwMode="auto">
          <a:xfrm>
            <a:off x="5952728" y="2859384"/>
            <a:ext cx="304842" cy="239382"/>
          </a:xfrm>
          <a:custGeom>
            <a:avLst/>
            <a:gdLst>
              <a:gd name="connsiteX0" fmla="*/ 187043 w 606298"/>
              <a:gd name="connsiteY0" fmla="*/ 364682 h 476105"/>
              <a:gd name="connsiteX1" fmla="*/ 307528 w 606298"/>
              <a:gd name="connsiteY1" fmla="*/ 364682 h 476105"/>
              <a:gd name="connsiteX2" fmla="*/ 325320 w 606298"/>
              <a:gd name="connsiteY2" fmla="*/ 382440 h 476105"/>
              <a:gd name="connsiteX3" fmla="*/ 325320 w 606298"/>
              <a:gd name="connsiteY3" fmla="*/ 389984 h 476105"/>
              <a:gd name="connsiteX4" fmla="*/ 575785 w 606298"/>
              <a:gd name="connsiteY4" fmla="*/ 389984 h 476105"/>
              <a:gd name="connsiteX5" fmla="*/ 606298 w 606298"/>
              <a:gd name="connsiteY5" fmla="*/ 420440 h 476105"/>
              <a:gd name="connsiteX6" fmla="*/ 575785 w 606298"/>
              <a:gd name="connsiteY6" fmla="*/ 450803 h 476105"/>
              <a:gd name="connsiteX7" fmla="*/ 325320 w 606298"/>
              <a:gd name="connsiteY7" fmla="*/ 450803 h 476105"/>
              <a:gd name="connsiteX8" fmla="*/ 325320 w 606298"/>
              <a:gd name="connsiteY8" fmla="*/ 458347 h 476105"/>
              <a:gd name="connsiteX9" fmla="*/ 307528 w 606298"/>
              <a:gd name="connsiteY9" fmla="*/ 476105 h 476105"/>
              <a:gd name="connsiteX10" fmla="*/ 187043 w 606298"/>
              <a:gd name="connsiteY10" fmla="*/ 476105 h 476105"/>
              <a:gd name="connsiteX11" fmla="*/ 169343 w 606298"/>
              <a:gd name="connsiteY11" fmla="*/ 458347 h 476105"/>
              <a:gd name="connsiteX12" fmla="*/ 169343 w 606298"/>
              <a:gd name="connsiteY12" fmla="*/ 450803 h 476105"/>
              <a:gd name="connsiteX13" fmla="*/ 30421 w 606298"/>
              <a:gd name="connsiteY13" fmla="*/ 450803 h 476105"/>
              <a:gd name="connsiteX14" fmla="*/ 0 w 606298"/>
              <a:gd name="connsiteY14" fmla="*/ 420440 h 476105"/>
              <a:gd name="connsiteX15" fmla="*/ 30421 w 606298"/>
              <a:gd name="connsiteY15" fmla="*/ 389984 h 476105"/>
              <a:gd name="connsiteX16" fmla="*/ 169343 w 606298"/>
              <a:gd name="connsiteY16" fmla="*/ 389984 h 476105"/>
              <a:gd name="connsiteX17" fmla="*/ 169343 w 606298"/>
              <a:gd name="connsiteY17" fmla="*/ 382440 h 476105"/>
              <a:gd name="connsiteX18" fmla="*/ 187043 w 606298"/>
              <a:gd name="connsiteY18" fmla="*/ 364682 h 476105"/>
              <a:gd name="connsiteX19" fmla="*/ 322185 w 606298"/>
              <a:gd name="connsiteY19" fmla="*/ 182341 h 476105"/>
              <a:gd name="connsiteX20" fmla="*/ 442671 w 606298"/>
              <a:gd name="connsiteY20" fmla="*/ 182341 h 476105"/>
              <a:gd name="connsiteX21" fmla="*/ 460370 w 606298"/>
              <a:gd name="connsiteY21" fmla="*/ 200099 h 476105"/>
              <a:gd name="connsiteX22" fmla="*/ 460370 w 606298"/>
              <a:gd name="connsiteY22" fmla="*/ 207643 h 476105"/>
              <a:gd name="connsiteX23" fmla="*/ 575785 w 606298"/>
              <a:gd name="connsiteY23" fmla="*/ 207643 h 476105"/>
              <a:gd name="connsiteX24" fmla="*/ 606298 w 606298"/>
              <a:gd name="connsiteY24" fmla="*/ 238006 h 476105"/>
              <a:gd name="connsiteX25" fmla="*/ 575785 w 606298"/>
              <a:gd name="connsiteY25" fmla="*/ 268369 h 476105"/>
              <a:gd name="connsiteX26" fmla="*/ 460370 w 606298"/>
              <a:gd name="connsiteY26" fmla="*/ 268369 h 476105"/>
              <a:gd name="connsiteX27" fmla="*/ 460370 w 606298"/>
              <a:gd name="connsiteY27" fmla="*/ 276006 h 476105"/>
              <a:gd name="connsiteX28" fmla="*/ 442671 w 606298"/>
              <a:gd name="connsiteY28" fmla="*/ 293764 h 476105"/>
              <a:gd name="connsiteX29" fmla="*/ 322185 w 606298"/>
              <a:gd name="connsiteY29" fmla="*/ 293764 h 476105"/>
              <a:gd name="connsiteX30" fmla="*/ 304394 w 606298"/>
              <a:gd name="connsiteY30" fmla="*/ 276006 h 476105"/>
              <a:gd name="connsiteX31" fmla="*/ 304394 w 606298"/>
              <a:gd name="connsiteY31" fmla="*/ 268369 h 476105"/>
              <a:gd name="connsiteX32" fmla="*/ 30421 w 606298"/>
              <a:gd name="connsiteY32" fmla="*/ 268369 h 476105"/>
              <a:gd name="connsiteX33" fmla="*/ 0 w 606298"/>
              <a:gd name="connsiteY33" fmla="*/ 238006 h 476105"/>
              <a:gd name="connsiteX34" fmla="*/ 30421 w 606298"/>
              <a:gd name="connsiteY34" fmla="*/ 207643 h 476105"/>
              <a:gd name="connsiteX35" fmla="*/ 304394 w 606298"/>
              <a:gd name="connsiteY35" fmla="*/ 207643 h 476105"/>
              <a:gd name="connsiteX36" fmla="*/ 304394 w 606298"/>
              <a:gd name="connsiteY36" fmla="*/ 200099 h 476105"/>
              <a:gd name="connsiteX37" fmla="*/ 322185 w 606298"/>
              <a:gd name="connsiteY37" fmla="*/ 182341 h 476105"/>
              <a:gd name="connsiteX38" fmla="*/ 109055 w 606298"/>
              <a:gd name="connsiteY38" fmla="*/ 0 h 476105"/>
              <a:gd name="connsiteX39" fmla="*/ 229540 w 606298"/>
              <a:gd name="connsiteY39" fmla="*/ 0 h 476105"/>
              <a:gd name="connsiteX40" fmla="*/ 247331 w 606298"/>
              <a:gd name="connsiteY40" fmla="*/ 17669 h 476105"/>
              <a:gd name="connsiteX41" fmla="*/ 247331 w 606298"/>
              <a:gd name="connsiteY41" fmla="*/ 25307 h 476105"/>
              <a:gd name="connsiteX42" fmla="*/ 575785 w 606298"/>
              <a:gd name="connsiteY42" fmla="*/ 25307 h 476105"/>
              <a:gd name="connsiteX43" fmla="*/ 606298 w 606298"/>
              <a:gd name="connsiteY43" fmla="*/ 55676 h 476105"/>
              <a:gd name="connsiteX44" fmla="*/ 575785 w 606298"/>
              <a:gd name="connsiteY44" fmla="*/ 86045 h 476105"/>
              <a:gd name="connsiteX45" fmla="*/ 247331 w 606298"/>
              <a:gd name="connsiteY45" fmla="*/ 86045 h 476105"/>
              <a:gd name="connsiteX46" fmla="*/ 247331 w 606298"/>
              <a:gd name="connsiteY46" fmla="*/ 93683 h 476105"/>
              <a:gd name="connsiteX47" fmla="*/ 229540 w 606298"/>
              <a:gd name="connsiteY47" fmla="*/ 111352 h 476105"/>
              <a:gd name="connsiteX48" fmla="*/ 109055 w 606298"/>
              <a:gd name="connsiteY48" fmla="*/ 111352 h 476105"/>
              <a:gd name="connsiteX49" fmla="*/ 91355 w 606298"/>
              <a:gd name="connsiteY49" fmla="*/ 93683 h 476105"/>
              <a:gd name="connsiteX50" fmla="*/ 91355 w 606298"/>
              <a:gd name="connsiteY50" fmla="*/ 86045 h 476105"/>
              <a:gd name="connsiteX51" fmla="*/ 30421 w 606298"/>
              <a:gd name="connsiteY51" fmla="*/ 86045 h 476105"/>
              <a:gd name="connsiteX52" fmla="*/ 0 w 606298"/>
              <a:gd name="connsiteY52" fmla="*/ 55676 h 476105"/>
              <a:gd name="connsiteX53" fmla="*/ 30421 w 606298"/>
              <a:gd name="connsiteY53" fmla="*/ 25307 h 476105"/>
              <a:gd name="connsiteX54" fmla="*/ 91355 w 606298"/>
              <a:gd name="connsiteY54" fmla="*/ 25307 h 476105"/>
              <a:gd name="connsiteX55" fmla="*/ 91355 w 606298"/>
              <a:gd name="connsiteY55" fmla="*/ 17669 h 476105"/>
              <a:gd name="connsiteX56" fmla="*/ 109055 w 606298"/>
              <a:gd name="connsiteY56" fmla="*/ 0 h 476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606298" h="476105">
                <a:moveTo>
                  <a:pt x="187043" y="364682"/>
                </a:moveTo>
                <a:lnTo>
                  <a:pt x="307528" y="364682"/>
                </a:lnTo>
                <a:cubicBezTo>
                  <a:pt x="317392" y="364682"/>
                  <a:pt x="325320" y="372595"/>
                  <a:pt x="325320" y="382440"/>
                </a:cubicBezTo>
                <a:lnTo>
                  <a:pt x="325320" y="389984"/>
                </a:lnTo>
                <a:lnTo>
                  <a:pt x="575785" y="389984"/>
                </a:lnTo>
                <a:cubicBezTo>
                  <a:pt x="592655" y="389984"/>
                  <a:pt x="606298" y="403602"/>
                  <a:pt x="606298" y="420440"/>
                </a:cubicBezTo>
                <a:cubicBezTo>
                  <a:pt x="606298" y="437185"/>
                  <a:pt x="592655" y="450803"/>
                  <a:pt x="575785" y="450803"/>
                </a:cubicBezTo>
                <a:lnTo>
                  <a:pt x="325320" y="450803"/>
                </a:lnTo>
                <a:lnTo>
                  <a:pt x="325320" y="458347"/>
                </a:lnTo>
                <a:cubicBezTo>
                  <a:pt x="325320" y="468192"/>
                  <a:pt x="317392" y="476105"/>
                  <a:pt x="307528" y="476105"/>
                </a:cubicBezTo>
                <a:lnTo>
                  <a:pt x="187043" y="476105"/>
                </a:lnTo>
                <a:cubicBezTo>
                  <a:pt x="177271" y="476105"/>
                  <a:pt x="169343" y="468192"/>
                  <a:pt x="169343" y="458347"/>
                </a:cubicBezTo>
                <a:lnTo>
                  <a:pt x="169343" y="450803"/>
                </a:lnTo>
                <a:lnTo>
                  <a:pt x="30421" y="450803"/>
                </a:lnTo>
                <a:cubicBezTo>
                  <a:pt x="13644" y="450803"/>
                  <a:pt x="0" y="437185"/>
                  <a:pt x="0" y="420440"/>
                </a:cubicBezTo>
                <a:cubicBezTo>
                  <a:pt x="0" y="403602"/>
                  <a:pt x="13644" y="389984"/>
                  <a:pt x="30421" y="389984"/>
                </a:cubicBezTo>
                <a:lnTo>
                  <a:pt x="169343" y="389984"/>
                </a:lnTo>
                <a:lnTo>
                  <a:pt x="169343" y="382440"/>
                </a:lnTo>
                <a:cubicBezTo>
                  <a:pt x="169343" y="372595"/>
                  <a:pt x="177271" y="364682"/>
                  <a:pt x="187043" y="364682"/>
                </a:cubicBezTo>
                <a:close/>
                <a:moveTo>
                  <a:pt x="322185" y="182341"/>
                </a:moveTo>
                <a:lnTo>
                  <a:pt x="442671" y="182341"/>
                </a:lnTo>
                <a:cubicBezTo>
                  <a:pt x="452442" y="182341"/>
                  <a:pt x="460370" y="190254"/>
                  <a:pt x="460370" y="200099"/>
                </a:cubicBezTo>
                <a:lnTo>
                  <a:pt x="460370" y="207643"/>
                </a:lnTo>
                <a:lnTo>
                  <a:pt x="575785" y="207643"/>
                </a:lnTo>
                <a:cubicBezTo>
                  <a:pt x="592655" y="207643"/>
                  <a:pt x="606298" y="221261"/>
                  <a:pt x="606298" y="238006"/>
                </a:cubicBezTo>
                <a:cubicBezTo>
                  <a:pt x="606298" y="254844"/>
                  <a:pt x="592655" y="268369"/>
                  <a:pt x="575785" y="268369"/>
                </a:cubicBezTo>
                <a:lnTo>
                  <a:pt x="460370" y="268369"/>
                </a:lnTo>
                <a:lnTo>
                  <a:pt x="460370" y="276006"/>
                </a:lnTo>
                <a:cubicBezTo>
                  <a:pt x="460370" y="285759"/>
                  <a:pt x="452442" y="293764"/>
                  <a:pt x="442671" y="293764"/>
                </a:cubicBezTo>
                <a:lnTo>
                  <a:pt x="322185" y="293764"/>
                </a:lnTo>
                <a:cubicBezTo>
                  <a:pt x="312322" y="293764"/>
                  <a:pt x="304394" y="285759"/>
                  <a:pt x="304394" y="276006"/>
                </a:cubicBezTo>
                <a:lnTo>
                  <a:pt x="304394" y="268369"/>
                </a:lnTo>
                <a:lnTo>
                  <a:pt x="30421" y="268369"/>
                </a:lnTo>
                <a:cubicBezTo>
                  <a:pt x="13644" y="268369"/>
                  <a:pt x="0" y="254844"/>
                  <a:pt x="0" y="238006"/>
                </a:cubicBezTo>
                <a:cubicBezTo>
                  <a:pt x="0" y="221261"/>
                  <a:pt x="13644" y="207643"/>
                  <a:pt x="30421" y="207643"/>
                </a:cubicBezTo>
                <a:lnTo>
                  <a:pt x="304394" y="207643"/>
                </a:lnTo>
                <a:lnTo>
                  <a:pt x="304394" y="200099"/>
                </a:lnTo>
                <a:cubicBezTo>
                  <a:pt x="304394" y="190254"/>
                  <a:pt x="312322" y="182341"/>
                  <a:pt x="322185" y="182341"/>
                </a:cubicBezTo>
                <a:close/>
                <a:moveTo>
                  <a:pt x="109055" y="0"/>
                </a:moveTo>
                <a:lnTo>
                  <a:pt x="229540" y="0"/>
                </a:lnTo>
                <a:cubicBezTo>
                  <a:pt x="239404" y="0"/>
                  <a:pt x="247331" y="7914"/>
                  <a:pt x="247331" y="17669"/>
                </a:cubicBezTo>
                <a:lnTo>
                  <a:pt x="247331" y="25307"/>
                </a:lnTo>
                <a:lnTo>
                  <a:pt x="575785" y="25307"/>
                </a:lnTo>
                <a:cubicBezTo>
                  <a:pt x="592655" y="25307"/>
                  <a:pt x="606298" y="38927"/>
                  <a:pt x="606298" y="55676"/>
                </a:cubicBezTo>
                <a:cubicBezTo>
                  <a:pt x="606298" y="72425"/>
                  <a:pt x="592655" y="86045"/>
                  <a:pt x="575785" y="86045"/>
                </a:cubicBezTo>
                <a:lnTo>
                  <a:pt x="247331" y="86045"/>
                </a:lnTo>
                <a:lnTo>
                  <a:pt x="247331" y="93683"/>
                </a:lnTo>
                <a:cubicBezTo>
                  <a:pt x="247331" y="103438"/>
                  <a:pt x="239404" y="111352"/>
                  <a:pt x="229540" y="111352"/>
                </a:cubicBezTo>
                <a:lnTo>
                  <a:pt x="109055" y="111352"/>
                </a:lnTo>
                <a:cubicBezTo>
                  <a:pt x="99283" y="111352"/>
                  <a:pt x="91355" y="103438"/>
                  <a:pt x="91355" y="93683"/>
                </a:cubicBezTo>
                <a:lnTo>
                  <a:pt x="91355" y="86045"/>
                </a:lnTo>
                <a:lnTo>
                  <a:pt x="30421" y="86045"/>
                </a:lnTo>
                <a:cubicBezTo>
                  <a:pt x="13644" y="86045"/>
                  <a:pt x="0" y="72425"/>
                  <a:pt x="0" y="55676"/>
                </a:cubicBezTo>
                <a:cubicBezTo>
                  <a:pt x="0" y="38927"/>
                  <a:pt x="13644" y="25307"/>
                  <a:pt x="30421" y="25307"/>
                </a:cubicBezTo>
                <a:lnTo>
                  <a:pt x="91355" y="25307"/>
                </a:lnTo>
                <a:lnTo>
                  <a:pt x="91355" y="17669"/>
                </a:lnTo>
                <a:cubicBezTo>
                  <a:pt x="91355" y="7914"/>
                  <a:pt x="99283" y="0"/>
                  <a:pt x="1090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71" name="menu_159761"/>
          <p:cNvSpPr>
            <a:spLocks noChangeAspect="1"/>
          </p:cNvSpPr>
          <p:nvPr/>
        </p:nvSpPr>
        <p:spPr bwMode="auto">
          <a:xfrm>
            <a:off x="9165222" y="2853623"/>
            <a:ext cx="253584" cy="253198"/>
          </a:xfrm>
          <a:custGeom>
            <a:avLst/>
            <a:gdLst>
              <a:gd name="connsiteX0" fmla="*/ 387180 w 602346"/>
              <a:gd name="connsiteY0" fmla="*/ 343654 h 601429"/>
              <a:gd name="connsiteX1" fmla="*/ 559313 w 602346"/>
              <a:gd name="connsiteY1" fmla="*/ 343654 h 601429"/>
              <a:gd name="connsiteX2" fmla="*/ 602346 w 602346"/>
              <a:gd name="connsiteY2" fmla="*/ 386617 h 601429"/>
              <a:gd name="connsiteX3" fmla="*/ 602346 w 602346"/>
              <a:gd name="connsiteY3" fmla="*/ 558467 h 601429"/>
              <a:gd name="connsiteX4" fmla="*/ 559313 w 602346"/>
              <a:gd name="connsiteY4" fmla="*/ 601429 h 601429"/>
              <a:gd name="connsiteX5" fmla="*/ 387180 w 602346"/>
              <a:gd name="connsiteY5" fmla="*/ 601429 h 601429"/>
              <a:gd name="connsiteX6" fmla="*/ 344147 w 602346"/>
              <a:gd name="connsiteY6" fmla="*/ 558467 h 601429"/>
              <a:gd name="connsiteX7" fmla="*/ 344147 w 602346"/>
              <a:gd name="connsiteY7" fmla="*/ 386617 h 601429"/>
              <a:gd name="connsiteX8" fmla="*/ 387180 w 602346"/>
              <a:gd name="connsiteY8" fmla="*/ 343654 h 601429"/>
              <a:gd name="connsiteX9" fmla="*/ 43021 w 602346"/>
              <a:gd name="connsiteY9" fmla="*/ 343654 h 601429"/>
              <a:gd name="connsiteX10" fmla="*/ 215107 w 602346"/>
              <a:gd name="connsiteY10" fmla="*/ 343654 h 601429"/>
              <a:gd name="connsiteX11" fmla="*/ 258128 w 602346"/>
              <a:gd name="connsiteY11" fmla="*/ 386617 h 601429"/>
              <a:gd name="connsiteX12" fmla="*/ 258128 w 602346"/>
              <a:gd name="connsiteY12" fmla="*/ 558467 h 601429"/>
              <a:gd name="connsiteX13" fmla="*/ 215107 w 602346"/>
              <a:gd name="connsiteY13" fmla="*/ 601429 h 601429"/>
              <a:gd name="connsiteX14" fmla="*/ 43021 w 602346"/>
              <a:gd name="connsiteY14" fmla="*/ 601429 h 601429"/>
              <a:gd name="connsiteX15" fmla="*/ 0 w 602346"/>
              <a:gd name="connsiteY15" fmla="*/ 558467 h 601429"/>
              <a:gd name="connsiteX16" fmla="*/ 0 w 602346"/>
              <a:gd name="connsiteY16" fmla="*/ 386617 h 601429"/>
              <a:gd name="connsiteX17" fmla="*/ 43021 w 602346"/>
              <a:gd name="connsiteY17" fmla="*/ 343654 h 601429"/>
              <a:gd name="connsiteX18" fmla="*/ 387180 w 602346"/>
              <a:gd name="connsiteY18" fmla="*/ 0 h 601429"/>
              <a:gd name="connsiteX19" fmla="*/ 559313 w 602346"/>
              <a:gd name="connsiteY19" fmla="*/ 0 h 601429"/>
              <a:gd name="connsiteX20" fmla="*/ 602346 w 602346"/>
              <a:gd name="connsiteY20" fmla="*/ 42963 h 601429"/>
              <a:gd name="connsiteX21" fmla="*/ 602346 w 602346"/>
              <a:gd name="connsiteY21" fmla="*/ 214813 h 601429"/>
              <a:gd name="connsiteX22" fmla="*/ 559313 w 602346"/>
              <a:gd name="connsiteY22" fmla="*/ 257775 h 601429"/>
              <a:gd name="connsiteX23" fmla="*/ 387180 w 602346"/>
              <a:gd name="connsiteY23" fmla="*/ 257775 h 601429"/>
              <a:gd name="connsiteX24" fmla="*/ 344147 w 602346"/>
              <a:gd name="connsiteY24" fmla="*/ 214813 h 601429"/>
              <a:gd name="connsiteX25" fmla="*/ 344147 w 602346"/>
              <a:gd name="connsiteY25" fmla="*/ 42963 h 601429"/>
              <a:gd name="connsiteX26" fmla="*/ 387180 w 602346"/>
              <a:gd name="connsiteY26" fmla="*/ 0 h 601429"/>
              <a:gd name="connsiteX27" fmla="*/ 43021 w 602346"/>
              <a:gd name="connsiteY27" fmla="*/ 0 h 601429"/>
              <a:gd name="connsiteX28" fmla="*/ 215107 w 602346"/>
              <a:gd name="connsiteY28" fmla="*/ 0 h 601429"/>
              <a:gd name="connsiteX29" fmla="*/ 258128 w 602346"/>
              <a:gd name="connsiteY29" fmla="*/ 42963 h 601429"/>
              <a:gd name="connsiteX30" fmla="*/ 258128 w 602346"/>
              <a:gd name="connsiteY30" fmla="*/ 214813 h 601429"/>
              <a:gd name="connsiteX31" fmla="*/ 215107 w 602346"/>
              <a:gd name="connsiteY31" fmla="*/ 257775 h 601429"/>
              <a:gd name="connsiteX32" fmla="*/ 43021 w 602346"/>
              <a:gd name="connsiteY32" fmla="*/ 257775 h 601429"/>
              <a:gd name="connsiteX33" fmla="*/ 0 w 602346"/>
              <a:gd name="connsiteY33" fmla="*/ 214813 h 601429"/>
              <a:gd name="connsiteX34" fmla="*/ 0 w 602346"/>
              <a:gd name="connsiteY34" fmla="*/ 42963 h 601429"/>
              <a:gd name="connsiteX35" fmla="*/ 43021 w 602346"/>
              <a:gd name="connsiteY35" fmla="*/ 0 h 60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02346" h="601429">
                <a:moveTo>
                  <a:pt x="387180" y="343654"/>
                </a:moveTo>
                <a:lnTo>
                  <a:pt x="559313" y="343654"/>
                </a:lnTo>
                <a:cubicBezTo>
                  <a:pt x="582981" y="343654"/>
                  <a:pt x="602346" y="362987"/>
                  <a:pt x="602346" y="386617"/>
                </a:cubicBezTo>
                <a:lnTo>
                  <a:pt x="602346" y="558467"/>
                </a:lnTo>
                <a:cubicBezTo>
                  <a:pt x="602346" y="582096"/>
                  <a:pt x="582981" y="601429"/>
                  <a:pt x="559313" y="601429"/>
                </a:cubicBezTo>
                <a:lnTo>
                  <a:pt x="387180" y="601429"/>
                </a:lnTo>
                <a:cubicBezTo>
                  <a:pt x="363512" y="601429"/>
                  <a:pt x="344147" y="582096"/>
                  <a:pt x="344147" y="558467"/>
                </a:cubicBezTo>
                <a:lnTo>
                  <a:pt x="344147" y="386617"/>
                </a:lnTo>
                <a:cubicBezTo>
                  <a:pt x="344147" y="362987"/>
                  <a:pt x="363512" y="343654"/>
                  <a:pt x="387180" y="343654"/>
                </a:cubicBezTo>
                <a:close/>
                <a:moveTo>
                  <a:pt x="43021" y="343654"/>
                </a:moveTo>
                <a:lnTo>
                  <a:pt x="215107" y="343654"/>
                </a:lnTo>
                <a:cubicBezTo>
                  <a:pt x="238768" y="343654"/>
                  <a:pt x="258128" y="362987"/>
                  <a:pt x="258128" y="386617"/>
                </a:cubicBezTo>
                <a:lnTo>
                  <a:pt x="258128" y="558467"/>
                </a:lnTo>
                <a:cubicBezTo>
                  <a:pt x="258128" y="582096"/>
                  <a:pt x="238768" y="601429"/>
                  <a:pt x="215107" y="601429"/>
                </a:cubicBezTo>
                <a:lnTo>
                  <a:pt x="43021" y="601429"/>
                </a:lnTo>
                <a:cubicBezTo>
                  <a:pt x="19360" y="601429"/>
                  <a:pt x="0" y="582096"/>
                  <a:pt x="0" y="558467"/>
                </a:cubicBezTo>
                <a:lnTo>
                  <a:pt x="0" y="386617"/>
                </a:lnTo>
                <a:cubicBezTo>
                  <a:pt x="0" y="362987"/>
                  <a:pt x="19360" y="343654"/>
                  <a:pt x="43021" y="343654"/>
                </a:cubicBezTo>
                <a:close/>
                <a:moveTo>
                  <a:pt x="387180" y="0"/>
                </a:moveTo>
                <a:lnTo>
                  <a:pt x="559313" y="0"/>
                </a:lnTo>
                <a:cubicBezTo>
                  <a:pt x="582981" y="0"/>
                  <a:pt x="602346" y="19333"/>
                  <a:pt x="602346" y="42963"/>
                </a:cubicBezTo>
                <a:lnTo>
                  <a:pt x="602346" y="214813"/>
                </a:lnTo>
                <a:cubicBezTo>
                  <a:pt x="602346" y="238442"/>
                  <a:pt x="582981" y="257775"/>
                  <a:pt x="559313" y="257775"/>
                </a:cubicBezTo>
                <a:lnTo>
                  <a:pt x="387180" y="257775"/>
                </a:lnTo>
                <a:cubicBezTo>
                  <a:pt x="363512" y="257775"/>
                  <a:pt x="344147" y="238442"/>
                  <a:pt x="344147" y="214813"/>
                </a:cubicBezTo>
                <a:lnTo>
                  <a:pt x="344147" y="42963"/>
                </a:lnTo>
                <a:cubicBezTo>
                  <a:pt x="344147" y="19333"/>
                  <a:pt x="363512" y="0"/>
                  <a:pt x="387180" y="0"/>
                </a:cubicBezTo>
                <a:close/>
                <a:moveTo>
                  <a:pt x="43021" y="0"/>
                </a:moveTo>
                <a:lnTo>
                  <a:pt x="215107" y="0"/>
                </a:lnTo>
                <a:cubicBezTo>
                  <a:pt x="238768" y="0"/>
                  <a:pt x="258128" y="19333"/>
                  <a:pt x="258128" y="42963"/>
                </a:cubicBezTo>
                <a:lnTo>
                  <a:pt x="258128" y="214813"/>
                </a:lnTo>
                <a:cubicBezTo>
                  <a:pt x="258128" y="238442"/>
                  <a:pt x="238768" y="257775"/>
                  <a:pt x="215107" y="257775"/>
                </a:cubicBezTo>
                <a:lnTo>
                  <a:pt x="43021" y="257775"/>
                </a:lnTo>
                <a:cubicBezTo>
                  <a:pt x="19360" y="257775"/>
                  <a:pt x="0" y="238442"/>
                  <a:pt x="0" y="214813"/>
                </a:cubicBezTo>
                <a:lnTo>
                  <a:pt x="0" y="42963"/>
                </a:lnTo>
                <a:cubicBezTo>
                  <a:pt x="0" y="19333"/>
                  <a:pt x="19360" y="0"/>
                  <a:pt x="430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02877" y="1164119"/>
            <a:ext cx="663052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Pearson correlation coefficient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measures the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 and direction of the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linear relationship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 two variables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Its value ranges from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−1 to 1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 r = 1 ): Perfect positive correlation; the two variables have a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completely linear positive relationship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 r = -1 ): Perfect negative correlation; the two variables have a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completely linear negative relationship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 r = 0 ): No linear correlation (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does not mean there is no relationship at all, only that the linear relationship is zero).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28" y="3960193"/>
            <a:ext cx="5563672" cy="1251200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443358" y="1059758"/>
          <a:ext cx="3950895" cy="2194560"/>
        </p:xfrm>
        <a:graphic>
          <a:graphicData uri="http://schemas.openxmlformats.org/drawingml/2006/table">
            <a:tbl>
              <a:tblPr/>
              <a:tblGrid>
                <a:gridCol w="1316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000000"/>
                          </a:solidFill>
                        </a:rPr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 err="1">
                          <a:solidFill>
                            <a:srgbClr val="000000"/>
                          </a:solidFill>
                        </a:rPr>
                        <a:t>User_</a:t>
                      </a:r>
                      <a:r>
                        <a:rPr lang="en-US" b="1" dirty="0" err="1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 err="1">
                          <a:solidFill>
                            <a:srgbClr val="000000"/>
                          </a:solidFill>
                        </a:rPr>
                        <a:t>User_</a:t>
                      </a:r>
                      <a:r>
                        <a:rPr lang="en-US" b="1" dirty="0" err="1">
                          <a:solidFill>
                            <a:srgbClr val="000000"/>
                          </a:solidFill>
                        </a:rPr>
                        <a:t>Y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623" y="3647666"/>
            <a:ext cx="5348377" cy="51403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114" y="4341463"/>
            <a:ext cx="5161471" cy="790218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307" y="5139821"/>
            <a:ext cx="2886012" cy="790218"/>
          </a:xfrm>
          <a:prstGeom prst="rect">
            <a:avLst/>
          </a:prstGeom>
        </p:spPr>
      </p:pic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402878" y="4988563"/>
            <a:ext cx="591089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Pearson correlation of 0.9 between two users indicates they have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similar preferences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 one user’s liked items can effectively inform recommendations for the other.</a:t>
            </a:r>
          </a:p>
        </p:txBody>
      </p:sp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Similarity method Contrast</a:t>
            </a:r>
            <a:endParaRPr lang="zh-CN" altLang="en-US" dirty="0"/>
          </a:p>
        </p:txBody>
      </p:sp>
      <p:sp>
        <p:nvSpPr>
          <p:cNvPr id="24" name="矩形: 圆角 2"/>
          <p:cNvSpPr/>
          <p:nvPr/>
        </p:nvSpPr>
        <p:spPr>
          <a:xfrm>
            <a:off x="4770223" y="1372767"/>
            <a:ext cx="2669851" cy="5232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Similarity 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2643082" y="2691075"/>
            <a:ext cx="576000" cy="576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5807999" y="2691075"/>
            <a:ext cx="576000" cy="576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9004015" y="2691075"/>
            <a:ext cx="576000" cy="576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140849" y="4379077"/>
            <a:ext cx="432000" cy="432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98409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rPr>
              <a:t>Simple and intuitive </a:t>
            </a:r>
          </a:p>
        </p:txBody>
      </p:sp>
      <p:sp>
        <p:nvSpPr>
          <p:cNvPr id="51" name="椭圆 50"/>
          <p:cNvSpPr/>
          <p:nvPr/>
        </p:nvSpPr>
        <p:spPr>
          <a:xfrm>
            <a:off x="4314915" y="4379077"/>
            <a:ext cx="432000" cy="432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772475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ignores rating differences</a:t>
            </a: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5901949" y="4379077"/>
            <a:ext cx="432000" cy="432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359509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captures rating direction but not bias</a:t>
            </a: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7488982" y="4379077"/>
            <a:ext cx="432000" cy="432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946542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rating bias</a:t>
            </a: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9076015" y="4379077"/>
            <a:ext cx="432000" cy="432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533575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linear correlation</a:t>
            </a: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10663050" y="4379077"/>
            <a:ext cx="432000" cy="432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0120610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misses non-linear</a:t>
            </a: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325789" y="332451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rPr>
              <a:t>Jaccurd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6C39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604052" y="3324518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006C39"/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cosine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6C39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709188" y="3324518"/>
            <a:ext cx="11400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000" dirty="0">
                <a:latin typeface="Arial" panose="020B0604020202020204" pitchFamily="34" charset="0"/>
              </a:rPr>
              <a:t>Pearson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6C39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4" name="右大括号 63"/>
          <p:cNvSpPr/>
          <p:nvPr/>
        </p:nvSpPr>
        <p:spPr>
          <a:xfrm rot="16200000">
            <a:off x="2750111" y="2438676"/>
            <a:ext cx="369332" cy="3181456"/>
          </a:xfrm>
          <a:prstGeom prst="rightBrace">
            <a:avLst>
              <a:gd name="adj1" fmla="val 50000"/>
              <a:gd name="adj2" fmla="val 50000"/>
            </a:avLst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5" name="右大括号 64"/>
          <p:cNvSpPr/>
          <p:nvPr/>
        </p:nvSpPr>
        <p:spPr>
          <a:xfrm rot="16200000">
            <a:off x="9072557" y="2438676"/>
            <a:ext cx="369332" cy="3181456"/>
          </a:xfrm>
          <a:prstGeom prst="rightBrace">
            <a:avLst>
              <a:gd name="adj1" fmla="val 50000"/>
              <a:gd name="adj2" fmla="val 50000"/>
            </a:avLst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66" name="直接连接符 65"/>
          <p:cNvCxnSpPr/>
          <p:nvPr/>
        </p:nvCxnSpPr>
        <p:spPr>
          <a:xfrm>
            <a:off x="6106026" y="3782744"/>
            <a:ext cx="0" cy="432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右大括号 66"/>
          <p:cNvSpPr/>
          <p:nvPr/>
        </p:nvSpPr>
        <p:spPr>
          <a:xfrm rot="16200000">
            <a:off x="5921360" y="-828919"/>
            <a:ext cx="369332" cy="6340642"/>
          </a:xfrm>
          <a:prstGeom prst="rightBrace">
            <a:avLst>
              <a:gd name="adj1" fmla="val 50000"/>
              <a:gd name="adj2" fmla="val 50000"/>
            </a:avLst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6106026" y="2094068"/>
            <a:ext cx="0" cy="432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growth_304631"/>
          <p:cNvSpPr>
            <a:spLocks noChangeAspect="1"/>
          </p:cNvSpPr>
          <p:nvPr/>
        </p:nvSpPr>
        <p:spPr bwMode="auto">
          <a:xfrm>
            <a:off x="2735118" y="2864173"/>
            <a:ext cx="391928" cy="229804"/>
          </a:xfrm>
          <a:custGeom>
            <a:avLst/>
            <a:gdLst>
              <a:gd name="T0" fmla="*/ 263525 w 607614"/>
              <a:gd name="T1" fmla="*/ 263525 w 607614"/>
              <a:gd name="T2" fmla="*/ 485433 h 606761"/>
              <a:gd name="T3" fmla="*/ 485433 h 606761"/>
              <a:gd name="T4" fmla="*/ 485433 h 606761"/>
              <a:gd name="T5" fmla="*/ 485433 h 606761"/>
              <a:gd name="T6" fmla="*/ 485433 h 606761"/>
              <a:gd name="T7" fmla="*/ 485433 h 606761"/>
              <a:gd name="T8" fmla="*/ 485433 h 606761"/>
              <a:gd name="T9" fmla="*/ 485433 h 606761"/>
              <a:gd name="T10" fmla="*/ 485433 h 606761"/>
              <a:gd name="T11" fmla="*/ 485433 h 606761"/>
              <a:gd name="T12" fmla="*/ 485433 h 606761"/>
              <a:gd name="T13" fmla="*/ 485433 h 606761"/>
              <a:gd name="T14" fmla="*/ 485433 h 606761"/>
              <a:gd name="T15" fmla="*/ 485433 h 606761"/>
              <a:gd name="T16" fmla="*/ 485433 h 606761"/>
              <a:gd name="T17" fmla="*/ 485433 h 606761"/>
              <a:gd name="T18" fmla="*/ 485433 h 606761"/>
              <a:gd name="T19" fmla="*/ 485433 h 606761"/>
              <a:gd name="T20" fmla="*/ 485433 h 606761"/>
              <a:gd name="T21" fmla="*/ 485433 h 606761"/>
              <a:gd name="T22" fmla="*/ 485433 h 606761"/>
              <a:gd name="T23" fmla="*/ 485433 h 606761"/>
              <a:gd name="T24" fmla="*/ 485433 h 606761"/>
              <a:gd name="T25" fmla="*/ 485433 h 606761"/>
              <a:gd name="T26" fmla="*/ 485433 h 606761"/>
              <a:gd name="T27" fmla="*/ 485433 h 606761"/>
              <a:gd name="T28" fmla="*/ 485433 h 606761"/>
              <a:gd name="T29" fmla="*/ 485433 h 606761"/>
              <a:gd name="T30" fmla="*/ 485433 h 606761"/>
              <a:gd name="T31" fmla="*/ 485433 h 606761"/>
              <a:gd name="T32" fmla="*/ 485433 h 606761"/>
              <a:gd name="T33" fmla="*/ 485433 h 606761"/>
              <a:gd name="T34" fmla="*/ 485433 h 606761"/>
              <a:gd name="T35" fmla="*/ 485433 h 606761"/>
              <a:gd name="T36" fmla="*/ 485433 h 606761"/>
              <a:gd name="T37" fmla="*/ 485433 h 606761"/>
              <a:gd name="T38" fmla="*/ 485433 h 606761"/>
              <a:gd name="T39" fmla="*/ 485433 h 606761"/>
              <a:gd name="T40" fmla="*/ 485433 h 606761"/>
              <a:gd name="T41" fmla="*/ 485433 h 606761"/>
              <a:gd name="T42" fmla="*/ 485433 h 606761"/>
              <a:gd name="T43" fmla="*/ 485433 h 606761"/>
              <a:gd name="T44" fmla="*/ 485433 h 606761"/>
              <a:gd name="T45" fmla="*/ 485433 h 606761"/>
              <a:gd name="T46" fmla="*/ 485433 h 606761"/>
              <a:gd name="T47" fmla="*/ 485433 h 606761"/>
              <a:gd name="T48" fmla="*/ 485433 h 606761"/>
              <a:gd name="T49" fmla="*/ 485433 h 6067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6827" h="4009">
                <a:moveTo>
                  <a:pt x="6028" y="0"/>
                </a:moveTo>
                <a:cubicBezTo>
                  <a:pt x="5587" y="0"/>
                  <a:pt x="5229" y="358"/>
                  <a:pt x="5229" y="799"/>
                </a:cubicBezTo>
                <a:cubicBezTo>
                  <a:pt x="5229" y="985"/>
                  <a:pt x="5293" y="1157"/>
                  <a:pt x="5401" y="1293"/>
                </a:cubicBezTo>
                <a:lnTo>
                  <a:pt x="4559" y="2460"/>
                </a:lnTo>
                <a:cubicBezTo>
                  <a:pt x="4387" y="2396"/>
                  <a:pt x="4191" y="2393"/>
                  <a:pt x="4010" y="2460"/>
                </a:cubicBezTo>
                <a:lnTo>
                  <a:pt x="3169" y="1293"/>
                </a:lnTo>
                <a:cubicBezTo>
                  <a:pt x="3276" y="1157"/>
                  <a:pt x="3341" y="985"/>
                  <a:pt x="3341" y="799"/>
                </a:cubicBezTo>
                <a:cubicBezTo>
                  <a:pt x="3341" y="358"/>
                  <a:pt x="2982" y="0"/>
                  <a:pt x="2542" y="0"/>
                </a:cubicBezTo>
                <a:cubicBezTo>
                  <a:pt x="2101" y="0"/>
                  <a:pt x="1743" y="358"/>
                  <a:pt x="1743" y="799"/>
                </a:cubicBezTo>
                <a:cubicBezTo>
                  <a:pt x="1743" y="985"/>
                  <a:pt x="1807" y="1157"/>
                  <a:pt x="1915" y="1293"/>
                </a:cubicBezTo>
                <a:lnTo>
                  <a:pt x="1073" y="2460"/>
                </a:lnTo>
                <a:cubicBezTo>
                  <a:pt x="554" y="2269"/>
                  <a:pt x="0" y="2656"/>
                  <a:pt x="0" y="3210"/>
                </a:cubicBezTo>
                <a:cubicBezTo>
                  <a:pt x="0" y="3650"/>
                  <a:pt x="358" y="4009"/>
                  <a:pt x="799" y="4009"/>
                </a:cubicBezTo>
                <a:cubicBezTo>
                  <a:pt x="1239" y="4009"/>
                  <a:pt x="1598" y="3650"/>
                  <a:pt x="1598" y="3210"/>
                </a:cubicBezTo>
                <a:cubicBezTo>
                  <a:pt x="1598" y="3023"/>
                  <a:pt x="1533" y="2852"/>
                  <a:pt x="1426" y="2716"/>
                </a:cubicBezTo>
                <a:lnTo>
                  <a:pt x="2267" y="1549"/>
                </a:lnTo>
                <a:cubicBezTo>
                  <a:pt x="2439" y="1612"/>
                  <a:pt x="2635" y="1615"/>
                  <a:pt x="2816" y="1549"/>
                </a:cubicBezTo>
                <a:lnTo>
                  <a:pt x="3658" y="2716"/>
                </a:lnTo>
                <a:cubicBezTo>
                  <a:pt x="3550" y="2852"/>
                  <a:pt x="3486" y="3023"/>
                  <a:pt x="3486" y="3210"/>
                </a:cubicBezTo>
                <a:cubicBezTo>
                  <a:pt x="3486" y="3650"/>
                  <a:pt x="3844" y="4009"/>
                  <a:pt x="4285" y="4009"/>
                </a:cubicBezTo>
                <a:cubicBezTo>
                  <a:pt x="4725" y="4009"/>
                  <a:pt x="5084" y="3650"/>
                  <a:pt x="5084" y="3210"/>
                </a:cubicBezTo>
                <a:cubicBezTo>
                  <a:pt x="5084" y="3023"/>
                  <a:pt x="5019" y="2852"/>
                  <a:pt x="4912" y="2716"/>
                </a:cubicBezTo>
                <a:lnTo>
                  <a:pt x="5753" y="1549"/>
                </a:lnTo>
                <a:cubicBezTo>
                  <a:pt x="6273" y="1740"/>
                  <a:pt x="6827" y="1353"/>
                  <a:pt x="6827" y="799"/>
                </a:cubicBezTo>
                <a:cubicBezTo>
                  <a:pt x="6827" y="358"/>
                  <a:pt x="6468" y="0"/>
                  <a:pt x="602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70" name="volume-bars_84227"/>
          <p:cNvSpPr>
            <a:spLocks noChangeAspect="1"/>
          </p:cNvSpPr>
          <p:nvPr/>
        </p:nvSpPr>
        <p:spPr bwMode="auto">
          <a:xfrm>
            <a:off x="5952728" y="2859384"/>
            <a:ext cx="304842" cy="239382"/>
          </a:xfrm>
          <a:custGeom>
            <a:avLst/>
            <a:gdLst>
              <a:gd name="connsiteX0" fmla="*/ 187043 w 606298"/>
              <a:gd name="connsiteY0" fmla="*/ 364682 h 476105"/>
              <a:gd name="connsiteX1" fmla="*/ 307528 w 606298"/>
              <a:gd name="connsiteY1" fmla="*/ 364682 h 476105"/>
              <a:gd name="connsiteX2" fmla="*/ 325320 w 606298"/>
              <a:gd name="connsiteY2" fmla="*/ 382440 h 476105"/>
              <a:gd name="connsiteX3" fmla="*/ 325320 w 606298"/>
              <a:gd name="connsiteY3" fmla="*/ 389984 h 476105"/>
              <a:gd name="connsiteX4" fmla="*/ 575785 w 606298"/>
              <a:gd name="connsiteY4" fmla="*/ 389984 h 476105"/>
              <a:gd name="connsiteX5" fmla="*/ 606298 w 606298"/>
              <a:gd name="connsiteY5" fmla="*/ 420440 h 476105"/>
              <a:gd name="connsiteX6" fmla="*/ 575785 w 606298"/>
              <a:gd name="connsiteY6" fmla="*/ 450803 h 476105"/>
              <a:gd name="connsiteX7" fmla="*/ 325320 w 606298"/>
              <a:gd name="connsiteY7" fmla="*/ 450803 h 476105"/>
              <a:gd name="connsiteX8" fmla="*/ 325320 w 606298"/>
              <a:gd name="connsiteY8" fmla="*/ 458347 h 476105"/>
              <a:gd name="connsiteX9" fmla="*/ 307528 w 606298"/>
              <a:gd name="connsiteY9" fmla="*/ 476105 h 476105"/>
              <a:gd name="connsiteX10" fmla="*/ 187043 w 606298"/>
              <a:gd name="connsiteY10" fmla="*/ 476105 h 476105"/>
              <a:gd name="connsiteX11" fmla="*/ 169343 w 606298"/>
              <a:gd name="connsiteY11" fmla="*/ 458347 h 476105"/>
              <a:gd name="connsiteX12" fmla="*/ 169343 w 606298"/>
              <a:gd name="connsiteY12" fmla="*/ 450803 h 476105"/>
              <a:gd name="connsiteX13" fmla="*/ 30421 w 606298"/>
              <a:gd name="connsiteY13" fmla="*/ 450803 h 476105"/>
              <a:gd name="connsiteX14" fmla="*/ 0 w 606298"/>
              <a:gd name="connsiteY14" fmla="*/ 420440 h 476105"/>
              <a:gd name="connsiteX15" fmla="*/ 30421 w 606298"/>
              <a:gd name="connsiteY15" fmla="*/ 389984 h 476105"/>
              <a:gd name="connsiteX16" fmla="*/ 169343 w 606298"/>
              <a:gd name="connsiteY16" fmla="*/ 389984 h 476105"/>
              <a:gd name="connsiteX17" fmla="*/ 169343 w 606298"/>
              <a:gd name="connsiteY17" fmla="*/ 382440 h 476105"/>
              <a:gd name="connsiteX18" fmla="*/ 187043 w 606298"/>
              <a:gd name="connsiteY18" fmla="*/ 364682 h 476105"/>
              <a:gd name="connsiteX19" fmla="*/ 322185 w 606298"/>
              <a:gd name="connsiteY19" fmla="*/ 182341 h 476105"/>
              <a:gd name="connsiteX20" fmla="*/ 442671 w 606298"/>
              <a:gd name="connsiteY20" fmla="*/ 182341 h 476105"/>
              <a:gd name="connsiteX21" fmla="*/ 460370 w 606298"/>
              <a:gd name="connsiteY21" fmla="*/ 200099 h 476105"/>
              <a:gd name="connsiteX22" fmla="*/ 460370 w 606298"/>
              <a:gd name="connsiteY22" fmla="*/ 207643 h 476105"/>
              <a:gd name="connsiteX23" fmla="*/ 575785 w 606298"/>
              <a:gd name="connsiteY23" fmla="*/ 207643 h 476105"/>
              <a:gd name="connsiteX24" fmla="*/ 606298 w 606298"/>
              <a:gd name="connsiteY24" fmla="*/ 238006 h 476105"/>
              <a:gd name="connsiteX25" fmla="*/ 575785 w 606298"/>
              <a:gd name="connsiteY25" fmla="*/ 268369 h 476105"/>
              <a:gd name="connsiteX26" fmla="*/ 460370 w 606298"/>
              <a:gd name="connsiteY26" fmla="*/ 268369 h 476105"/>
              <a:gd name="connsiteX27" fmla="*/ 460370 w 606298"/>
              <a:gd name="connsiteY27" fmla="*/ 276006 h 476105"/>
              <a:gd name="connsiteX28" fmla="*/ 442671 w 606298"/>
              <a:gd name="connsiteY28" fmla="*/ 293764 h 476105"/>
              <a:gd name="connsiteX29" fmla="*/ 322185 w 606298"/>
              <a:gd name="connsiteY29" fmla="*/ 293764 h 476105"/>
              <a:gd name="connsiteX30" fmla="*/ 304394 w 606298"/>
              <a:gd name="connsiteY30" fmla="*/ 276006 h 476105"/>
              <a:gd name="connsiteX31" fmla="*/ 304394 w 606298"/>
              <a:gd name="connsiteY31" fmla="*/ 268369 h 476105"/>
              <a:gd name="connsiteX32" fmla="*/ 30421 w 606298"/>
              <a:gd name="connsiteY32" fmla="*/ 268369 h 476105"/>
              <a:gd name="connsiteX33" fmla="*/ 0 w 606298"/>
              <a:gd name="connsiteY33" fmla="*/ 238006 h 476105"/>
              <a:gd name="connsiteX34" fmla="*/ 30421 w 606298"/>
              <a:gd name="connsiteY34" fmla="*/ 207643 h 476105"/>
              <a:gd name="connsiteX35" fmla="*/ 304394 w 606298"/>
              <a:gd name="connsiteY35" fmla="*/ 207643 h 476105"/>
              <a:gd name="connsiteX36" fmla="*/ 304394 w 606298"/>
              <a:gd name="connsiteY36" fmla="*/ 200099 h 476105"/>
              <a:gd name="connsiteX37" fmla="*/ 322185 w 606298"/>
              <a:gd name="connsiteY37" fmla="*/ 182341 h 476105"/>
              <a:gd name="connsiteX38" fmla="*/ 109055 w 606298"/>
              <a:gd name="connsiteY38" fmla="*/ 0 h 476105"/>
              <a:gd name="connsiteX39" fmla="*/ 229540 w 606298"/>
              <a:gd name="connsiteY39" fmla="*/ 0 h 476105"/>
              <a:gd name="connsiteX40" fmla="*/ 247331 w 606298"/>
              <a:gd name="connsiteY40" fmla="*/ 17669 h 476105"/>
              <a:gd name="connsiteX41" fmla="*/ 247331 w 606298"/>
              <a:gd name="connsiteY41" fmla="*/ 25307 h 476105"/>
              <a:gd name="connsiteX42" fmla="*/ 575785 w 606298"/>
              <a:gd name="connsiteY42" fmla="*/ 25307 h 476105"/>
              <a:gd name="connsiteX43" fmla="*/ 606298 w 606298"/>
              <a:gd name="connsiteY43" fmla="*/ 55676 h 476105"/>
              <a:gd name="connsiteX44" fmla="*/ 575785 w 606298"/>
              <a:gd name="connsiteY44" fmla="*/ 86045 h 476105"/>
              <a:gd name="connsiteX45" fmla="*/ 247331 w 606298"/>
              <a:gd name="connsiteY45" fmla="*/ 86045 h 476105"/>
              <a:gd name="connsiteX46" fmla="*/ 247331 w 606298"/>
              <a:gd name="connsiteY46" fmla="*/ 93683 h 476105"/>
              <a:gd name="connsiteX47" fmla="*/ 229540 w 606298"/>
              <a:gd name="connsiteY47" fmla="*/ 111352 h 476105"/>
              <a:gd name="connsiteX48" fmla="*/ 109055 w 606298"/>
              <a:gd name="connsiteY48" fmla="*/ 111352 h 476105"/>
              <a:gd name="connsiteX49" fmla="*/ 91355 w 606298"/>
              <a:gd name="connsiteY49" fmla="*/ 93683 h 476105"/>
              <a:gd name="connsiteX50" fmla="*/ 91355 w 606298"/>
              <a:gd name="connsiteY50" fmla="*/ 86045 h 476105"/>
              <a:gd name="connsiteX51" fmla="*/ 30421 w 606298"/>
              <a:gd name="connsiteY51" fmla="*/ 86045 h 476105"/>
              <a:gd name="connsiteX52" fmla="*/ 0 w 606298"/>
              <a:gd name="connsiteY52" fmla="*/ 55676 h 476105"/>
              <a:gd name="connsiteX53" fmla="*/ 30421 w 606298"/>
              <a:gd name="connsiteY53" fmla="*/ 25307 h 476105"/>
              <a:gd name="connsiteX54" fmla="*/ 91355 w 606298"/>
              <a:gd name="connsiteY54" fmla="*/ 25307 h 476105"/>
              <a:gd name="connsiteX55" fmla="*/ 91355 w 606298"/>
              <a:gd name="connsiteY55" fmla="*/ 17669 h 476105"/>
              <a:gd name="connsiteX56" fmla="*/ 109055 w 606298"/>
              <a:gd name="connsiteY56" fmla="*/ 0 h 476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606298" h="476105">
                <a:moveTo>
                  <a:pt x="187043" y="364682"/>
                </a:moveTo>
                <a:lnTo>
                  <a:pt x="307528" y="364682"/>
                </a:lnTo>
                <a:cubicBezTo>
                  <a:pt x="317392" y="364682"/>
                  <a:pt x="325320" y="372595"/>
                  <a:pt x="325320" y="382440"/>
                </a:cubicBezTo>
                <a:lnTo>
                  <a:pt x="325320" y="389984"/>
                </a:lnTo>
                <a:lnTo>
                  <a:pt x="575785" y="389984"/>
                </a:lnTo>
                <a:cubicBezTo>
                  <a:pt x="592655" y="389984"/>
                  <a:pt x="606298" y="403602"/>
                  <a:pt x="606298" y="420440"/>
                </a:cubicBezTo>
                <a:cubicBezTo>
                  <a:pt x="606298" y="437185"/>
                  <a:pt x="592655" y="450803"/>
                  <a:pt x="575785" y="450803"/>
                </a:cubicBezTo>
                <a:lnTo>
                  <a:pt x="325320" y="450803"/>
                </a:lnTo>
                <a:lnTo>
                  <a:pt x="325320" y="458347"/>
                </a:lnTo>
                <a:cubicBezTo>
                  <a:pt x="325320" y="468192"/>
                  <a:pt x="317392" y="476105"/>
                  <a:pt x="307528" y="476105"/>
                </a:cubicBezTo>
                <a:lnTo>
                  <a:pt x="187043" y="476105"/>
                </a:lnTo>
                <a:cubicBezTo>
                  <a:pt x="177271" y="476105"/>
                  <a:pt x="169343" y="468192"/>
                  <a:pt x="169343" y="458347"/>
                </a:cubicBezTo>
                <a:lnTo>
                  <a:pt x="169343" y="450803"/>
                </a:lnTo>
                <a:lnTo>
                  <a:pt x="30421" y="450803"/>
                </a:lnTo>
                <a:cubicBezTo>
                  <a:pt x="13644" y="450803"/>
                  <a:pt x="0" y="437185"/>
                  <a:pt x="0" y="420440"/>
                </a:cubicBezTo>
                <a:cubicBezTo>
                  <a:pt x="0" y="403602"/>
                  <a:pt x="13644" y="389984"/>
                  <a:pt x="30421" y="389984"/>
                </a:cubicBezTo>
                <a:lnTo>
                  <a:pt x="169343" y="389984"/>
                </a:lnTo>
                <a:lnTo>
                  <a:pt x="169343" y="382440"/>
                </a:lnTo>
                <a:cubicBezTo>
                  <a:pt x="169343" y="372595"/>
                  <a:pt x="177271" y="364682"/>
                  <a:pt x="187043" y="364682"/>
                </a:cubicBezTo>
                <a:close/>
                <a:moveTo>
                  <a:pt x="322185" y="182341"/>
                </a:moveTo>
                <a:lnTo>
                  <a:pt x="442671" y="182341"/>
                </a:lnTo>
                <a:cubicBezTo>
                  <a:pt x="452442" y="182341"/>
                  <a:pt x="460370" y="190254"/>
                  <a:pt x="460370" y="200099"/>
                </a:cubicBezTo>
                <a:lnTo>
                  <a:pt x="460370" y="207643"/>
                </a:lnTo>
                <a:lnTo>
                  <a:pt x="575785" y="207643"/>
                </a:lnTo>
                <a:cubicBezTo>
                  <a:pt x="592655" y="207643"/>
                  <a:pt x="606298" y="221261"/>
                  <a:pt x="606298" y="238006"/>
                </a:cubicBezTo>
                <a:cubicBezTo>
                  <a:pt x="606298" y="254844"/>
                  <a:pt x="592655" y="268369"/>
                  <a:pt x="575785" y="268369"/>
                </a:cubicBezTo>
                <a:lnTo>
                  <a:pt x="460370" y="268369"/>
                </a:lnTo>
                <a:lnTo>
                  <a:pt x="460370" y="276006"/>
                </a:lnTo>
                <a:cubicBezTo>
                  <a:pt x="460370" y="285759"/>
                  <a:pt x="452442" y="293764"/>
                  <a:pt x="442671" y="293764"/>
                </a:cubicBezTo>
                <a:lnTo>
                  <a:pt x="322185" y="293764"/>
                </a:lnTo>
                <a:cubicBezTo>
                  <a:pt x="312322" y="293764"/>
                  <a:pt x="304394" y="285759"/>
                  <a:pt x="304394" y="276006"/>
                </a:cubicBezTo>
                <a:lnTo>
                  <a:pt x="304394" y="268369"/>
                </a:lnTo>
                <a:lnTo>
                  <a:pt x="30421" y="268369"/>
                </a:lnTo>
                <a:cubicBezTo>
                  <a:pt x="13644" y="268369"/>
                  <a:pt x="0" y="254844"/>
                  <a:pt x="0" y="238006"/>
                </a:cubicBezTo>
                <a:cubicBezTo>
                  <a:pt x="0" y="221261"/>
                  <a:pt x="13644" y="207643"/>
                  <a:pt x="30421" y="207643"/>
                </a:cubicBezTo>
                <a:lnTo>
                  <a:pt x="304394" y="207643"/>
                </a:lnTo>
                <a:lnTo>
                  <a:pt x="304394" y="200099"/>
                </a:lnTo>
                <a:cubicBezTo>
                  <a:pt x="304394" y="190254"/>
                  <a:pt x="312322" y="182341"/>
                  <a:pt x="322185" y="182341"/>
                </a:cubicBezTo>
                <a:close/>
                <a:moveTo>
                  <a:pt x="109055" y="0"/>
                </a:moveTo>
                <a:lnTo>
                  <a:pt x="229540" y="0"/>
                </a:lnTo>
                <a:cubicBezTo>
                  <a:pt x="239404" y="0"/>
                  <a:pt x="247331" y="7914"/>
                  <a:pt x="247331" y="17669"/>
                </a:cubicBezTo>
                <a:lnTo>
                  <a:pt x="247331" y="25307"/>
                </a:lnTo>
                <a:lnTo>
                  <a:pt x="575785" y="25307"/>
                </a:lnTo>
                <a:cubicBezTo>
                  <a:pt x="592655" y="25307"/>
                  <a:pt x="606298" y="38927"/>
                  <a:pt x="606298" y="55676"/>
                </a:cubicBezTo>
                <a:cubicBezTo>
                  <a:pt x="606298" y="72425"/>
                  <a:pt x="592655" y="86045"/>
                  <a:pt x="575785" y="86045"/>
                </a:cubicBezTo>
                <a:lnTo>
                  <a:pt x="247331" y="86045"/>
                </a:lnTo>
                <a:lnTo>
                  <a:pt x="247331" y="93683"/>
                </a:lnTo>
                <a:cubicBezTo>
                  <a:pt x="247331" y="103438"/>
                  <a:pt x="239404" y="111352"/>
                  <a:pt x="229540" y="111352"/>
                </a:cubicBezTo>
                <a:lnTo>
                  <a:pt x="109055" y="111352"/>
                </a:lnTo>
                <a:cubicBezTo>
                  <a:pt x="99283" y="111352"/>
                  <a:pt x="91355" y="103438"/>
                  <a:pt x="91355" y="93683"/>
                </a:cubicBezTo>
                <a:lnTo>
                  <a:pt x="91355" y="86045"/>
                </a:lnTo>
                <a:lnTo>
                  <a:pt x="30421" y="86045"/>
                </a:lnTo>
                <a:cubicBezTo>
                  <a:pt x="13644" y="86045"/>
                  <a:pt x="0" y="72425"/>
                  <a:pt x="0" y="55676"/>
                </a:cubicBezTo>
                <a:cubicBezTo>
                  <a:pt x="0" y="38927"/>
                  <a:pt x="13644" y="25307"/>
                  <a:pt x="30421" y="25307"/>
                </a:cubicBezTo>
                <a:lnTo>
                  <a:pt x="91355" y="25307"/>
                </a:lnTo>
                <a:lnTo>
                  <a:pt x="91355" y="17669"/>
                </a:lnTo>
                <a:cubicBezTo>
                  <a:pt x="91355" y="7914"/>
                  <a:pt x="99283" y="0"/>
                  <a:pt x="1090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71" name="menu_159761"/>
          <p:cNvSpPr>
            <a:spLocks noChangeAspect="1"/>
          </p:cNvSpPr>
          <p:nvPr/>
        </p:nvSpPr>
        <p:spPr bwMode="auto">
          <a:xfrm>
            <a:off x="9165222" y="2853623"/>
            <a:ext cx="253584" cy="253198"/>
          </a:xfrm>
          <a:custGeom>
            <a:avLst/>
            <a:gdLst>
              <a:gd name="connsiteX0" fmla="*/ 387180 w 602346"/>
              <a:gd name="connsiteY0" fmla="*/ 343654 h 601429"/>
              <a:gd name="connsiteX1" fmla="*/ 559313 w 602346"/>
              <a:gd name="connsiteY1" fmla="*/ 343654 h 601429"/>
              <a:gd name="connsiteX2" fmla="*/ 602346 w 602346"/>
              <a:gd name="connsiteY2" fmla="*/ 386617 h 601429"/>
              <a:gd name="connsiteX3" fmla="*/ 602346 w 602346"/>
              <a:gd name="connsiteY3" fmla="*/ 558467 h 601429"/>
              <a:gd name="connsiteX4" fmla="*/ 559313 w 602346"/>
              <a:gd name="connsiteY4" fmla="*/ 601429 h 601429"/>
              <a:gd name="connsiteX5" fmla="*/ 387180 w 602346"/>
              <a:gd name="connsiteY5" fmla="*/ 601429 h 601429"/>
              <a:gd name="connsiteX6" fmla="*/ 344147 w 602346"/>
              <a:gd name="connsiteY6" fmla="*/ 558467 h 601429"/>
              <a:gd name="connsiteX7" fmla="*/ 344147 w 602346"/>
              <a:gd name="connsiteY7" fmla="*/ 386617 h 601429"/>
              <a:gd name="connsiteX8" fmla="*/ 387180 w 602346"/>
              <a:gd name="connsiteY8" fmla="*/ 343654 h 601429"/>
              <a:gd name="connsiteX9" fmla="*/ 43021 w 602346"/>
              <a:gd name="connsiteY9" fmla="*/ 343654 h 601429"/>
              <a:gd name="connsiteX10" fmla="*/ 215107 w 602346"/>
              <a:gd name="connsiteY10" fmla="*/ 343654 h 601429"/>
              <a:gd name="connsiteX11" fmla="*/ 258128 w 602346"/>
              <a:gd name="connsiteY11" fmla="*/ 386617 h 601429"/>
              <a:gd name="connsiteX12" fmla="*/ 258128 w 602346"/>
              <a:gd name="connsiteY12" fmla="*/ 558467 h 601429"/>
              <a:gd name="connsiteX13" fmla="*/ 215107 w 602346"/>
              <a:gd name="connsiteY13" fmla="*/ 601429 h 601429"/>
              <a:gd name="connsiteX14" fmla="*/ 43021 w 602346"/>
              <a:gd name="connsiteY14" fmla="*/ 601429 h 601429"/>
              <a:gd name="connsiteX15" fmla="*/ 0 w 602346"/>
              <a:gd name="connsiteY15" fmla="*/ 558467 h 601429"/>
              <a:gd name="connsiteX16" fmla="*/ 0 w 602346"/>
              <a:gd name="connsiteY16" fmla="*/ 386617 h 601429"/>
              <a:gd name="connsiteX17" fmla="*/ 43021 w 602346"/>
              <a:gd name="connsiteY17" fmla="*/ 343654 h 601429"/>
              <a:gd name="connsiteX18" fmla="*/ 387180 w 602346"/>
              <a:gd name="connsiteY18" fmla="*/ 0 h 601429"/>
              <a:gd name="connsiteX19" fmla="*/ 559313 w 602346"/>
              <a:gd name="connsiteY19" fmla="*/ 0 h 601429"/>
              <a:gd name="connsiteX20" fmla="*/ 602346 w 602346"/>
              <a:gd name="connsiteY20" fmla="*/ 42963 h 601429"/>
              <a:gd name="connsiteX21" fmla="*/ 602346 w 602346"/>
              <a:gd name="connsiteY21" fmla="*/ 214813 h 601429"/>
              <a:gd name="connsiteX22" fmla="*/ 559313 w 602346"/>
              <a:gd name="connsiteY22" fmla="*/ 257775 h 601429"/>
              <a:gd name="connsiteX23" fmla="*/ 387180 w 602346"/>
              <a:gd name="connsiteY23" fmla="*/ 257775 h 601429"/>
              <a:gd name="connsiteX24" fmla="*/ 344147 w 602346"/>
              <a:gd name="connsiteY24" fmla="*/ 214813 h 601429"/>
              <a:gd name="connsiteX25" fmla="*/ 344147 w 602346"/>
              <a:gd name="connsiteY25" fmla="*/ 42963 h 601429"/>
              <a:gd name="connsiteX26" fmla="*/ 387180 w 602346"/>
              <a:gd name="connsiteY26" fmla="*/ 0 h 601429"/>
              <a:gd name="connsiteX27" fmla="*/ 43021 w 602346"/>
              <a:gd name="connsiteY27" fmla="*/ 0 h 601429"/>
              <a:gd name="connsiteX28" fmla="*/ 215107 w 602346"/>
              <a:gd name="connsiteY28" fmla="*/ 0 h 601429"/>
              <a:gd name="connsiteX29" fmla="*/ 258128 w 602346"/>
              <a:gd name="connsiteY29" fmla="*/ 42963 h 601429"/>
              <a:gd name="connsiteX30" fmla="*/ 258128 w 602346"/>
              <a:gd name="connsiteY30" fmla="*/ 214813 h 601429"/>
              <a:gd name="connsiteX31" fmla="*/ 215107 w 602346"/>
              <a:gd name="connsiteY31" fmla="*/ 257775 h 601429"/>
              <a:gd name="connsiteX32" fmla="*/ 43021 w 602346"/>
              <a:gd name="connsiteY32" fmla="*/ 257775 h 601429"/>
              <a:gd name="connsiteX33" fmla="*/ 0 w 602346"/>
              <a:gd name="connsiteY33" fmla="*/ 214813 h 601429"/>
              <a:gd name="connsiteX34" fmla="*/ 0 w 602346"/>
              <a:gd name="connsiteY34" fmla="*/ 42963 h 601429"/>
              <a:gd name="connsiteX35" fmla="*/ 43021 w 602346"/>
              <a:gd name="connsiteY35" fmla="*/ 0 h 60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02346" h="601429">
                <a:moveTo>
                  <a:pt x="387180" y="343654"/>
                </a:moveTo>
                <a:lnTo>
                  <a:pt x="559313" y="343654"/>
                </a:lnTo>
                <a:cubicBezTo>
                  <a:pt x="582981" y="343654"/>
                  <a:pt x="602346" y="362987"/>
                  <a:pt x="602346" y="386617"/>
                </a:cubicBezTo>
                <a:lnTo>
                  <a:pt x="602346" y="558467"/>
                </a:lnTo>
                <a:cubicBezTo>
                  <a:pt x="602346" y="582096"/>
                  <a:pt x="582981" y="601429"/>
                  <a:pt x="559313" y="601429"/>
                </a:cubicBezTo>
                <a:lnTo>
                  <a:pt x="387180" y="601429"/>
                </a:lnTo>
                <a:cubicBezTo>
                  <a:pt x="363512" y="601429"/>
                  <a:pt x="344147" y="582096"/>
                  <a:pt x="344147" y="558467"/>
                </a:cubicBezTo>
                <a:lnTo>
                  <a:pt x="344147" y="386617"/>
                </a:lnTo>
                <a:cubicBezTo>
                  <a:pt x="344147" y="362987"/>
                  <a:pt x="363512" y="343654"/>
                  <a:pt x="387180" y="343654"/>
                </a:cubicBezTo>
                <a:close/>
                <a:moveTo>
                  <a:pt x="43021" y="343654"/>
                </a:moveTo>
                <a:lnTo>
                  <a:pt x="215107" y="343654"/>
                </a:lnTo>
                <a:cubicBezTo>
                  <a:pt x="238768" y="343654"/>
                  <a:pt x="258128" y="362987"/>
                  <a:pt x="258128" y="386617"/>
                </a:cubicBezTo>
                <a:lnTo>
                  <a:pt x="258128" y="558467"/>
                </a:lnTo>
                <a:cubicBezTo>
                  <a:pt x="258128" y="582096"/>
                  <a:pt x="238768" y="601429"/>
                  <a:pt x="215107" y="601429"/>
                </a:cubicBezTo>
                <a:lnTo>
                  <a:pt x="43021" y="601429"/>
                </a:lnTo>
                <a:cubicBezTo>
                  <a:pt x="19360" y="601429"/>
                  <a:pt x="0" y="582096"/>
                  <a:pt x="0" y="558467"/>
                </a:cubicBezTo>
                <a:lnTo>
                  <a:pt x="0" y="386617"/>
                </a:lnTo>
                <a:cubicBezTo>
                  <a:pt x="0" y="362987"/>
                  <a:pt x="19360" y="343654"/>
                  <a:pt x="43021" y="343654"/>
                </a:cubicBezTo>
                <a:close/>
                <a:moveTo>
                  <a:pt x="387180" y="0"/>
                </a:moveTo>
                <a:lnTo>
                  <a:pt x="559313" y="0"/>
                </a:lnTo>
                <a:cubicBezTo>
                  <a:pt x="582981" y="0"/>
                  <a:pt x="602346" y="19333"/>
                  <a:pt x="602346" y="42963"/>
                </a:cubicBezTo>
                <a:lnTo>
                  <a:pt x="602346" y="214813"/>
                </a:lnTo>
                <a:cubicBezTo>
                  <a:pt x="602346" y="238442"/>
                  <a:pt x="582981" y="257775"/>
                  <a:pt x="559313" y="257775"/>
                </a:cubicBezTo>
                <a:lnTo>
                  <a:pt x="387180" y="257775"/>
                </a:lnTo>
                <a:cubicBezTo>
                  <a:pt x="363512" y="257775"/>
                  <a:pt x="344147" y="238442"/>
                  <a:pt x="344147" y="214813"/>
                </a:cubicBezTo>
                <a:lnTo>
                  <a:pt x="344147" y="42963"/>
                </a:lnTo>
                <a:cubicBezTo>
                  <a:pt x="344147" y="19333"/>
                  <a:pt x="363512" y="0"/>
                  <a:pt x="387180" y="0"/>
                </a:cubicBezTo>
                <a:close/>
                <a:moveTo>
                  <a:pt x="43021" y="0"/>
                </a:moveTo>
                <a:lnTo>
                  <a:pt x="215107" y="0"/>
                </a:lnTo>
                <a:cubicBezTo>
                  <a:pt x="238768" y="0"/>
                  <a:pt x="258128" y="19333"/>
                  <a:pt x="258128" y="42963"/>
                </a:cubicBezTo>
                <a:lnTo>
                  <a:pt x="258128" y="214813"/>
                </a:lnTo>
                <a:cubicBezTo>
                  <a:pt x="258128" y="238442"/>
                  <a:pt x="238768" y="257775"/>
                  <a:pt x="215107" y="257775"/>
                </a:cubicBezTo>
                <a:lnTo>
                  <a:pt x="43021" y="257775"/>
                </a:lnTo>
                <a:cubicBezTo>
                  <a:pt x="19360" y="257775"/>
                  <a:pt x="0" y="238442"/>
                  <a:pt x="0" y="214813"/>
                </a:cubicBezTo>
                <a:lnTo>
                  <a:pt x="0" y="42963"/>
                </a:lnTo>
                <a:cubicBezTo>
                  <a:pt x="0" y="19333"/>
                  <a:pt x="19360" y="0"/>
                  <a:pt x="430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use user/item based CF 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1138626" y="967454"/>
            <a:ext cx="10090604" cy="7604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/>
              <a:t>Suppose we have </a:t>
            </a:r>
            <a:r>
              <a:rPr lang="en-US" altLang="zh-CN" sz="2000" b="1" dirty="0"/>
              <a:t>4 users</a:t>
            </a:r>
            <a:r>
              <a:rPr lang="en-US" altLang="zh-CN" sz="2000" dirty="0"/>
              <a:t> and </a:t>
            </a:r>
            <a:r>
              <a:rPr lang="en-US" altLang="zh-CN" sz="2000" b="1" dirty="0"/>
              <a:t>5 movies</a:t>
            </a:r>
            <a:r>
              <a:rPr lang="en-US" altLang="zh-CN" sz="2000" dirty="0"/>
              <a:t>, and their </a:t>
            </a:r>
            <a:r>
              <a:rPr lang="en-US" altLang="zh-CN" sz="2000" b="1" dirty="0"/>
              <a:t>rating matrix</a:t>
            </a:r>
            <a:r>
              <a:rPr lang="en-US" altLang="zh-CN" sz="2000" dirty="0"/>
              <a:t> is as follows (ratings range from 1 to 5, with 0 indicating that the movie has not been watched):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8672105" y="2913206"/>
            <a:ext cx="481013" cy="454026"/>
            <a:chOff x="1528763" y="4175125"/>
            <a:chExt cx="481013" cy="454026"/>
          </a:xfrm>
          <a:solidFill>
            <a:schemeClr val="bg1"/>
          </a:solidFill>
        </p:grpSpPr>
        <p:sp>
          <p:nvSpPr>
            <p:cNvPr id="40" name="Freeform 82"/>
            <p:cNvSpPr/>
            <p:nvPr/>
          </p:nvSpPr>
          <p:spPr bwMode="auto">
            <a:xfrm>
              <a:off x="1603375" y="4175125"/>
              <a:ext cx="330200" cy="398463"/>
            </a:xfrm>
            <a:custGeom>
              <a:avLst/>
              <a:gdLst>
                <a:gd name="T0" fmla="*/ 4 w 88"/>
                <a:gd name="T1" fmla="*/ 46 h 106"/>
                <a:gd name="T2" fmla="*/ 42 w 88"/>
                <a:gd name="T3" fmla="*/ 8 h 106"/>
                <a:gd name="T4" fmla="*/ 42 w 88"/>
                <a:gd name="T5" fmla="*/ 104 h 106"/>
                <a:gd name="T6" fmla="*/ 44 w 88"/>
                <a:gd name="T7" fmla="*/ 106 h 106"/>
                <a:gd name="T8" fmla="*/ 46 w 88"/>
                <a:gd name="T9" fmla="*/ 104 h 106"/>
                <a:gd name="T10" fmla="*/ 46 w 88"/>
                <a:gd name="T11" fmla="*/ 8 h 106"/>
                <a:gd name="T12" fmla="*/ 84 w 88"/>
                <a:gd name="T13" fmla="*/ 46 h 106"/>
                <a:gd name="T14" fmla="*/ 88 w 88"/>
                <a:gd name="T15" fmla="*/ 46 h 106"/>
                <a:gd name="T16" fmla="*/ 88 w 88"/>
                <a:gd name="T17" fmla="*/ 43 h 106"/>
                <a:gd name="T18" fmla="*/ 46 w 88"/>
                <a:gd name="T19" fmla="*/ 1 h 106"/>
                <a:gd name="T20" fmla="*/ 42 w 88"/>
                <a:gd name="T21" fmla="*/ 1 h 106"/>
                <a:gd name="T22" fmla="*/ 0 w 88"/>
                <a:gd name="T23" fmla="*/ 43 h 106"/>
                <a:gd name="T24" fmla="*/ 0 w 88"/>
                <a:gd name="T25" fmla="*/ 46 h 106"/>
                <a:gd name="T26" fmla="*/ 4 w 88"/>
                <a:gd name="T27" fmla="*/ 4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8" h="106">
                  <a:moveTo>
                    <a:pt x="4" y="46"/>
                  </a:moveTo>
                  <a:cubicBezTo>
                    <a:pt x="42" y="8"/>
                    <a:pt x="42" y="8"/>
                    <a:pt x="42" y="8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2" y="105"/>
                    <a:pt x="43" y="106"/>
                    <a:pt x="44" y="106"/>
                  </a:cubicBezTo>
                  <a:cubicBezTo>
                    <a:pt x="45" y="106"/>
                    <a:pt x="46" y="105"/>
                    <a:pt x="46" y="104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5" y="47"/>
                    <a:pt x="87" y="47"/>
                    <a:pt x="88" y="46"/>
                  </a:cubicBezTo>
                  <a:cubicBezTo>
                    <a:pt x="88" y="45"/>
                    <a:pt x="88" y="44"/>
                    <a:pt x="88" y="43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5" y="0"/>
                    <a:pt x="43" y="0"/>
                    <a:pt x="42" y="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0" y="45"/>
                    <a:pt x="0" y="46"/>
                  </a:cubicBezTo>
                  <a:cubicBezTo>
                    <a:pt x="1" y="47"/>
                    <a:pt x="3" y="47"/>
                    <a:pt x="4" y="4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83"/>
            <p:cNvSpPr/>
            <p:nvPr/>
          </p:nvSpPr>
          <p:spPr bwMode="auto">
            <a:xfrm>
              <a:off x="1528763" y="4557713"/>
              <a:ext cx="481013" cy="71438"/>
            </a:xfrm>
            <a:custGeom>
              <a:avLst/>
              <a:gdLst>
                <a:gd name="T0" fmla="*/ 126 w 128"/>
                <a:gd name="T1" fmla="*/ 0 h 19"/>
                <a:gd name="T2" fmla="*/ 123 w 128"/>
                <a:gd name="T3" fmla="*/ 2 h 19"/>
                <a:gd name="T4" fmla="*/ 123 w 128"/>
                <a:gd name="T5" fmla="*/ 14 h 19"/>
                <a:gd name="T6" fmla="*/ 5 w 128"/>
                <a:gd name="T7" fmla="*/ 14 h 19"/>
                <a:gd name="T8" fmla="*/ 5 w 128"/>
                <a:gd name="T9" fmla="*/ 2 h 19"/>
                <a:gd name="T10" fmla="*/ 2 w 128"/>
                <a:gd name="T11" fmla="*/ 0 h 19"/>
                <a:gd name="T12" fmla="*/ 0 w 128"/>
                <a:gd name="T13" fmla="*/ 2 h 19"/>
                <a:gd name="T14" fmla="*/ 0 w 128"/>
                <a:gd name="T15" fmla="*/ 17 h 19"/>
                <a:gd name="T16" fmla="*/ 2 w 128"/>
                <a:gd name="T17" fmla="*/ 19 h 19"/>
                <a:gd name="T18" fmla="*/ 126 w 128"/>
                <a:gd name="T19" fmla="*/ 19 h 19"/>
                <a:gd name="T20" fmla="*/ 128 w 128"/>
                <a:gd name="T21" fmla="*/ 17 h 19"/>
                <a:gd name="T22" fmla="*/ 128 w 128"/>
                <a:gd name="T23" fmla="*/ 2 h 19"/>
                <a:gd name="T24" fmla="*/ 126 w 128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9">
                  <a:moveTo>
                    <a:pt x="126" y="0"/>
                  </a:moveTo>
                  <a:cubicBezTo>
                    <a:pt x="124" y="0"/>
                    <a:pt x="123" y="1"/>
                    <a:pt x="123" y="2"/>
                  </a:cubicBezTo>
                  <a:cubicBezTo>
                    <a:pt x="123" y="14"/>
                    <a:pt x="123" y="14"/>
                    <a:pt x="123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7" y="19"/>
                    <a:pt x="128" y="18"/>
                    <a:pt x="128" y="17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19" y="1855660"/>
            <a:ext cx="2983977" cy="263236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98" y="2748627"/>
            <a:ext cx="1715359" cy="31173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4733" y="4226362"/>
            <a:ext cx="3048000" cy="1581567"/>
          </a:xfrm>
          <a:prstGeom prst="rect">
            <a:avLst/>
          </a:prstGeom>
        </p:spPr>
      </p:pic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512522"/>
              </p:ext>
            </p:extLst>
          </p:nvPr>
        </p:nvGraphicFramePr>
        <p:xfrm>
          <a:off x="4318957" y="2003187"/>
          <a:ext cx="7046346" cy="2218500"/>
        </p:xfrm>
        <a:graphic>
          <a:graphicData uri="http://schemas.openxmlformats.org/drawingml/2006/table">
            <a:tbl>
              <a:tblPr/>
              <a:tblGrid>
                <a:gridCol w="1174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3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43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3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37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1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Movie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Movie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Movie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Movie 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Movie 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User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User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User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User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5127480" y="4808540"/>
            <a:ext cx="6101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Goal:</a:t>
            </a:r>
            <a:r>
              <a:rPr lang="en-US" altLang="zh-CN" dirty="0"/>
              <a:t> Recommend movies to </a:t>
            </a:r>
            <a:r>
              <a:rPr lang="en-US" altLang="zh-CN" b="1" dirty="0"/>
              <a:t>User 1</a:t>
            </a:r>
            <a:r>
              <a:rPr lang="en-US" altLang="zh-CN" dirty="0"/>
              <a:t> that they </a:t>
            </a:r>
            <a:r>
              <a:rPr lang="en-US" altLang="zh-CN" b="1" dirty="0"/>
              <a:t>have not yet watched</a:t>
            </a:r>
            <a:r>
              <a:rPr lang="en-US" altLang="zh-CN" dirty="0"/>
              <a:t> but are likely to enjoy.</a:t>
            </a:r>
          </a:p>
        </p:txBody>
      </p:sp>
    </p:spTree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User-based CF </a:t>
            </a:r>
            <a:endParaRPr lang="zh-CN" altLang="en-US" dirty="0"/>
          </a:p>
        </p:txBody>
      </p:sp>
      <p:grpSp>
        <p:nvGrpSpPr>
          <p:cNvPr id="39" name="组合 38"/>
          <p:cNvGrpSpPr/>
          <p:nvPr/>
        </p:nvGrpSpPr>
        <p:grpSpPr>
          <a:xfrm>
            <a:off x="8672105" y="2913206"/>
            <a:ext cx="481013" cy="454026"/>
            <a:chOff x="1528763" y="4175125"/>
            <a:chExt cx="481013" cy="454026"/>
          </a:xfrm>
          <a:solidFill>
            <a:schemeClr val="bg1"/>
          </a:solidFill>
        </p:grpSpPr>
        <p:sp>
          <p:nvSpPr>
            <p:cNvPr id="40" name="Freeform 82"/>
            <p:cNvSpPr/>
            <p:nvPr/>
          </p:nvSpPr>
          <p:spPr bwMode="auto">
            <a:xfrm>
              <a:off x="1603375" y="4175125"/>
              <a:ext cx="330200" cy="398463"/>
            </a:xfrm>
            <a:custGeom>
              <a:avLst/>
              <a:gdLst>
                <a:gd name="T0" fmla="*/ 4 w 88"/>
                <a:gd name="T1" fmla="*/ 46 h 106"/>
                <a:gd name="T2" fmla="*/ 42 w 88"/>
                <a:gd name="T3" fmla="*/ 8 h 106"/>
                <a:gd name="T4" fmla="*/ 42 w 88"/>
                <a:gd name="T5" fmla="*/ 104 h 106"/>
                <a:gd name="T6" fmla="*/ 44 w 88"/>
                <a:gd name="T7" fmla="*/ 106 h 106"/>
                <a:gd name="T8" fmla="*/ 46 w 88"/>
                <a:gd name="T9" fmla="*/ 104 h 106"/>
                <a:gd name="T10" fmla="*/ 46 w 88"/>
                <a:gd name="T11" fmla="*/ 8 h 106"/>
                <a:gd name="T12" fmla="*/ 84 w 88"/>
                <a:gd name="T13" fmla="*/ 46 h 106"/>
                <a:gd name="T14" fmla="*/ 88 w 88"/>
                <a:gd name="T15" fmla="*/ 46 h 106"/>
                <a:gd name="T16" fmla="*/ 88 w 88"/>
                <a:gd name="T17" fmla="*/ 43 h 106"/>
                <a:gd name="T18" fmla="*/ 46 w 88"/>
                <a:gd name="T19" fmla="*/ 1 h 106"/>
                <a:gd name="T20" fmla="*/ 42 w 88"/>
                <a:gd name="T21" fmla="*/ 1 h 106"/>
                <a:gd name="T22" fmla="*/ 0 w 88"/>
                <a:gd name="T23" fmla="*/ 43 h 106"/>
                <a:gd name="T24" fmla="*/ 0 w 88"/>
                <a:gd name="T25" fmla="*/ 46 h 106"/>
                <a:gd name="T26" fmla="*/ 4 w 88"/>
                <a:gd name="T27" fmla="*/ 4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8" h="106">
                  <a:moveTo>
                    <a:pt x="4" y="46"/>
                  </a:moveTo>
                  <a:cubicBezTo>
                    <a:pt x="42" y="8"/>
                    <a:pt x="42" y="8"/>
                    <a:pt x="42" y="8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2" y="105"/>
                    <a:pt x="43" y="106"/>
                    <a:pt x="44" y="106"/>
                  </a:cubicBezTo>
                  <a:cubicBezTo>
                    <a:pt x="45" y="106"/>
                    <a:pt x="46" y="105"/>
                    <a:pt x="46" y="104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5" y="47"/>
                    <a:pt x="87" y="47"/>
                    <a:pt x="88" y="46"/>
                  </a:cubicBezTo>
                  <a:cubicBezTo>
                    <a:pt x="88" y="45"/>
                    <a:pt x="88" y="44"/>
                    <a:pt x="88" y="43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5" y="0"/>
                    <a:pt x="43" y="0"/>
                    <a:pt x="42" y="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0" y="45"/>
                    <a:pt x="0" y="46"/>
                  </a:cubicBezTo>
                  <a:cubicBezTo>
                    <a:pt x="1" y="47"/>
                    <a:pt x="3" y="47"/>
                    <a:pt x="4" y="4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83"/>
            <p:cNvSpPr/>
            <p:nvPr/>
          </p:nvSpPr>
          <p:spPr bwMode="auto">
            <a:xfrm>
              <a:off x="1528763" y="4557713"/>
              <a:ext cx="481013" cy="71438"/>
            </a:xfrm>
            <a:custGeom>
              <a:avLst/>
              <a:gdLst>
                <a:gd name="T0" fmla="*/ 126 w 128"/>
                <a:gd name="T1" fmla="*/ 0 h 19"/>
                <a:gd name="T2" fmla="*/ 123 w 128"/>
                <a:gd name="T3" fmla="*/ 2 h 19"/>
                <a:gd name="T4" fmla="*/ 123 w 128"/>
                <a:gd name="T5" fmla="*/ 14 h 19"/>
                <a:gd name="T6" fmla="*/ 5 w 128"/>
                <a:gd name="T7" fmla="*/ 14 h 19"/>
                <a:gd name="T8" fmla="*/ 5 w 128"/>
                <a:gd name="T9" fmla="*/ 2 h 19"/>
                <a:gd name="T10" fmla="*/ 2 w 128"/>
                <a:gd name="T11" fmla="*/ 0 h 19"/>
                <a:gd name="T12" fmla="*/ 0 w 128"/>
                <a:gd name="T13" fmla="*/ 2 h 19"/>
                <a:gd name="T14" fmla="*/ 0 w 128"/>
                <a:gd name="T15" fmla="*/ 17 h 19"/>
                <a:gd name="T16" fmla="*/ 2 w 128"/>
                <a:gd name="T17" fmla="*/ 19 h 19"/>
                <a:gd name="T18" fmla="*/ 126 w 128"/>
                <a:gd name="T19" fmla="*/ 19 h 19"/>
                <a:gd name="T20" fmla="*/ 128 w 128"/>
                <a:gd name="T21" fmla="*/ 17 h 19"/>
                <a:gd name="T22" fmla="*/ 128 w 128"/>
                <a:gd name="T23" fmla="*/ 2 h 19"/>
                <a:gd name="T24" fmla="*/ 126 w 128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9">
                  <a:moveTo>
                    <a:pt x="126" y="0"/>
                  </a:moveTo>
                  <a:cubicBezTo>
                    <a:pt x="124" y="0"/>
                    <a:pt x="123" y="1"/>
                    <a:pt x="123" y="2"/>
                  </a:cubicBezTo>
                  <a:cubicBezTo>
                    <a:pt x="123" y="14"/>
                    <a:pt x="123" y="14"/>
                    <a:pt x="123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7" y="19"/>
                    <a:pt x="128" y="18"/>
                    <a:pt x="128" y="17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905546" y="3263577"/>
          <a:ext cx="4786224" cy="1801896"/>
        </p:xfrm>
        <a:graphic>
          <a:graphicData uri="http://schemas.openxmlformats.org/drawingml/2006/table">
            <a:tbl>
              <a:tblPr/>
              <a:tblGrid>
                <a:gridCol w="2393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3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000000"/>
                          </a:solidFill>
                        </a:rPr>
                        <a:t>Pairs </a:t>
                      </a:r>
                      <a:endParaRPr lang="zh-CN" alt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000000"/>
                          </a:solidFill>
                        </a:rPr>
                        <a:t>Similarity</a:t>
                      </a:r>
                      <a:r>
                        <a:rPr lang="zh-CN" altLang="en-US" b="1" dirty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000000"/>
                          </a:solidFill>
                        </a:rPr>
                        <a:t>1-2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0.865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000000"/>
                          </a:solidFill>
                        </a:rPr>
                        <a:t>1-3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0.335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1-4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0.183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753373" y="1744023"/>
                <a:ext cx="3720632" cy="658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i="0" smtClean="0">
                          <a:latin typeface="Cambria Math" panose="02040503050406030204" charset="0"/>
                        </a:rPr>
                        <m:t>Cosine</m:t>
                      </m:r>
                      <m:r>
                        <m:rPr>
                          <m:nor/>
                        </m:rPr>
                        <a:rPr lang="en-US" altLang="zh-CN" i="0" smtClean="0">
                          <a:latin typeface="Cambria Math" panose="0204050305040603020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i="0" smtClean="0">
                          <a:latin typeface="Cambria Math" panose="02040503050406030204" charset="0"/>
                        </a:rPr>
                        <m:t>Similarity</m:t>
                      </m:r>
                      <m:r>
                        <a:rPr lang="en-US" altLang="zh-CN" i="1" smtClean="0">
                          <a:latin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 smtClean="0">
                              <a:latin typeface="Cambria Math" panose="02040503050406030204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smtClean="0">
                                  <a:latin typeface="Cambria Math" panose="02040503050406030204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zh-CN" i="1" smtClean="0">
                          <a:latin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smtClean="0">
                              <a:latin typeface="Cambria Math" panose="02040503050406030204" charset="0"/>
                            </a:rPr>
                            <m:t>𝐀</m:t>
                          </m:r>
                          <m:r>
                            <a:rPr lang="en-US" altLang="zh-CN" i="1" smtClean="0">
                              <a:latin typeface="Cambria Math" panose="02040503050406030204" charset="0"/>
                            </a:rPr>
                            <m:t>⋅</m:t>
                          </m:r>
                          <m:r>
                            <a:rPr lang="en-US" altLang="zh-CN" i="1" smtClean="0">
                              <a:latin typeface="Cambria Math" panose="02040503050406030204" charset="0"/>
                            </a:rPr>
                            <m:t>𝐁</m:t>
                          </m:r>
                        </m:num>
                        <m:den>
                          <m:r>
                            <m:rPr>
                              <m:lit/>
                            </m:rPr>
                            <a:rPr lang="en-US" altLang="zh-CN" i="1" smtClean="0">
                              <a:latin typeface="Cambria Math" panose="02040503050406030204" charset="0"/>
                            </a:rPr>
                            <m:t>|</m:t>
                          </m:r>
                          <m:r>
                            <a:rPr lang="en-US" altLang="zh-CN" i="1" smtClean="0">
                              <a:latin typeface="Cambria Math" panose="02040503050406030204" charset="0"/>
                            </a:rPr>
                            <m:t>𝐀</m:t>
                          </m:r>
                          <m:r>
                            <m:rPr>
                              <m:lit/>
                            </m:rPr>
                            <a:rPr lang="en-US" altLang="zh-CN" i="1" smtClean="0">
                              <a:latin typeface="Cambria Math" panose="02040503050406030204" charset="0"/>
                            </a:rPr>
                            <m:t>|</m:t>
                          </m:r>
                          <m:r>
                            <a:rPr lang="en-US" altLang="zh-CN" i="1" smtClean="0">
                              <a:latin typeface="Cambria Math" panose="02040503050406030204" charset="0"/>
                            </a:rPr>
                            <m:t> </m:t>
                          </m:r>
                          <m:r>
                            <m:rPr>
                              <m:lit/>
                            </m:rPr>
                            <a:rPr lang="en-US" altLang="zh-CN" i="1" smtClean="0">
                              <a:latin typeface="Cambria Math" panose="02040503050406030204" charset="0"/>
                            </a:rPr>
                            <m:t>|</m:t>
                          </m:r>
                          <m:r>
                            <a:rPr lang="en-US" altLang="zh-CN" i="1" smtClean="0">
                              <a:latin typeface="Cambria Math" panose="02040503050406030204" charset="0"/>
                            </a:rPr>
                            <m:t>𝐁</m:t>
                          </m:r>
                          <m:r>
                            <m:rPr>
                              <m:lit/>
                            </m:rPr>
                            <a:rPr lang="en-US" altLang="zh-CN" i="1" smtClean="0">
                              <a:latin typeface="Cambria Math" panose="02040503050406030204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73" y="1744023"/>
                <a:ext cx="3720632" cy="658385"/>
              </a:xfrm>
              <a:prstGeom prst="rect">
                <a:avLst/>
              </a:prstGeom>
              <a:blipFill rotWithShape="1">
                <a:blip r:embed="rId3"/>
                <a:stretch>
                  <a:fillRect l="-7" t="-48" r="12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753373" y="1144438"/>
            <a:ext cx="3778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Calculate the cosine similarity between users. 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48906" y="5152845"/>
            <a:ext cx="3692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User 2 is most similar ! </a:t>
            </a:r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020111"/>
              </p:ext>
            </p:extLst>
          </p:nvPr>
        </p:nvGraphicFramePr>
        <p:xfrm>
          <a:off x="4641011" y="963965"/>
          <a:ext cx="7046346" cy="2218500"/>
        </p:xfrm>
        <a:graphic>
          <a:graphicData uri="http://schemas.openxmlformats.org/drawingml/2006/table">
            <a:tbl>
              <a:tblPr/>
              <a:tblGrid>
                <a:gridCol w="1174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3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43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3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37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1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Movie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Movie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Movie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Movie 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Movie 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User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User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User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User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954155" y="4111925"/>
            <a:ext cx="6245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So we can choose the movie C (user 2 liked) to recommend user 1 to watch!</a:t>
            </a:r>
            <a:endParaRPr lang="zh-CN" altLang="en-US" dirty="0"/>
          </a:p>
        </p:txBody>
      </p:sp>
    </p:spTree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Item-based CF </a:t>
            </a:r>
            <a:endParaRPr lang="zh-CN" altLang="en-US" dirty="0"/>
          </a:p>
        </p:txBody>
      </p:sp>
      <p:grpSp>
        <p:nvGrpSpPr>
          <p:cNvPr id="39" name="组合 38"/>
          <p:cNvGrpSpPr/>
          <p:nvPr/>
        </p:nvGrpSpPr>
        <p:grpSpPr>
          <a:xfrm>
            <a:off x="8672105" y="2913206"/>
            <a:ext cx="481013" cy="454026"/>
            <a:chOff x="1528763" y="4175125"/>
            <a:chExt cx="481013" cy="454026"/>
          </a:xfrm>
          <a:solidFill>
            <a:schemeClr val="bg1"/>
          </a:solidFill>
        </p:grpSpPr>
        <p:sp>
          <p:nvSpPr>
            <p:cNvPr id="40" name="Freeform 82"/>
            <p:cNvSpPr/>
            <p:nvPr/>
          </p:nvSpPr>
          <p:spPr bwMode="auto">
            <a:xfrm>
              <a:off x="1603375" y="4175125"/>
              <a:ext cx="330200" cy="398463"/>
            </a:xfrm>
            <a:custGeom>
              <a:avLst/>
              <a:gdLst>
                <a:gd name="T0" fmla="*/ 4 w 88"/>
                <a:gd name="T1" fmla="*/ 46 h 106"/>
                <a:gd name="T2" fmla="*/ 42 w 88"/>
                <a:gd name="T3" fmla="*/ 8 h 106"/>
                <a:gd name="T4" fmla="*/ 42 w 88"/>
                <a:gd name="T5" fmla="*/ 104 h 106"/>
                <a:gd name="T6" fmla="*/ 44 w 88"/>
                <a:gd name="T7" fmla="*/ 106 h 106"/>
                <a:gd name="T8" fmla="*/ 46 w 88"/>
                <a:gd name="T9" fmla="*/ 104 h 106"/>
                <a:gd name="T10" fmla="*/ 46 w 88"/>
                <a:gd name="T11" fmla="*/ 8 h 106"/>
                <a:gd name="T12" fmla="*/ 84 w 88"/>
                <a:gd name="T13" fmla="*/ 46 h 106"/>
                <a:gd name="T14" fmla="*/ 88 w 88"/>
                <a:gd name="T15" fmla="*/ 46 h 106"/>
                <a:gd name="T16" fmla="*/ 88 w 88"/>
                <a:gd name="T17" fmla="*/ 43 h 106"/>
                <a:gd name="T18" fmla="*/ 46 w 88"/>
                <a:gd name="T19" fmla="*/ 1 h 106"/>
                <a:gd name="T20" fmla="*/ 42 w 88"/>
                <a:gd name="T21" fmla="*/ 1 h 106"/>
                <a:gd name="T22" fmla="*/ 0 w 88"/>
                <a:gd name="T23" fmla="*/ 43 h 106"/>
                <a:gd name="T24" fmla="*/ 0 w 88"/>
                <a:gd name="T25" fmla="*/ 46 h 106"/>
                <a:gd name="T26" fmla="*/ 4 w 88"/>
                <a:gd name="T27" fmla="*/ 4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8" h="106">
                  <a:moveTo>
                    <a:pt x="4" y="46"/>
                  </a:moveTo>
                  <a:cubicBezTo>
                    <a:pt x="42" y="8"/>
                    <a:pt x="42" y="8"/>
                    <a:pt x="42" y="8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2" y="105"/>
                    <a:pt x="43" y="106"/>
                    <a:pt x="44" y="106"/>
                  </a:cubicBezTo>
                  <a:cubicBezTo>
                    <a:pt x="45" y="106"/>
                    <a:pt x="46" y="105"/>
                    <a:pt x="46" y="104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5" y="47"/>
                    <a:pt x="87" y="47"/>
                    <a:pt x="88" y="46"/>
                  </a:cubicBezTo>
                  <a:cubicBezTo>
                    <a:pt x="88" y="45"/>
                    <a:pt x="88" y="44"/>
                    <a:pt x="88" y="43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5" y="0"/>
                    <a:pt x="43" y="0"/>
                    <a:pt x="42" y="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0" y="45"/>
                    <a:pt x="0" y="46"/>
                  </a:cubicBezTo>
                  <a:cubicBezTo>
                    <a:pt x="1" y="47"/>
                    <a:pt x="3" y="47"/>
                    <a:pt x="4" y="4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83"/>
            <p:cNvSpPr/>
            <p:nvPr/>
          </p:nvSpPr>
          <p:spPr bwMode="auto">
            <a:xfrm>
              <a:off x="1528763" y="4557713"/>
              <a:ext cx="481013" cy="71438"/>
            </a:xfrm>
            <a:custGeom>
              <a:avLst/>
              <a:gdLst>
                <a:gd name="T0" fmla="*/ 126 w 128"/>
                <a:gd name="T1" fmla="*/ 0 h 19"/>
                <a:gd name="T2" fmla="*/ 123 w 128"/>
                <a:gd name="T3" fmla="*/ 2 h 19"/>
                <a:gd name="T4" fmla="*/ 123 w 128"/>
                <a:gd name="T5" fmla="*/ 14 h 19"/>
                <a:gd name="T6" fmla="*/ 5 w 128"/>
                <a:gd name="T7" fmla="*/ 14 h 19"/>
                <a:gd name="T8" fmla="*/ 5 w 128"/>
                <a:gd name="T9" fmla="*/ 2 h 19"/>
                <a:gd name="T10" fmla="*/ 2 w 128"/>
                <a:gd name="T11" fmla="*/ 0 h 19"/>
                <a:gd name="T12" fmla="*/ 0 w 128"/>
                <a:gd name="T13" fmla="*/ 2 h 19"/>
                <a:gd name="T14" fmla="*/ 0 w 128"/>
                <a:gd name="T15" fmla="*/ 17 h 19"/>
                <a:gd name="T16" fmla="*/ 2 w 128"/>
                <a:gd name="T17" fmla="*/ 19 h 19"/>
                <a:gd name="T18" fmla="*/ 126 w 128"/>
                <a:gd name="T19" fmla="*/ 19 h 19"/>
                <a:gd name="T20" fmla="*/ 128 w 128"/>
                <a:gd name="T21" fmla="*/ 17 h 19"/>
                <a:gd name="T22" fmla="*/ 128 w 128"/>
                <a:gd name="T23" fmla="*/ 2 h 19"/>
                <a:gd name="T24" fmla="*/ 126 w 128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9">
                  <a:moveTo>
                    <a:pt x="126" y="0"/>
                  </a:moveTo>
                  <a:cubicBezTo>
                    <a:pt x="124" y="0"/>
                    <a:pt x="123" y="1"/>
                    <a:pt x="123" y="2"/>
                  </a:cubicBezTo>
                  <a:cubicBezTo>
                    <a:pt x="123" y="14"/>
                    <a:pt x="123" y="14"/>
                    <a:pt x="123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7" y="19"/>
                    <a:pt x="128" y="18"/>
                    <a:pt x="128" y="17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77850" y="1174870"/>
            <a:ext cx="50637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/>
              <a:t>Calculate the cosine similarity between movies. </a:t>
            </a:r>
          </a:p>
          <a:p>
            <a:r>
              <a:rPr lang="en-US" altLang="zh-CN" dirty="0"/>
              <a:t>2. Because user1 haven’t watch movie c and e, we choose them to calculate.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6908" y="2571410"/>
          <a:ext cx="5828700" cy="2489651"/>
        </p:xfrm>
        <a:graphic>
          <a:graphicData uri="http://schemas.openxmlformats.org/drawingml/2006/table">
            <a:tbl>
              <a:tblPr/>
              <a:tblGrid>
                <a:gridCol w="116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5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5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Target Movie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Seen Movie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Similarity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User1 Rating r(Seen)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Similarity × Rating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Movie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Movie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0.229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1.145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0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1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Movie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0.375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9525" cap="flat" cmpd="sng" algn="ctr">
                      <a:solidFill>
                        <a:srgbClr val="B9D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9525" cap="flat" cmpd="sng" algn="ctr">
                      <a:solidFill>
                        <a:srgbClr val="B9D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1.125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9525" cap="flat" cmpd="sng" algn="ctr">
                      <a:solidFill>
                        <a:srgbClr val="B9D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0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1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9D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Movie 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9D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0.623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9D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9D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0.623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9D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000000"/>
                          </a:solidFill>
                        </a:rPr>
                        <a:t>Sum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9D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9D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2.893</a:t>
                      </a:r>
                      <a:endParaRPr lang="en-US" altLang="zh-CN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9D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269268" y="2571411"/>
          <a:ext cx="5922732" cy="2483980"/>
        </p:xfrm>
        <a:graphic>
          <a:graphicData uri="http://schemas.openxmlformats.org/drawingml/2006/table">
            <a:tbl>
              <a:tblPr/>
              <a:tblGrid>
                <a:gridCol w="1119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4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Target Movie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Seen Movie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Similarity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User1 Rating r(Seen)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Similarity × Rating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Movie 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Movie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0.154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0.770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35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1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Movie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0.289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0.867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35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1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Movie 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0.763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0.763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000000"/>
                          </a:solidFill>
                        </a:rPr>
                        <a:t>Sum</a:t>
                      </a:r>
                      <a:endParaRPr lang="zh-CN" alt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2.400</a:t>
                      </a:r>
                      <a:endParaRPr lang="en-US" altLang="zh-CN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77850" y="5221465"/>
            <a:ext cx="5297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Similarity × Rating → Weighted Contribution</a:t>
            </a:r>
            <a:br>
              <a:rPr lang="en-US" altLang="zh-CN" dirty="0"/>
            </a:br>
            <a:r>
              <a:rPr lang="en-US" altLang="zh-CN" b="1" dirty="0"/>
              <a:t>Sum → Total Weighted Influence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372138" y="5221465"/>
            <a:ext cx="52420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Recommend C!</a:t>
            </a:r>
            <a:endParaRPr lang="zh-CN" alt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3841160" cy="857460"/>
            <a:chOff x="5588007" y="1590635"/>
            <a:chExt cx="3841160" cy="857460"/>
          </a:xfrm>
        </p:grpSpPr>
        <p:sp>
          <p:nvSpPr>
            <p:cNvPr id="19" name="文本框 18"/>
            <p:cNvSpPr txBox="1"/>
            <p:nvPr/>
          </p:nvSpPr>
          <p:spPr>
            <a:xfrm>
              <a:off x="6549853" y="1696200"/>
              <a:ext cx="2879314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zh-CN" sz="3600" b="1" dirty="0">
                  <a:solidFill>
                    <a:prstClr val="black"/>
                  </a:solidFill>
                  <a:latin typeface="Century Gothic" panose="020B0502020202020204" pitchFamily="34" charset="0"/>
                  <a:ea typeface="微软雅黑" panose="020B0503020204020204" charset="-122"/>
                  <a:sym typeface="+mn-lt"/>
                </a:rPr>
                <a:t>CF workflow</a:t>
              </a:r>
              <a:endParaRPr lang="zh-CN" altLang="en-US" sz="3600" b="1" dirty="0">
                <a:solidFill>
                  <a:prstClr val="black"/>
                </a:solidFill>
                <a:latin typeface="Century Gothic" panose="020B0502020202020204" pitchFamily="34" charset="0"/>
                <a:ea typeface="微软雅黑" panose="020B0503020204020204" charset="-122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Century Gothic" panose="020B0502020202020204" pitchFamily="34" charset="0"/>
                  <a:ea typeface="微软雅黑" panose="020B0503020204020204" charset="-122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Workflow </a:t>
            </a:r>
            <a:endParaRPr lang="zh-CN" altLang="en-US" dirty="0"/>
          </a:p>
        </p:txBody>
      </p:sp>
      <p:cxnSp>
        <p:nvCxnSpPr>
          <p:cNvPr id="60" name="直接连接符 59"/>
          <p:cNvCxnSpPr/>
          <p:nvPr/>
        </p:nvCxnSpPr>
        <p:spPr>
          <a:xfrm>
            <a:off x="2482290" y="3081273"/>
            <a:ext cx="1042655" cy="100738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4543179" y="3081273"/>
            <a:ext cx="1049504" cy="100738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610917" y="3081273"/>
            <a:ext cx="1046079" cy="100738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V="1">
            <a:off x="8675230" y="3082953"/>
            <a:ext cx="1046080" cy="100570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/>
        </p:nvGrpSpPr>
        <p:grpSpPr>
          <a:xfrm>
            <a:off x="959233" y="3943214"/>
            <a:ext cx="2037186" cy="1244895"/>
            <a:chOff x="673100" y="3812589"/>
            <a:chExt cx="2037186" cy="1244895"/>
          </a:xfrm>
        </p:grpSpPr>
        <p:sp>
          <p:nvSpPr>
            <p:cNvPr id="70" name="îŝḻîdé"/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600" dirty="0"/>
                <a:t>Gather </a:t>
              </a:r>
              <a:r>
                <a:rPr lang="en-US" altLang="zh-CN" sz="1600" b="1" dirty="0"/>
                <a:t>user–item interactions</a:t>
              </a:r>
              <a:r>
                <a:rPr lang="en-US" altLang="zh-CN" sz="1600" dirty="0"/>
                <a:t> (e.g., ratings, clicks, purchases).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1" name="ïṩḷîdê"/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spcBef>
                  <a:spcPct val="0"/>
                </a:spcBef>
              </a:pPr>
              <a:r>
                <a:rPr lang="en-US" altLang="zh-CN" sz="2000" b="1" dirty="0"/>
                <a:t>Data Collection</a:t>
              </a: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5082602" y="3943214"/>
            <a:ext cx="2037186" cy="1244895"/>
            <a:chOff x="673100" y="3812589"/>
            <a:chExt cx="2037186" cy="1244895"/>
          </a:xfrm>
        </p:grpSpPr>
        <p:sp>
          <p:nvSpPr>
            <p:cNvPr id="73" name="îŝḻîdé"/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600" dirty="0"/>
                <a:t>train a predictive model.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4" name="ïṩḷîdê"/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spcBef>
                  <a:spcPct val="0"/>
                </a:spcBef>
              </a:pPr>
              <a:r>
                <a:rPr lang="en-US" altLang="zh-CN" sz="2000" b="1" dirty="0"/>
                <a:t>Model Training</a:t>
              </a: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/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600" dirty="0"/>
                <a:t>Generate a </a:t>
              </a:r>
              <a:r>
                <a:rPr lang="en-US" altLang="zh-CN" sz="1600" b="1" dirty="0"/>
                <a:t>ranked list of recommended items</a:t>
              </a:r>
              <a:r>
                <a:rPr lang="en-US" altLang="zh-CN" sz="1600" dirty="0"/>
                <a:t> for each user.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/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spcBef>
                  <a:spcPct val="0"/>
                </a:spcBef>
              </a:pPr>
              <a:r>
                <a:rPr lang="en-US" altLang="zh-CN" sz="2000" b="1" dirty="0"/>
                <a:t>Recommendation Output</a:t>
              </a: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/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600" dirty="0"/>
                <a:t>Estimate </a:t>
              </a:r>
              <a:r>
                <a:rPr lang="en-US" altLang="zh-CN" sz="1600" b="1" dirty="0"/>
                <a:t>user preferences</a:t>
              </a:r>
              <a:r>
                <a:rPr lang="en-US" altLang="zh-CN" sz="1600" dirty="0"/>
                <a:t> for unseen items.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/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spcBef>
                  <a:spcPct val="0"/>
                </a:spcBef>
              </a:pPr>
              <a:r>
                <a:rPr lang="en-US" altLang="zh-CN" sz="2000" b="1" dirty="0"/>
                <a:t>Prediction</a:t>
              </a: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3015469" y="1842252"/>
            <a:ext cx="2037186" cy="1364341"/>
            <a:chOff x="3015469" y="1813223"/>
            <a:chExt cx="2037186" cy="1364341"/>
          </a:xfrm>
        </p:grpSpPr>
        <p:sp>
          <p:nvSpPr>
            <p:cNvPr id="82" name="îŝḻîdé"/>
            <p:cNvSpPr/>
            <p:nvPr/>
          </p:nvSpPr>
          <p:spPr bwMode="auto">
            <a:xfrm>
              <a:off x="3015469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600" dirty="0"/>
                <a:t>Compute </a:t>
              </a:r>
              <a:r>
                <a:rPr lang="en-US" altLang="zh-CN" sz="1600" b="1" dirty="0"/>
                <a:t>similarities</a:t>
              </a:r>
              <a:r>
                <a:rPr lang="en-US" altLang="zh-CN" sz="1600" dirty="0"/>
                <a:t> between users or items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3" name="ïṩḷîdê"/>
            <p:cNvSpPr txBox="1"/>
            <p:nvPr/>
          </p:nvSpPr>
          <p:spPr bwMode="auto">
            <a:xfrm>
              <a:off x="3156174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spcBef>
                  <a:spcPct val="0"/>
                </a:spcBef>
              </a:pPr>
              <a:r>
                <a:rPr lang="en-US" altLang="zh-CN" sz="2000" b="1" dirty="0"/>
                <a:t>Similarity Computation</a:t>
              </a: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84" name="等腰三角形 83"/>
          <p:cNvSpPr/>
          <p:nvPr/>
        </p:nvSpPr>
        <p:spPr>
          <a:xfrm>
            <a:off x="1857722" y="3462518"/>
            <a:ext cx="252545" cy="217711"/>
          </a:xfrm>
          <a:prstGeom prst="triangle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85" name="等腰三角形 84"/>
          <p:cNvSpPr/>
          <p:nvPr/>
        </p:nvSpPr>
        <p:spPr>
          <a:xfrm>
            <a:off x="5969727" y="3462518"/>
            <a:ext cx="252545" cy="217711"/>
          </a:xfrm>
          <a:prstGeom prst="triangle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86" name="等腰三角形 85"/>
          <p:cNvSpPr/>
          <p:nvPr/>
        </p:nvSpPr>
        <p:spPr>
          <a:xfrm>
            <a:off x="10104154" y="3462518"/>
            <a:ext cx="252545" cy="217711"/>
          </a:xfrm>
          <a:prstGeom prst="triangle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87" name="等腰三角形 86"/>
          <p:cNvSpPr/>
          <p:nvPr/>
        </p:nvSpPr>
        <p:spPr>
          <a:xfrm flipV="1">
            <a:off x="8039841" y="3462518"/>
            <a:ext cx="252545" cy="217711"/>
          </a:xfrm>
          <a:prstGeom prst="triangle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88" name="等腰三角形 87"/>
          <p:cNvSpPr/>
          <p:nvPr/>
        </p:nvSpPr>
        <p:spPr>
          <a:xfrm flipV="1">
            <a:off x="3902346" y="3462518"/>
            <a:ext cx="252545" cy="217711"/>
          </a:xfrm>
          <a:prstGeom prst="triangle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45838E-2762-3E46-6988-74055E3C7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856" y="1785440"/>
            <a:ext cx="1484434" cy="129379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2393C27-57E6-B247-6ABF-6D02F9014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774" y="4088657"/>
            <a:ext cx="1958177" cy="125989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BB452CD-CF0A-0977-FF3C-8FEE59B58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0144" y="1696598"/>
            <a:ext cx="1755776" cy="138263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40E128F-1829-6E07-C648-5B3E4FDEE0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669" y="4123921"/>
            <a:ext cx="1574887" cy="151338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3823BD4-58FD-6C93-6201-08A07483D7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9415" y="1706799"/>
            <a:ext cx="1939605" cy="1354064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6595119" cy="857460"/>
            <a:chOff x="5588007" y="1590635"/>
            <a:chExt cx="6595119" cy="857460"/>
          </a:xfrm>
        </p:grpSpPr>
        <p:sp>
          <p:nvSpPr>
            <p:cNvPr id="19" name="文本框 18"/>
            <p:cNvSpPr txBox="1"/>
            <p:nvPr/>
          </p:nvSpPr>
          <p:spPr>
            <a:xfrm>
              <a:off x="6549853" y="1696200"/>
              <a:ext cx="5633273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zh-CN" sz="3600" b="1" dirty="0">
                  <a:solidFill>
                    <a:prstClr val="black"/>
                  </a:solidFill>
                  <a:latin typeface="Century Gothic" panose="020B0502020202020204" pitchFamily="34" charset="0"/>
                  <a:ea typeface="微软雅黑" panose="020B0503020204020204" charset="-122"/>
                  <a:sym typeface="+mn-lt"/>
                </a:rPr>
                <a:t>Challenge and solution </a:t>
              </a:r>
              <a:endParaRPr lang="zh-CN" altLang="en-US" sz="3600" b="1" dirty="0">
                <a:solidFill>
                  <a:prstClr val="black"/>
                </a:solidFill>
                <a:latin typeface="Century Gothic" panose="020B0502020202020204" pitchFamily="34" charset="0"/>
                <a:ea typeface="微软雅黑" panose="020B0503020204020204" charset="-122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rPr>
                <a:t>4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</p:spPr>
        <p:txBody>
          <a:bodyPr/>
          <a:lstStyle/>
          <a:p>
            <a:r>
              <a:rPr lang="en-US" altLang="zh-CN" dirty="0"/>
              <a:t>Pros</a:t>
            </a:r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7B82EF6-30C4-4B2A-81CB-67B7A3B1BC8B}"/>
              </a:ext>
            </a:extLst>
          </p:cNvPr>
          <p:cNvGrpSpPr/>
          <p:nvPr/>
        </p:nvGrpSpPr>
        <p:grpSpPr>
          <a:xfrm>
            <a:off x="2673819" y="1414624"/>
            <a:ext cx="3273369" cy="1529493"/>
            <a:chOff x="2673819" y="1526767"/>
            <a:chExt cx="3273369" cy="1529493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2A43CB9-142A-428C-92B3-7F809E33B2FC}"/>
                </a:ext>
              </a:extLst>
            </p:cNvPr>
            <p:cNvSpPr/>
            <p:nvPr/>
          </p:nvSpPr>
          <p:spPr>
            <a:xfrm>
              <a:off x="4076785" y="1558445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6FEE9BC-B961-4035-AED7-758020A67F8C}"/>
                </a:ext>
              </a:extLst>
            </p:cNvPr>
            <p:cNvSpPr/>
            <p:nvPr/>
          </p:nvSpPr>
          <p:spPr>
            <a:xfrm>
              <a:off x="4035058" y="1526767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C91A019-CEE9-4118-86F9-58F17466C871}"/>
                </a:ext>
              </a:extLst>
            </p:cNvPr>
            <p:cNvSpPr txBox="1"/>
            <p:nvPr/>
          </p:nvSpPr>
          <p:spPr>
            <a:xfrm>
              <a:off x="2673819" y="2191796"/>
              <a:ext cx="32733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zh-CN" b="1" spc="300" dirty="0">
                  <a:solidFill>
                    <a:schemeClr val="accent4"/>
                  </a:solidFill>
                  <a:cs typeface="Times New Roman" panose="02020603050405020304" pitchFamily="18" charset="0"/>
                </a:rPr>
                <a:t>Does not rely on item content</a:t>
              </a:r>
              <a:endParaRPr kumimoji="0" lang="zh-CN" altLang="en-US" b="1" i="0" u="none" strike="noStrike" kern="0" cap="none" spc="30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9B54065-2A95-4A77-89E3-D702A5EBD8B9}"/>
                </a:ext>
              </a:extLst>
            </p:cNvPr>
            <p:cNvSpPr txBox="1"/>
            <p:nvPr/>
          </p:nvSpPr>
          <p:spPr>
            <a:xfrm>
              <a:off x="2673819" y="2731235"/>
              <a:ext cx="3273369" cy="32502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7B2D0AE-D415-4C2A-A6F1-A2F1581FB2BE}"/>
              </a:ext>
            </a:extLst>
          </p:cNvPr>
          <p:cNvGrpSpPr/>
          <p:nvPr/>
        </p:nvGrpSpPr>
        <p:grpSpPr>
          <a:xfrm>
            <a:off x="6244814" y="1414624"/>
            <a:ext cx="3273369" cy="1529493"/>
            <a:chOff x="6244814" y="1526767"/>
            <a:chExt cx="3273369" cy="1529493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457BA12D-AD05-4D78-A340-396E79C50788}"/>
                </a:ext>
              </a:extLst>
            </p:cNvPr>
            <p:cNvSpPr/>
            <p:nvPr/>
          </p:nvSpPr>
          <p:spPr>
            <a:xfrm>
              <a:off x="7647780" y="1558445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BB424AFF-CEE3-497E-B352-3AB5A43B722B}"/>
                </a:ext>
              </a:extLst>
            </p:cNvPr>
            <p:cNvSpPr/>
            <p:nvPr/>
          </p:nvSpPr>
          <p:spPr>
            <a:xfrm>
              <a:off x="7606053" y="1526767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2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4EB7766-6C16-42BA-B49E-B9AAB36DE8CF}"/>
                </a:ext>
              </a:extLst>
            </p:cNvPr>
            <p:cNvSpPr txBox="1"/>
            <p:nvPr/>
          </p:nvSpPr>
          <p:spPr>
            <a:xfrm>
              <a:off x="6244814" y="2191796"/>
              <a:ext cx="3273369" cy="777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just">
                <a:lnSpc>
                  <a:spcPct val="130000"/>
                </a:lnSpc>
              </a:pPr>
              <a:r>
                <a:rPr lang="en-US" altLang="zh-CN" b="1" spc="300" dirty="0">
                  <a:solidFill>
                    <a:schemeClr val="accent4"/>
                  </a:solidFill>
                  <a:cs typeface="Times New Roman" panose="02020603050405020304" pitchFamily="18" charset="0"/>
                </a:rPr>
                <a:t>Recommend </a:t>
              </a:r>
            </a:p>
            <a:p>
              <a:pPr lvl="0" algn="just">
                <a:lnSpc>
                  <a:spcPct val="130000"/>
                </a:lnSpc>
              </a:pPr>
              <a:r>
                <a:rPr lang="en-US" altLang="zh-CN" b="1" spc="300" dirty="0">
                  <a:solidFill>
                    <a:schemeClr val="accent4"/>
                  </a:solidFill>
                  <a:cs typeface="Times New Roman" panose="02020603050405020304" pitchFamily="18" charset="0"/>
                </a:rPr>
                <a:t>non-obvious items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2479119-2211-4336-8F06-9C9F87A793DD}"/>
                </a:ext>
              </a:extLst>
            </p:cNvPr>
            <p:cNvSpPr txBox="1"/>
            <p:nvPr/>
          </p:nvSpPr>
          <p:spPr>
            <a:xfrm>
              <a:off x="6244814" y="2731235"/>
              <a:ext cx="3273369" cy="32502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7FB38355-6987-4B19-99F9-222FB41E8104}"/>
              </a:ext>
            </a:extLst>
          </p:cNvPr>
          <p:cNvGrpSpPr/>
          <p:nvPr/>
        </p:nvGrpSpPr>
        <p:grpSpPr>
          <a:xfrm>
            <a:off x="4473829" y="3833752"/>
            <a:ext cx="3273369" cy="1529493"/>
            <a:chOff x="4459315" y="3916867"/>
            <a:chExt cx="3273369" cy="152949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918C3664-0853-491A-BE9B-D4A2794AF64C}"/>
                </a:ext>
              </a:extLst>
            </p:cNvPr>
            <p:cNvSpPr/>
            <p:nvPr/>
          </p:nvSpPr>
          <p:spPr>
            <a:xfrm>
              <a:off x="5862281" y="3948545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931803C4-482D-4365-980C-415AD0E8AAAC}"/>
                </a:ext>
              </a:extLst>
            </p:cNvPr>
            <p:cNvSpPr/>
            <p:nvPr/>
          </p:nvSpPr>
          <p:spPr>
            <a:xfrm>
              <a:off x="5820554" y="3916867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4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3DFC2586-BDBD-44D5-BBFA-48FCD92892AA}"/>
                </a:ext>
              </a:extLst>
            </p:cNvPr>
            <p:cNvSpPr txBox="1"/>
            <p:nvPr/>
          </p:nvSpPr>
          <p:spPr>
            <a:xfrm>
              <a:off x="4459315" y="4581896"/>
              <a:ext cx="3273369" cy="417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30000"/>
                </a:lnSpc>
              </a:pPr>
              <a:r>
                <a:rPr lang="en-US" altLang="zh-CN" b="1" spc="300" dirty="0">
                  <a:solidFill>
                    <a:schemeClr val="accent4"/>
                  </a:solidFill>
                  <a:cs typeface="Times New Roman" panose="02020603050405020304" pitchFamily="18" charset="0"/>
                </a:rPr>
                <a:t>personalization</a:t>
              </a:r>
              <a:endParaRPr lang="en-US" altLang="zh-CN" spc="300" dirty="0">
                <a:solidFill>
                  <a:schemeClr val="accent4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61BC0EB4-12F7-4F37-8544-5BF315D05CFC}"/>
                </a:ext>
              </a:extLst>
            </p:cNvPr>
            <p:cNvSpPr txBox="1"/>
            <p:nvPr/>
          </p:nvSpPr>
          <p:spPr>
            <a:xfrm>
              <a:off x="4459315" y="5121335"/>
              <a:ext cx="3273369" cy="32502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70EE628E-4E4E-45AC-BC8C-5B9B5B8C2BD2}"/>
              </a:ext>
            </a:extLst>
          </p:cNvPr>
          <p:cNvGrpSpPr/>
          <p:nvPr/>
        </p:nvGrpSpPr>
        <p:grpSpPr>
          <a:xfrm>
            <a:off x="7896012" y="3836927"/>
            <a:ext cx="3273369" cy="1523143"/>
            <a:chOff x="7881498" y="3926541"/>
            <a:chExt cx="3273369" cy="1523143"/>
          </a:xfrm>
        </p:grpSpPr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0F681F8E-B076-4E4C-88EB-41F1D7D4F718}"/>
                </a:ext>
              </a:extLst>
            </p:cNvPr>
            <p:cNvSpPr/>
            <p:nvPr/>
          </p:nvSpPr>
          <p:spPr>
            <a:xfrm>
              <a:off x="9284464" y="3958219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30D17495-3BDC-4527-8562-91D730CD654F}"/>
                </a:ext>
              </a:extLst>
            </p:cNvPr>
            <p:cNvSpPr/>
            <p:nvPr/>
          </p:nvSpPr>
          <p:spPr>
            <a:xfrm>
              <a:off x="9242737" y="3926541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5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F8339EA-9CBA-4E24-B5E3-FF4A85E07C02}"/>
                </a:ext>
              </a:extLst>
            </p:cNvPr>
            <p:cNvSpPr txBox="1"/>
            <p:nvPr/>
          </p:nvSpPr>
          <p:spPr>
            <a:xfrm>
              <a:off x="7881498" y="4591570"/>
              <a:ext cx="32733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i="0" u="none" strike="noStrike" kern="0" cap="none" spc="30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privacy</a:t>
              </a:r>
              <a:endParaRPr kumimoji="0" lang="zh-CN" altLang="en-US" b="1" i="0" u="none" strike="noStrike" kern="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A6F76D48-7DAA-467C-9AFC-9FD318CB0373}"/>
                </a:ext>
              </a:extLst>
            </p:cNvPr>
            <p:cNvSpPr txBox="1"/>
            <p:nvPr/>
          </p:nvSpPr>
          <p:spPr>
            <a:xfrm>
              <a:off x="7881498" y="5124659"/>
              <a:ext cx="3273369" cy="32502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4DCF633A-213F-41CC-89C2-7F067A88A0EA}"/>
              </a:ext>
            </a:extLst>
          </p:cNvPr>
          <p:cNvGrpSpPr/>
          <p:nvPr/>
        </p:nvGrpSpPr>
        <p:grpSpPr>
          <a:xfrm>
            <a:off x="1051648" y="3833752"/>
            <a:ext cx="3273369" cy="1529493"/>
            <a:chOff x="1037134" y="3929346"/>
            <a:chExt cx="3273369" cy="1529493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024D736E-26A5-4106-A34E-FF3B9CBBF605}"/>
                </a:ext>
              </a:extLst>
            </p:cNvPr>
            <p:cNvSpPr/>
            <p:nvPr/>
          </p:nvSpPr>
          <p:spPr>
            <a:xfrm>
              <a:off x="2440100" y="3961024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D5F9009D-C0F8-44B2-897A-3AEEB0508B56}"/>
                </a:ext>
              </a:extLst>
            </p:cNvPr>
            <p:cNvSpPr/>
            <p:nvPr/>
          </p:nvSpPr>
          <p:spPr>
            <a:xfrm>
              <a:off x="2398373" y="3929346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3F49B9B3-DE29-4347-B6C2-B1208531A7A9}"/>
                </a:ext>
              </a:extLst>
            </p:cNvPr>
            <p:cNvSpPr txBox="1"/>
            <p:nvPr/>
          </p:nvSpPr>
          <p:spPr>
            <a:xfrm>
              <a:off x="1037134" y="4594375"/>
              <a:ext cx="3273369" cy="777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just">
                <a:lnSpc>
                  <a:spcPct val="130000"/>
                </a:lnSpc>
              </a:pPr>
              <a:r>
                <a:rPr lang="en-US" altLang="zh-CN" b="1" spc="300" dirty="0">
                  <a:solidFill>
                    <a:schemeClr val="accent4"/>
                  </a:solidFill>
                  <a:cs typeface="Times New Roman" panose="02020603050405020304" pitchFamily="18" charset="0"/>
                </a:rPr>
                <a:t>Mature, efficient, and effective</a:t>
              </a:r>
              <a:r>
                <a:rPr lang="en-US" altLang="zh-CN" spc="300" dirty="0">
                  <a:solidFill>
                    <a:schemeClr val="accent4"/>
                  </a:solidFill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6B8069EE-72A5-46CD-980A-F639DEEE7FDF}"/>
                </a:ext>
              </a:extLst>
            </p:cNvPr>
            <p:cNvSpPr txBox="1"/>
            <p:nvPr/>
          </p:nvSpPr>
          <p:spPr>
            <a:xfrm>
              <a:off x="1037134" y="5133814"/>
              <a:ext cx="3273369" cy="32502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2033350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</a:t>
            </a:r>
            <a:endParaRPr lang="zh-CN" altLang="en-US" dirty="0"/>
          </a:p>
        </p:txBody>
      </p:sp>
      <p:sp>
        <p:nvSpPr>
          <p:cNvPr id="28" name="ïṡḷiḑé">
            <a:extLst>
              <a:ext uri="{FF2B5EF4-FFF2-40B4-BE49-F238E27FC236}">
                <a16:creationId xmlns:a16="http://schemas.microsoft.com/office/drawing/2014/main" id="{50EA57CD-874A-4580-95FD-44A33D4F7D94}"/>
              </a:ext>
            </a:extLst>
          </p:cNvPr>
          <p:cNvSpPr/>
          <p:nvPr/>
        </p:nvSpPr>
        <p:spPr>
          <a:xfrm>
            <a:off x="673100" y="3075545"/>
            <a:ext cx="3002626" cy="446763"/>
          </a:xfrm>
          <a:prstGeom prst="rect">
            <a:avLst/>
          </a:prstGeom>
        </p:spPr>
        <p:txBody>
          <a:bodyPr wrap="square" anchor="ctr" anchorCtr="0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accent4"/>
                </a:solidFill>
              </a:rPr>
              <a:t>Sparsity</a:t>
            </a:r>
            <a:endParaRPr kumimoji="0" lang="zh-CN" altLang="en-US" sz="2000" b="1" i="0" u="none" strike="noStrike" kern="1200" cap="none" spc="10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îṣlîḍe">
            <a:extLst>
              <a:ext uri="{FF2B5EF4-FFF2-40B4-BE49-F238E27FC236}">
                <a16:creationId xmlns:a16="http://schemas.microsoft.com/office/drawing/2014/main" id="{7014AA80-CFD0-49EB-B233-BD3EE94D2B82}"/>
              </a:ext>
            </a:extLst>
          </p:cNvPr>
          <p:cNvSpPr/>
          <p:nvPr/>
        </p:nvSpPr>
        <p:spPr>
          <a:xfrm>
            <a:off x="4594664" y="3078720"/>
            <a:ext cx="3002629" cy="446763"/>
          </a:xfrm>
          <a:prstGeom prst="rect">
            <a:avLst/>
          </a:prstGeom>
        </p:spPr>
        <p:txBody>
          <a:bodyPr wrap="square" anchor="ctr" anchorCtr="0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accent4"/>
                </a:solidFill>
              </a:rPr>
              <a:t>Cold-start</a:t>
            </a:r>
            <a:endParaRPr kumimoji="0" lang="zh-CN" altLang="en-US" sz="2000" b="1" i="0" u="none" strike="noStrike" kern="1200" cap="none" spc="10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íšļîďé">
            <a:extLst>
              <a:ext uri="{FF2B5EF4-FFF2-40B4-BE49-F238E27FC236}">
                <a16:creationId xmlns:a16="http://schemas.microsoft.com/office/drawing/2014/main" id="{85852859-67EA-4161-B8EB-210A5F685713}"/>
              </a:ext>
            </a:extLst>
          </p:cNvPr>
          <p:cNvSpPr/>
          <p:nvPr/>
        </p:nvSpPr>
        <p:spPr>
          <a:xfrm>
            <a:off x="8516259" y="3081895"/>
            <a:ext cx="3002633" cy="446763"/>
          </a:xfrm>
          <a:prstGeom prst="rect">
            <a:avLst/>
          </a:prstGeom>
        </p:spPr>
        <p:txBody>
          <a:bodyPr wrap="square" anchor="ctr" anchorCtr="0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accent4"/>
                </a:solidFill>
              </a:rPr>
              <a:t>Scalability</a:t>
            </a:r>
            <a:endParaRPr kumimoji="0" lang="zh-CN" altLang="en-US" sz="2000" b="1" i="0" u="none" strike="noStrike" kern="1200" cap="none" spc="10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CD65917-32AC-487D-A210-C43A5172AAFA}"/>
              </a:ext>
            </a:extLst>
          </p:cNvPr>
          <p:cNvCxnSpPr>
            <a:cxnSpLocks/>
          </p:cNvCxnSpPr>
          <p:nvPr/>
        </p:nvCxnSpPr>
        <p:spPr>
          <a:xfrm>
            <a:off x="673100" y="2876435"/>
            <a:ext cx="0" cy="2933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5C8AC8C-D8E6-4594-B344-FC2FF77FFDFA}"/>
              </a:ext>
            </a:extLst>
          </p:cNvPr>
          <p:cNvCxnSpPr>
            <a:cxnSpLocks/>
          </p:cNvCxnSpPr>
          <p:nvPr/>
        </p:nvCxnSpPr>
        <p:spPr>
          <a:xfrm>
            <a:off x="4594664" y="2876435"/>
            <a:ext cx="0" cy="2933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59DD52C-B29A-48CB-81E4-DEE1389D8A83}"/>
              </a:ext>
            </a:extLst>
          </p:cNvPr>
          <p:cNvCxnSpPr>
            <a:cxnSpLocks/>
          </p:cNvCxnSpPr>
          <p:nvPr/>
        </p:nvCxnSpPr>
        <p:spPr>
          <a:xfrm>
            <a:off x="8516259" y="2876435"/>
            <a:ext cx="0" cy="2933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íś1îdè">
            <a:extLst>
              <a:ext uri="{FF2B5EF4-FFF2-40B4-BE49-F238E27FC236}">
                <a16:creationId xmlns:a16="http://schemas.microsoft.com/office/drawing/2014/main" id="{405B7E3D-A36F-4435-8962-8BF98C7365BC}"/>
              </a:ext>
            </a:extLst>
          </p:cNvPr>
          <p:cNvSpPr/>
          <p:nvPr/>
        </p:nvSpPr>
        <p:spPr>
          <a:xfrm>
            <a:off x="11268393" y="5629772"/>
            <a:ext cx="500997" cy="516860"/>
          </a:xfrm>
          <a:custGeom>
            <a:avLst/>
            <a:gdLst>
              <a:gd name="connsiteX0" fmla="*/ 437277 w 581518"/>
              <a:gd name="connsiteY0" fmla="*/ 409440 h 599930"/>
              <a:gd name="connsiteX1" fmla="*/ 396550 w 581518"/>
              <a:gd name="connsiteY1" fmla="*/ 450118 h 599930"/>
              <a:gd name="connsiteX2" fmla="*/ 437277 w 581518"/>
              <a:gd name="connsiteY2" fmla="*/ 490795 h 599930"/>
              <a:gd name="connsiteX3" fmla="*/ 478005 w 581518"/>
              <a:gd name="connsiteY3" fmla="*/ 450118 h 599930"/>
              <a:gd name="connsiteX4" fmla="*/ 437277 w 581518"/>
              <a:gd name="connsiteY4" fmla="*/ 409440 h 599930"/>
              <a:gd name="connsiteX5" fmla="*/ 144240 w 581518"/>
              <a:gd name="connsiteY5" fmla="*/ 409440 h 599930"/>
              <a:gd name="connsiteX6" fmla="*/ 103513 w 581518"/>
              <a:gd name="connsiteY6" fmla="*/ 450118 h 599930"/>
              <a:gd name="connsiteX7" fmla="*/ 144240 w 581518"/>
              <a:gd name="connsiteY7" fmla="*/ 490795 h 599930"/>
              <a:gd name="connsiteX8" fmla="*/ 184967 w 581518"/>
              <a:gd name="connsiteY8" fmla="*/ 450118 h 599930"/>
              <a:gd name="connsiteX9" fmla="*/ 144240 w 581518"/>
              <a:gd name="connsiteY9" fmla="*/ 409440 h 599930"/>
              <a:gd name="connsiteX10" fmla="*/ 227681 w 581518"/>
              <a:gd name="connsiteY10" fmla="*/ 234825 h 599930"/>
              <a:gd name="connsiteX11" fmla="*/ 159140 w 581518"/>
              <a:gd name="connsiteY11" fmla="*/ 296337 h 599930"/>
              <a:gd name="connsiteX12" fmla="*/ 154173 w 581518"/>
              <a:gd name="connsiteY12" fmla="*/ 344952 h 599930"/>
              <a:gd name="connsiteX13" fmla="*/ 427344 w 581518"/>
              <a:gd name="connsiteY13" fmla="*/ 344952 h 599930"/>
              <a:gd name="connsiteX14" fmla="*/ 422377 w 581518"/>
              <a:gd name="connsiteY14" fmla="*/ 296337 h 599930"/>
              <a:gd name="connsiteX15" fmla="*/ 353836 w 581518"/>
              <a:gd name="connsiteY15" fmla="*/ 234825 h 599930"/>
              <a:gd name="connsiteX16" fmla="*/ 346883 w 581518"/>
              <a:gd name="connsiteY16" fmla="*/ 234825 h 599930"/>
              <a:gd name="connsiteX17" fmla="*/ 346883 w 581518"/>
              <a:gd name="connsiteY17" fmla="*/ 249707 h 599930"/>
              <a:gd name="connsiteX18" fmla="*/ 323042 w 581518"/>
              <a:gd name="connsiteY18" fmla="*/ 273518 h 599930"/>
              <a:gd name="connsiteX19" fmla="*/ 258475 w 581518"/>
              <a:gd name="connsiteY19" fmla="*/ 273518 h 599930"/>
              <a:gd name="connsiteX20" fmla="*/ 234634 w 581518"/>
              <a:gd name="connsiteY20" fmla="*/ 249707 h 599930"/>
              <a:gd name="connsiteX21" fmla="*/ 234634 w 581518"/>
              <a:gd name="connsiteY21" fmla="*/ 234825 h 599930"/>
              <a:gd name="connsiteX22" fmla="*/ 227681 w 581518"/>
              <a:gd name="connsiteY22" fmla="*/ 193155 h 599930"/>
              <a:gd name="connsiteX23" fmla="*/ 353836 w 581518"/>
              <a:gd name="connsiteY23" fmla="*/ 193155 h 599930"/>
              <a:gd name="connsiteX24" fmla="*/ 463105 w 581518"/>
              <a:gd name="connsiteY24" fmla="*/ 292369 h 599930"/>
              <a:gd name="connsiteX25" fmla="*/ 468071 w 581518"/>
              <a:gd name="connsiteY25" fmla="*/ 344952 h 599930"/>
              <a:gd name="connsiteX26" fmla="*/ 481978 w 581518"/>
              <a:gd name="connsiteY26" fmla="*/ 344952 h 599930"/>
              <a:gd name="connsiteX27" fmla="*/ 504825 w 581518"/>
              <a:gd name="connsiteY27" fmla="*/ 364794 h 599930"/>
              <a:gd name="connsiteX28" fmla="*/ 524692 w 581518"/>
              <a:gd name="connsiteY28" fmla="*/ 477898 h 599930"/>
              <a:gd name="connsiteX29" fmla="*/ 514759 w 581518"/>
              <a:gd name="connsiteY29" fmla="*/ 516591 h 599930"/>
              <a:gd name="connsiteX30" fmla="*/ 478998 w 581518"/>
              <a:gd name="connsiteY30" fmla="*/ 533457 h 599930"/>
              <a:gd name="connsiteX31" fmla="*/ 478998 w 581518"/>
              <a:gd name="connsiteY31" fmla="*/ 552308 h 599930"/>
              <a:gd name="connsiteX32" fmla="*/ 431317 w 581518"/>
              <a:gd name="connsiteY32" fmla="*/ 599930 h 599930"/>
              <a:gd name="connsiteX33" fmla="*/ 416417 w 581518"/>
              <a:gd name="connsiteY33" fmla="*/ 599930 h 599930"/>
              <a:gd name="connsiteX34" fmla="*/ 368736 w 581518"/>
              <a:gd name="connsiteY34" fmla="*/ 552308 h 599930"/>
              <a:gd name="connsiteX35" fmla="*/ 368736 w 581518"/>
              <a:gd name="connsiteY35" fmla="*/ 534449 h 599930"/>
              <a:gd name="connsiteX36" fmla="*/ 212781 w 581518"/>
              <a:gd name="connsiteY36" fmla="*/ 534449 h 599930"/>
              <a:gd name="connsiteX37" fmla="*/ 212781 w 581518"/>
              <a:gd name="connsiteY37" fmla="*/ 552308 h 599930"/>
              <a:gd name="connsiteX38" fmla="*/ 165100 w 581518"/>
              <a:gd name="connsiteY38" fmla="*/ 599930 h 599930"/>
              <a:gd name="connsiteX39" fmla="*/ 150200 w 581518"/>
              <a:gd name="connsiteY39" fmla="*/ 599930 h 599930"/>
              <a:gd name="connsiteX40" fmla="*/ 102519 w 581518"/>
              <a:gd name="connsiteY40" fmla="*/ 552308 h 599930"/>
              <a:gd name="connsiteX41" fmla="*/ 102519 w 581518"/>
              <a:gd name="connsiteY41" fmla="*/ 533457 h 599930"/>
              <a:gd name="connsiteX42" fmla="*/ 67752 w 581518"/>
              <a:gd name="connsiteY42" fmla="*/ 516591 h 599930"/>
              <a:gd name="connsiteX43" fmla="*/ 56825 w 581518"/>
              <a:gd name="connsiteY43" fmla="*/ 477898 h 599930"/>
              <a:gd name="connsiteX44" fmla="*/ 76692 w 581518"/>
              <a:gd name="connsiteY44" fmla="*/ 364794 h 599930"/>
              <a:gd name="connsiteX45" fmla="*/ 100532 w 581518"/>
              <a:gd name="connsiteY45" fmla="*/ 344952 h 599930"/>
              <a:gd name="connsiteX46" fmla="*/ 113446 w 581518"/>
              <a:gd name="connsiteY46" fmla="*/ 344952 h 599930"/>
              <a:gd name="connsiteX47" fmla="*/ 118413 w 581518"/>
              <a:gd name="connsiteY47" fmla="*/ 292369 h 599930"/>
              <a:gd name="connsiteX48" fmla="*/ 227681 w 581518"/>
              <a:gd name="connsiteY48" fmla="*/ 193155 h 599930"/>
              <a:gd name="connsiteX49" fmla="*/ 291256 w 581518"/>
              <a:gd name="connsiteY49" fmla="*/ 0 h 599930"/>
              <a:gd name="connsiteX50" fmla="*/ 324037 w 581518"/>
              <a:gd name="connsiteY50" fmla="*/ 9676 h 599930"/>
              <a:gd name="connsiteX51" fmla="*/ 566417 w 581518"/>
              <a:gd name="connsiteY51" fmla="*/ 167472 h 599930"/>
              <a:gd name="connsiteX52" fmla="*/ 576351 w 581518"/>
              <a:gd name="connsiteY52" fmla="*/ 213124 h 599930"/>
              <a:gd name="connsiteX53" fmla="*/ 548536 w 581518"/>
              <a:gd name="connsiteY53" fmla="*/ 228010 h 599930"/>
              <a:gd name="connsiteX54" fmla="*/ 530656 w 581518"/>
              <a:gd name="connsiteY54" fmla="*/ 223048 h 599930"/>
              <a:gd name="connsiteX55" fmla="*/ 291256 w 581518"/>
              <a:gd name="connsiteY55" fmla="*/ 66244 h 599930"/>
              <a:gd name="connsiteX56" fmla="*/ 50862 w 581518"/>
              <a:gd name="connsiteY56" fmla="*/ 223048 h 599930"/>
              <a:gd name="connsiteX57" fmla="*/ 5167 w 581518"/>
              <a:gd name="connsiteY57" fmla="*/ 213124 h 599930"/>
              <a:gd name="connsiteX58" fmla="*/ 15101 w 581518"/>
              <a:gd name="connsiteY58" fmla="*/ 168464 h 599930"/>
              <a:gd name="connsiteX59" fmla="*/ 258475 w 581518"/>
              <a:gd name="connsiteY59" fmla="*/ 9676 h 599930"/>
              <a:gd name="connsiteX60" fmla="*/ 291256 w 581518"/>
              <a:gd name="connsiteY60" fmla="*/ 0 h 599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81518" h="599930">
                <a:moveTo>
                  <a:pt x="437277" y="409440"/>
                </a:moveTo>
                <a:cubicBezTo>
                  <a:pt x="415424" y="409440"/>
                  <a:pt x="396550" y="428291"/>
                  <a:pt x="396550" y="450118"/>
                </a:cubicBezTo>
                <a:cubicBezTo>
                  <a:pt x="396550" y="472937"/>
                  <a:pt x="415424" y="490795"/>
                  <a:pt x="437277" y="490795"/>
                </a:cubicBezTo>
                <a:cubicBezTo>
                  <a:pt x="460124" y="490795"/>
                  <a:pt x="478005" y="472937"/>
                  <a:pt x="478005" y="450118"/>
                </a:cubicBezTo>
                <a:cubicBezTo>
                  <a:pt x="478005" y="428291"/>
                  <a:pt x="460124" y="409440"/>
                  <a:pt x="437277" y="409440"/>
                </a:cubicBezTo>
                <a:close/>
                <a:moveTo>
                  <a:pt x="144240" y="409440"/>
                </a:moveTo>
                <a:cubicBezTo>
                  <a:pt x="122386" y="409440"/>
                  <a:pt x="103513" y="428291"/>
                  <a:pt x="103513" y="450118"/>
                </a:cubicBezTo>
                <a:cubicBezTo>
                  <a:pt x="103513" y="472937"/>
                  <a:pt x="122386" y="490795"/>
                  <a:pt x="144240" y="490795"/>
                </a:cubicBezTo>
                <a:cubicBezTo>
                  <a:pt x="167087" y="490795"/>
                  <a:pt x="184967" y="472937"/>
                  <a:pt x="184967" y="450118"/>
                </a:cubicBezTo>
                <a:cubicBezTo>
                  <a:pt x="184967" y="428291"/>
                  <a:pt x="167087" y="409440"/>
                  <a:pt x="144240" y="409440"/>
                </a:cubicBezTo>
                <a:close/>
                <a:moveTo>
                  <a:pt x="227681" y="234825"/>
                </a:moveTo>
                <a:cubicBezTo>
                  <a:pt x="191921" y="234825"/>
                  <a:pt x="163113" y="260620"/>
                  <a:pt x="159140" y="296337"/>
                </a:cubicBezTo>
                <a:lnTo>
                  <a:pt x="154173" y="344952"/>
                </a:lnTo>
                <a:lnTo>
                  <a:pt x="427344" y="344952"/>
                </a:lnTo>
                <a:lnTo>
                  <a:pt x="422377" y="296337"/>
                </a:lnTo>
                <a:cubicBezTo>
                  <a:pt x="419397" y="260620"/>
                  <a:pt x="389597" y="234825"/>
                  <a:pt x="353836" y="234825"/>
                </a:cubicBezTo>
                <a:lnTo>
                  <a:pt x="346883" y="234825"/>
                </a:lnTo>
                <a:lnTo>
                  <a:pt x="346883" y="249707"/>
                </a:lnTo>
                <a:cubicBezTo>
                  <a:pt x="346883" y="262605"/>
                  <a:pt x="335956" y="273518"/>
                  <a:pt x="323042" y="273518"/>
                </a:cubicBezTo>
                <a:lnTo>
                  <a:pt x="258475" y="273518"/>
                </a:lnTo>
                <a:cubicBezTo>
                  <a:pt x="245561" y="273518"/>
                  <a:pt x="234634" y="262605"/>
                  <a:pt x="234634" y="249707"/>
                </a:cubicBezTo>
                <a:lnTo>
                  <a:pt x="234634" y="234825"/>
                </a:lnTo>
                <a:close/>
                <a:moveTo>
                  <a:pt x="227681" y="193155"/>
                </a:moveTo>
                <a:lnTo>
                  <a:pt x="353836" y="193155"/>
                </a:lnTo>
                <a:cubicBezTo>
                  <a:pt x="410457" y="193155"/>
                  <a:pt x="458138" y="235817"/>
                  <a:pt x="463105" y="292369"/>
                </a:cubicBezTo>
                <a:lnTo>
                  <a:pt x="468071" y="344952"/>
                </a:lnTo>
                <a:lnTo>
                  <a:pt x="481978" y="344952"/>
                </a:lnTo>
                <a:cubicBezTo>
                  <a:pt x="492905" y="344952"/>
                  <a:pt x="502838" y="353881"/>
                  <a:pt x="504825" y="364794"/>
                </a:cubicBezTo>
                <a:lnTo>
                  <a:pt x="524692" y="477898"/>
                </a:lnTo>
                <a:cubicBezTo>
                  <a:pt x="527672" y="491788"/>
                  <a:pt x="523699" y="505677"/>
                  <a:pt x="514759" y="516591"/>
                </a:cubicBezTo>
                <a:cubicBezTo>
                  <a:pt x="505818" y="527504"/>
                  <a:pt x="492905" y="533457"/>
                  <a:pt x="478998" y="533457"/>
                </a:cubicBezTo>
                <a:lnTo>
                  <a:pt x="478998" y="552308"/>
                </a:lnTo>
                <a:cubicBezTo>
                  <a:pt x="478998" y="579095"/>
                  <a:pt x="458138" y="599930"/>
                  <a:pt x="431317" y="599930"/>
                </a:cubicBezTo>
                <a:lnTo>
                  <a:pt x="416417" y="599930"/>
                </a:lnTo>
                <a:cubicBezTo>
                  <a:pt x="389597" y="599930"/>
                  <a:pt x="368736" y="579095"/>
                  <a:pt x="368736" y="552308"/>
                </a:cubicBezTo>
                <a:lnTo>
                  <a:pt x="368736" y="534449"/>
                </a:lnTo>
                <a:lnTo>
                  <a:pt x="212781" y="534449"/>
                </a:lnTo>
                <a:lnTo>
                  <a:pt x="212781" y="552308"/>
                </a:lnTo>
                <a:cubicBezTo>
                  <a:pt x="212781" y="579095"/>
                  <a:pt x="191921" y="599930"/>
                  <a:pt x="165100" y="599930"/>
                </a:cubicBezTo>
                <a:lnTo>
                  <a:pt x="150200" y="599930"/>
                </a:lnTo>
                <a:cubicBezTo>
                  <a:pt x="123379" y="599930"/>
                  <a:pt x="102519" y="579095"/>
                  <a:pt x="102519" y="552308"/>
                </a:cubicBezTo>
                <a:lnTo>
                  <a:pt x="102519" y="533457"/>
                </a:lnTo>
                <a:cubicBezTo>
                  <a:pt x="88612" y="533457"/>
                  <a:pt x="75699" y="527504"/>
                  <a:pt x="67752" y="516591"/>
                </a:cubicBezTo>
                <a:cubicBezTo>
                  <a:pt x="57819" y="505677"/>
                  <a:pt x="53845" y="491788"/>
                  <a:pt x="56825" y="477898"/>
                </a:cubicBezTo>
                <a:lnTo>
                  <a:pt x="76692" y="364794"/>
                </a:lnTo>
                <a:cubicBezTo>
                  <a:pt x="78679" y="353881"/>
                  <a:pt x="88612" y="344952"/>
                  <a:pt x="100532" y="344952"/>
                </a:cubicBezTo>
                <a:lnTo>
                  <a:pt x="113446" y="344952"/>
                </a:lnTo>
                <a:lnTo>
                  <a:pt x="118413" y="292369"/>
                </a:lnTo>
                <a:cubicBezTo>
                  <a:pt x="124373" y="235817"/>
                  <a:pt x="171060" y="193155"/>
                  <a:pt x="227681" y="193155"/>
                </a:cubicBezTo>
                <a:close/>
                <a:moveTo>
                  <a:pt x="291256" y="0"/>
                </a:moveTo>
                <a:cubicBezTo>
                  <a:pt x="302680" y="0"/>
                  <a:pt x="314103" y="3226"/>
                  <a:pt x="324037" y="9676"/>
                </a:cubicBezTo>
                <a:lnTo>
                  <a:pt x="566417" y="167472"/>
                </a:lnTo>
                <a:cubicBezTo>
                  <a:pt x="581317" y="177396"/>
                  <a:pt x="586284" y="198237"/>
                  <a:pt x="576351" y="213124"/>
                </a:cubicBezTo>
                <a:cubicBezTo>
                  <a:pt x="570390" y="223048"/>
                  <a:pt x="559463" y="228010"/>
                  <a:pt x="548536" y="228010"/>
                </a:cubicBezTo>
                <a:cubicBezTo>
                  <a:pt x="542576" y="228010"/>
                  <a:pt x="536616" y="226025"/>
                  <a:pt x="530656" y="223048"/>
                </a:cubicBezTo>
                <a:lnTo>
                  <a:pt x="291256" y="66244"/>
                </a:lnTo>
                <a:lnTo>
                  <a:pt x="50862" y="223048"/>
                </a:lnTo>
                <a:cubicBezTo>
                  <a:pt x="35962" y="232972"/>
                  <a:pt x="15101" y="228010"/>
                  <a:pt x="5167" y="213124"/>
                </a:cubicBezTo>
                <a:cubicBezTo>
                  <a:pt x="-4766" y="198237"/>
                  <a:pt x="201" y="178388"/>
                  <a:pt x="15101" y="168464"/>
                </a:cubicBezTo>
                <a:lnTo>
                  <a:pt x="258475" y="9676"/>
                </a:lnTo>
                <a:cubicBezTo>
                  <a:pt x="268409" y="3226"/>
                  <a:pt x="279832" y="0"/>
                  <a:pt x="291256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C6899A-7529-FFCD-AFC0-B15E10F34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724" y="912406"/>
            <a:ext cx="2373517" cy="21502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678BC9A-4AAC-1A0D-9242-78BC383F0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6214" y="980781"/>
            <a:ext cx="2604952" cy="21502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9011831-5AB3-F0A8-4CF9-A15898641E58}"/>
              </a:ext>
            </a:extLst>
          </p:cNvPr>
          <p:cNvSpPr txBox="1"/>
          <p:nvPr/>
        </p:nvSpPr>
        <p:spPr>
          <a:xfrm>
            <a:off x="606006" y="3546928"/>
            <a:ext cx="40557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Suppose on Taobao there are billions of users and billions of items. A typical user (e.g., User1) may purchase only about 10 items — far fewer than the total number of available products. Similarly, an item (e.g., Item1) may be purchased by only around 100 users. As a result, the </a:t>
            </a:r>
            <a:r>
              <a:rPr lang="en-US" altLang="zh-CN" sz="1400" b="1" dirty="0"/>
              <a:t>user–item interaction matrix</a:t>
            </a:r>
            <a:r>
              <a:rPr lang="en-US" altLang="zh-CN" sz="1400" dirty="0"/>
              <a:t> becomes extremely </a:t>
            </a:r>
            <a:r>
              <a:rPr lang="en-US" altLang="zh-CN" sz="1400" b="1" dirty="0"/>
              <a:t>sparse</a:t>
            </a:r>
            <a:r>
              <a:rPr lang="en-US" altLang="zh-CN" sz="1400" dirty="0"/>
              <a:t>, since most users have interacted with only a tiny fraction of all items.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3FB2C5-526B-5193-8630-6C430F982641}"/>
              </a:ext>
            </a:extLst>
          </p:cNvPr>
          <p:cNvSpPr txBox="1"/>
          <p:nvPr/>
        </p:nvSpPr>
        <p:spPr>
          <a:xfrm>
            <a:off x="4561110" y="3527806"/>
            <a:ext cx="40557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When new users sign up for a website, we know very little about them. Since there isn’t enough data to calculate similarities with other users, the data becomes sparse, making it difficult to generate accurate recommendations.</a:t>
            </a:r>
            <a:endParaRPr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2C63B1A-4554-7215-5FF1-C00D1FE2A2A0}"/>
              </a:ext>
            </a:extLst>
          </p:cNvPr>
          <p:cNvSpPr txBox="1"/>
          <p:nvPr/>
        </p:nvSpPr>
        <p:spPr>
          <a:xfrm>
            <a:off x="8459389" y="3510809"/>
            <a:ext cx="32169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The computational cost increases with the number of users and items, since we need to calculate similarities between every pair of users or items, which makes the process very expensive.</a:t>
            </a:r>
            <a:endParaRPr lang="zh-CN" altLang="en-US" sz="1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12E4E74-FC10-6078-0A27-47CB3C9BF46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6" y="886834"/>
            <a:ext cx="2195061" cy="219506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D70E3D1-01C8-F1E1-DD35-B84C344B9060}"/>
              </a:ext>
            </a:extLst>
          </p:cNvPr>
          <p:cNvSpPr txBox="1"/>
          <p:nvPr/>
        </p:nvSpPr>
        <p:spPr>
          <a:xfrm>
            <a:off x="1246138" y="2935509"/>
            <a:ext cx="21814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accent4"/>
                </a:solidFill>
              </a:rPr>
              <a:t>u1 u2  u3 u4  u5 u6  u7 u8 u9 u10</a:t>
            </a:r>
            <a:endParaRPr lang="zh-CN" altLang="en-US" sz="900" b="1" dirty="0">
              <a:solidFill>
                <a:schemeClr val="accent4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6CFF209-7CA0-F716-85D2-6869AE84FAF0}"/>
              </a:ext>
            </a:extLst>
          </p:cNvPr>
          <p:cNvSpPr txBox="1"/>
          <p:nvPr/>
        </p:nvSpPr>
        <p:spPr>
          <a:xfrm>
            <a:off x="981908" y="980781"/>
            <a:ext cx="353943" cy="207014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100" b="1" dirty="0">
                <a:solidFill>
                  <a:schemeClr val="accent4"/>
                </a:solidFill>
              </a:rPr>
              <a:t>I10  i9 i8 i7 i6 i5 i4  i3  i2  i1</a:t>
            </a:r>
            <a:endParaRPr lang="zh-CN" altLang="en-US" sz="1100" b="1" dirty="0">
              <a:solidFill>
                <a:schemeClr val="accent4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5D61B97-B85C-BD8E-0D8A-F44A6EF384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2586" y="2487872"/>
            <a:ext cx="246994" cy="290218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C2E5C155-3093-88EE-23C1-14B6AB16E1B8}"/>
              </a:ext>
            </a:extLst>
          </p:cNvPr>
          <p:cNvSpPr txBox="1"/>
          <p:nvPr/>
        </p:nvSpPr>
        <p:spPr>
          <a:xfrm>
            <a:off x="3598619" y="2496649"/>
            <a:ext cx="60969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accent4"/>
                </a:solidFill>
              </a:rPr>
              <a:t>buy</a:t>
            </a:r>
          </a:p>
        </p:txBody>
      </p:sp>
    </p:spTree>
    <p:extLst>
      <p:ext uri="{BB962C8B-B14F-4D97-AF65-F5344CB8AC3E}">
        <p14:creationId xmlns:p14="http://schemas.microsoft.com/office/powerpoint/2010/main" val="580347253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deal with </a:t>
            </a:r>
            <a:r>
              <a:rPr lang="en-US" altLang="zh-CN" spc="300" dirty="0">
                <a:solidFill>
                  <a:srgbClr val="000000">
                    <a:lumMod val="85000"/>
                    <a:lumOff val="15000"/>
                  </a:srgbClr>
                </a:solidFill>
              </a:rPr>
              <a:t>Sparsity</a:t>
            </a:r>
            <a:r>
              <a:rPr lang="en-US" altLang="zh-CN" dirty="0"/>
              <a:t>?</a:t>
            </a:r>
            <a:endParaRPr lang="zh-CN" altLang="en-US" dirty="0"/>
          </a:p>
        </p:txBody>
      </p:sp>
      <p:grpSp>
        <p:nvGrpSpPr>
          <p:cNvPr id="75" name="组合 74"/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/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/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/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/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15550" y="1383344"/>
            <a:ext cx="663257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model:</a:t>
            </a:r>
            <a:r>
              <a:rPr lang="zh-CN" altLang="en-US" dirty="0"/>
              <a:t> </a:t>
            </a:r>
            <a:r>
              <a:rPr lang="en-US" altLang="zh-CN" b="1" dirty="0"/>
              <a:t>Latent Factor Model, LFM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B048F0B-A172-99DC-437D-7B16F65E3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631077"/>
              </p:ext>
            </p:extLst>
          </p:nvPr>
        </p:nvGraphicFramePr>
        <p:xfrm>
          <a:off x="1864474" y="2118376"/>
          <a:ext cx="812800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573583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54278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Traditional question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LFM pros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044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accent4"/>
                          </a:solidFill>
                        </a:rPr>
                        <a:t>Sparsity</a:t>
                      </a:r>
                      <a:endParaRPr kumimoji="0" lang="zh-CN" altLang="en-US" sz="1800" b="1" i="0" u="none" strike="noStrike" kern="1200" cap="none" spc="100" normalizeH="0" baseline="0" noProof="0" dirty="0">
                        <a:ln>
                          <a:noFill/>
                        </a:ln>
                        <a:solidFill>
                          <a:schemeClr val="accent4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No longer rely on </a:t>
                      </a:r>
                      <a:r>
                        <a:rPr lang="en-US" altLang="zh-CN" b="1" dirty="0"/>
                        <a:t>direct similarity</a:t>
                      </a:r>
                      <a:r>
                        <a:rPr lang="en-US" altLang="zh-CN" dirty="0"/>
                        <a:t> between users or items.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972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accent4"/>
                          </a:solidFill>
                        </a:rPr>
                        <a:t>Similarity is hard to calculate </a:t>
                      </a:r>
                      <a:endParaRPr lang="zh-CN" altLang="en-US" b="1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Learn </a:t>
                      </a:r>
                      <a:r>
                        <a:rPr lang="en-US" altLang="zh-CN" b="1" dirty="0"/>
                        <a:t>indirect associations</a:t>
                      </a:r>
                      <a:r>
                        <a:rPr lang="en-US" altLang="zh-CN" dirty="0"/>
                        <a:t> through a latent feature space.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098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accent4"/>
                          </a:solidFill>
                        </a:rPr>
                        <a:t>Generalization </a:t>
                      </a:r>
                      <a:endParaRPr lang="zh-CN" altLang="en-US" b="1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Can </a:t>
                      </a:r>
                      <a:r>
                        <a:rPr lang="en-US" altLang="zh-CN" b="1" dirty="0"/>
                        <a:t>predict user preferences</a:t>
                      </a:r>
                      <a:r>
                        <a:rPr lang="en-US" altLang="zh-CN" dirty="0"/>
                        <a:t> for unseen item, based on latent features.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3431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5D3EF90-7973-E19B-360B-C15308FB575E}"/>
              </a:ext>
            </a:extLst>
          </p:cNvPr>
          <p:cNvSpPr txBox="1"/>
          <p:nvPr/>
        </p:nvSpPr>
        <p:spPr>
          <a:xfrm>
            <a:off x="561739" y="4756116"/>
            <a:ext cx="107334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1. Goal: </a:t>
            </a:r>
            <a:r>
              <a:rPr lang="en-US" altLang="zh-CN" dirty="0"/>
              <a:t>To uncover </a:t>
            </a:r>
            <a:r>
              <a:rPr lang="en-US" altLang="zh-CN" b="1" dirty="0"/>
              <a:t>hidden features</a:t>
            </a:r>
            <a:r>
              <a:rPr lang="en-US" altLang="zh-CN" dirty="0"/>
              <a:t> that explain why certain ratings or preferences occur.</a:t>
            </a:r>
            <a:br>
              <a:rPr lang="en-US" altLang="zh-CN" dirty="0"/>
            </a:br>
            <a:r>
              <a:rPr lang="en-US" altLang="zh-CN" b="1" dirty="0"/>
              <a:t>2. Method: Dimensionality Reduction via Matrix Factorization</a:t>
            </a:r>
            <a:br>
              <a:rPr lang="en-US" altLang="zh-CN" dirty="0"/>
            </a:br>
            <a:r>
              <a:rPr lang="en-US" altLang="zh-CN" dirty="0"/>
              <a:t>Collaborative filtering heavily relies on historical data, which is often </a:t>
            </a:r>
            <a:r>
              <a:rPr lang="en-US" altLang="zh-CN" b="1" dirty="0"/>
              <a:t>sparse</a:t>
            </a:r>
            <a:r>
              <a:rPr lang="en-US" altLang="zh-CN" dirty="0"/>
              <a:t> in real-world systems. Therefore, </a:t>
            </a:r>
            <a:r>
              <a:rPr lang="en-US" altLang="zh-CN" b="1" dirty="0"/>
              <a:t>matrix factorization</a:t>
            </a:r>
            <a:r>
              <a:rPr lang="en-US" altLang="zh-CN" dirty="0"/>
              <a:t> is used to reduce dimensionality, producing latent representations of users and items that reflect their underlying characteristics.</a:t>
            </a:r>
          </a:p>
        </p:txBody>
      </p:sp>
    </p:spTree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933F-CCB5-36BF-1B4F-55CCCACDC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2D2F64-E0E1-AF7B-59DD-581F535DE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en-US" altLang="zh-CN" dirty="0"/>
              <a:t>Matrix Factorization, MF</a:t>
            </a:r>
            <a:endParaRPr lang="zh-CN" altLang="en-US" dirty="0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3E43FACF-F5A0-C782-6550-05A8828AD1C9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5F22CD1E-BFF7-A1FE-1D9D-C618E2B44981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326B5AE2-6F22-ADC3-7B10-8160C9FBBFFE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F5D05E3C-C0F5-DE15-1881-8923F7ECC606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8F193E09-9C6C-F63C-01A3-46D962483773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F0A3C044-98F4-A2B2-331B-FC741B47AE3B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E8A8E55-0992-D789-0D46-D0274B7A1294}"/>
              </a:ext>
            </a:extLst>
          </p:cNvPr>
          <p:cNvSpPr txBox="1"/>
          <p:nvPr/>
        </p:nvSpPr>
        <p:spPr>
          <a:xfrm>
            <a:off x="488437" y="1283568"/>
            <a:ext cx="107001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first step is to understand how to </a:t>
            </a:r>
            <a:r>
              <a:rPr lang="en-US" altLang="zh-CN" b="1" dirty="0"/>
              <a:t>factorize the user–item rating matrix into two latent feature matrices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en-US" altLang="zh-CN" dirty="0"/>
              <a:t>Thus, it is crucial to learn </a:t>
            </a:r>
            <a:r>
              <a:rPr lang="en-US" altLang="zh-CN" b="1" dirty="0"/>
              <a:t>classical matrix factorization methods</a:t>
            </a:r>
            <a:r>
              <a:rPr lang="en-US" altLang="zh-CN" dirty="0"/>
              <a:t>, as they form the </a:t>
            </a:r>
            <a:r>
              <a:rPr lang="en-US" altLang="zh-CN" b="1" dirty="0"/>
              <a:t>foundation of latent factor models </a:t>
            </a:r>
            <a:r>
              <a:rPr lang="en-US" altLang="zh-CN" dirty="0"/>
              <a:t>in recommender systems.</a:t>
            </a:r>
          </a:p>
        </p:txBody>
      </p:sp>
      <p:pic>
        <p:nvPicPr>
          <p:cNvPr id="3076" name="Picture 4" descr="在这里插入图片描述">
            <a:extLst>
              <a:ext uri="{FF2B5EF4-FFF2-40B4-BE49-F238E27FC236}">
                <a16:creationId xmlns:a16="http://schemas.microsoft.com/office/drawing/2014/main" id="{E5AC230F-A628-CE46-4DED-6FFF32E96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05" y="2745994"/>
            <a:ext cx="5696651" cy="333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924E4FA-EFF2-DBCE-750B-DE7408E86A1D}"/>
              </a:ext>
            </a:extLst>
          </p:cNvPr>
          <p:cNvSpPr txBox="1"/>
          <p:nvPr/>
        </p:nvSpPr>
        <p:spPr>
          <a:xfrm>
            <a:off x="7288831" y="3333868"/>
            <a:ext cx="34056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Classical method:</a:t>
            </a:r>
          </a:p>
          <a:p>
            <a:pPr marL="342900" indent="-342900">
              <a:buAutoNum type="arabicPeriod"/>
            </a:pPr>
            <a:r>
              <a:rPr lang="zh-CN" altLang="en-US" sz="20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Eigen Decomposition</a:t>
            </a:r>
            <a:endParaRPr lang="en-US" altLang="zh-CN" sz="20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en-US" altLang="zh-CN" sz="2000" b="1" dirty="0">
              <a:latin typeface="华文中宋" panose="02010600040101010101" charset="-122"/>
              <a:ea typeface="华文中宋" panose="02010600040101010101" charset="-122"/>
            </a:endParaRPr>
          </a:p>
          <a:p>
            <a:r>
              <a:rPr lang="en-US" altLang="zh-CN" sz="20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2. </a:t>
            </a:r>
            <a:r>
              <a:rPr lang="zh-CN" altLang="en-US" sz="20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Singular Value Decomposition </a:t>
            </a:r>
            <a:r>
              <a:rPr lang="en-US" altLang="zh-CN" sz="20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(SVD)</a:t>
            </a:r>
            <a:endParaRPr lang="en-US" altLang="zh-CN" sz="2000" b="1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2279710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0D2CE-4CD1-DB58-760F-0AB61B165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1F31F-CCF5-07B5-FF07-7ADF6B42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>
                <a:latin typeface="+mj-lt"/>
                <a:ea typeface="华文中宋" panose="02010600040101010101" charset="-122"/>
                <a:cs typeface="华文中宋" panose="02010600040101010101" charset="-122"/>
              </a:rPr>
              <a:t>Eigen Decomposition</a:t>
            </a:r>
            <a:endParaRPr lang="en-US" altLang="zh-CN" dirty="0">
              <a:latin typeface="+mj-lt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6195766-FE49-7670-9659-A2F011FD7344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1265A421-378F-431F-9990-6175FCB79FE7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076D1EBF-81B5-3FD7-B0F1-1A0011B2DF2D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3B8495A-2E3C-E61C-041F-B8D5FF276F8F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E50397B5-7965-51B0-099D-CE47F229C3EC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EC08B73D-AD4D-BF7C-B732-7C30AAB446C8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536691E1-6040-DED3-3C9E-BE885D2EE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87" y="920079"/>
            <a:ext cx="7332589" cy="261843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BA76E4F-F125-830E-8F5A-399E365B0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87" y="3538518"/>
            <a:ext cx="7091806" cy="140981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53B2DAC-AA41-E0A7-A137-C2EA34B2C963}"/>
              </a:ext>
            </a:extLst>
          </p:cNvPr>
          <p:cNvPicPr>
            <a:picLocks/>
          </p:cNvPicPr>
          <p:nvPr/>
        </p:nvPicPr>
        <p:blipFill>
          <a:blip r:embed="rId5"/>
          <a:srcRect l="1" r="369" b="30302"/>
          <a:stretch>
            <a:fillRect/>
          </a:stretch>
        </p:blipFill>
        <p:spPr>
          <a:xfrm>
            <a:off x="321487" y="4948336"/>
            <a:ext cx="6545032" cy="103218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E6531E0-F312-872D-1ED9-D45A4151C37F}"/>
              </a:ext>
            </a:extLst>
          </p:cNvPr>
          <p:cNvPicPr>
            <a:picLocks/>
          </p:cNvPicPr>
          <p:nvPr/>
        </p:nvPicPr>
        <p:blipFill>
          <a:blip r:embed="rId6"/>
          <a:srcRect l="646" r="25731"/>
          <a:stretch>
            <a:fillRect/>
          </a:stretch>
        </p:blipFill>
        <p:spPr>
          <a:xfrm>
            <a:off x="5928474" y="967290"/>
            <a:ext cx="6200222" cy="961501"/>
          </a:xfrm>
          <a:prstGeom prst="round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1BBFA30-56EC-1F6D-65F2-3740CE42C5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2159" y="1959886"/>
            <a:ext cx="5382375" cy="223868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0E81B26-B491-29EC-F222-A1C36E39EA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4676" y="4151764"/>
            <a:ext cx="5956382" cy="137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51330"/>
      </p:ext>
    </p:extLst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13B17-57DE-AC23-3863-978F3FB8A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8D429-03CB-37E3-79ED-0759AD599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>
                <a:latin typeface="+mj-lt"/>
                <a:ea typeface="华文中宋" panose="02010600040101010101" charset="-122"/>
                <a:cs typeface="华文中宋" panose="02010600040101010101" charset="-122"/>
                <a:sym typeface="+mn-ea"/>
              </a:rPr>
              <a:t>Singular Value Decomposition </a:t>
            </a:r>
            <a:r>
              <a:rPr lang="en-US" altLang="zh-CN" dirty="0">
                <a:latin typeface="+mj-lt"/>
                <a:ea typeface="华文中宋" panose="02010600040101010101" charset="-122"/>
                <a:cs typeface="华文中宋" panose="02010600040101010101" charset="-122"/>
                <a:sym typeface="+mn-ea"/>
              </a:rPr>
              <a:t>(SVD)</a:t>
            </a:r>
            <a:endParaRPr lang="zh-CN" altLang="en-US" dirty="0">
              <a:latin typeface="+mj-lt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6162C7C-B179-C9E1-0F17-7F00A36B7770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9B5D8D48-9712-7D61-1E69-B778F8D1CC3F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619824A9-824D-DB68-6457-8F5063BA8633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18C4CF18-E05F-F27D-B311-8CD32D6B58FD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05413D1E-EF50-7DDE-BD23-6FDFAC8B55FB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CCF69198-3733-78C0-8F5A-01398EDA1A15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1198791-7A1C-B6D7-94E8-34F0EBB2B564}"/>
              </a:ext>
            </a:extLst>
          </p:cNvPr>
          <p:cNvSpPr txBox="1"/>
          <p:nvPr/>
        </p:nvSpPr>
        <p:spPr>
          <a:xfrm>
            <a:off x="653143" y="1141580"/>
            <a:ext cx="5156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But not all matrix is n*n…</a:t>
            </a:r>
          </a:p>
          <a:p>
            <a:r>
              <a:rPr lang="en-US" altLang="zh-CN" b="1" dirty="0"/>
              <a:t>Here we introduce more general way : SVD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08C707F-87E6-D341-6558-EECA15234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21" y="2105043"/>
            <a:ext cx="7654151" cy="22726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1583095-06A5-1143-44F8-7EC0E35CB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06" y="4611028"/>
            <a:ext cx="7271235" cy="90551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4CCB222-8FAF-EC59-1B67-653B737566E3}"/>
              </a:ext>
            </a:extLst>
          </p:cNvPr>
          <p:cNvSpPr txBox="1"/>
          <p:nvPr/>
        </p:nvSpPr>
        <p:spPr>
          <a:xfrm>
            <a:off x="9262944" y="3286115"/>
            <a:ext cx="2173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Rotational</a:t>
            </a:r>
            <a:endParaRPr lang="zh-CN" altLang="en-US" sz="12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C475B77-B02D-1654-C90F-0975ECB67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4712" y="917335"/>
            <a:ext cx="2371372" cy="230707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87A23B3-DF6E-CE1F-D151-7B00ADE5C2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4712" y="3624817"/>
            <a:ext cx="2752104" cy="209399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BD7611A-69C3-2871-83BE-4F8C1FD057C5}"/>
              </a:ext>
            </a:extLst>
          </p:cNvPr>
          <p:cNvSpPr txBox="1"/>
          <p:nvPr/>
        </p:nvSpPr>
        <p:spPr>
          <a:xfrm>
            <a:off x="7301041" y="5749882"/>
            <a:ext cx="60969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length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71840305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62A7A-CFBB-C799-B05F-2590BDEE4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2F363-9DF2-DD72-69A8-43A2A0DD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>
                <a:latin typeface="+mj-lt"/>
                <a:ea typeface="华文中宋" panose="02010600040101010101" charset="-122"/>
                <a:cs typeface="华文中宋" panose="02010600040101010101" charset="-122"/>
                <a:sym typeface="+mn-ea"/>
              </a:rPr>
              <a:t>Singular Value Decomposition </a:t>
            </a:r>
            <a:r>
              <a:rPr lang="en-US" altLang="zh-CN" dirty="0">
                <a:latin typeface="+mj-lt"/>
                <a:ea typeface="华文中宋" panose="02010600040101010101" charset="-122"/>
                <a:cs typeface="华文中宋" panose="02010600040101010101" charset="-122"/>
                <a:sym typeface="+mn-ea"/>
              </a:rPr>
              <a:t>(SVD)</a:t>
            </a:r>
            <a:endParaRPr lang="zh-CN" altLang="en-US" dirty="0">
              <a:latin typeface="+mj-lt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865E5924-56D0-99DB-F609-D20CA7601EA8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3BB1ABB8-F20D-195F-2AA2-A343FAA5F99B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1E1A1E87-F45E-2A62-16DA-CC3C3D2E8317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DFD15E05-585D-A1A6-EFFD-E52D4C96C93A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24BC5044-F8E8-1CB7-79E5-95E606B4DF9A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4E147CDB-1DFE-F2B2-762F-AC8119A159B7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DBB25988-1E9E-5117-3C6B-8BBBF76B9B09}"/>
              </a:ext>
            </a:extLst>
          </p:cNvPr>
          <p:cNvSpPr txBox="1"/>
          <p:nvPr/>
        </p:nvSpPr>
        <p:spPr>
          <a:xfrm>
            <a:off x="694649" y="1148684"/>
            <a:ext cx="6096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How to calculate?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35C8FB2-4FFB-19DB-7D81-498E119DF757}"/>
                  </a:ext>
                </a:extLst>
              </p:cNvPr>
              <p:cNvSpPr txBox="1"/>
              <p:nvPr/>
            </p:nvSpPr>
            <p:spPr>
              <a:xfrm>
                <a:off x="694649" y="1627913"/>
                <a:ext cx="609698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For a </a:t>
                </a:r>
                <a:r>
                  <a:rPr lang="en-US" altLang="zh-CN" b="1" dirty="0"/>
                  <a:t>non-square matrix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dirty="0"/>
                  <a:t>, we can compute its </a:t>
                </a:r>
                <a:r>
                  <a:rPr lang="en-US" altLang="zh-CN" b="1" dirty="0"/>
                  <a:t>SVD (Singular Value Decomposition)</a:t>
                </a:r>
                <a:r>
                  <a:rPr lang="en-US" altLang="zh-CN" dirty="0"/>
                  <a:t> as follows: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35C8FB2-4FFB-19DB-7D81-498E119DF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49" y="1627913"/>
                <a:ext cx="6096982" cy="646331"/>
              </a:xfrm>
              <a:prstGeom prst="rect">
                <a:avLst/>
              </a:prstGeom>
              <a:blipFill>
                <a:blip r:embed="rId3"/>
                <a:stretch>
                  <a:fillRect l="-900" t="-471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BD761F41-64E9-AD39-3BFF-6962FCF44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49" y="2482662"/>
            <a:ext cx="2953162" cy="10669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BCAAFBF-68D9-F703-7170-6155FB653E44}"/>
                  </a:ext>
                </a:extLst>
              </p:cNvPr>
              <p:cNvSpPr txBox="1"/>
              <p:nvPr/>
            </p:nvSpPr>
            <p:spPr>
              <a:xfrm>
                <a:off x="599320" y="3644014"/>
                <a:ext cx="60969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Step 1: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zh-CN" altLang="ar-AE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BCAAFBF-68D9-F703-7170-6155FB653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20" y="3644014"/>
                <a:ext cx="6096982" cy="369332"/>
              </a:xfrm>
              <a:prstGeom prst="rect">
                <a:avLst/>
              </a:prstGeom>
              <a:blipFill>
                <a:blip r:embed="rId5"/>
                <a:stretch>
                  <a:fillRect l="-800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9517C95A-879E-791F-E06C-7E6642531C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649" y="3963357"/>
            <a:ext cx="5070721" cy="132629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2586622-1661-8128-8326-B4095608AAC1}"/>
              </a:ext>
            </a:extLst>
          </p:cNvPr>
          <p:cNvSpPr txBox="1"/>
          <p:nvPr/>
        </p:nvSpPr>
        <p:spPr>
          <a:xfrm>
            <a:off x="653354" y="5339984"/>
            <a:ext cx="6096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Step 2: Solve for eigenvalues and eigenvectors</a:t>
            </a:r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803CCC4-0D52-3655-7946-A16935A461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1631" y="920192"/>
            <a:ext cx="3991093" cy="18086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A03F7DE-0B88-8E28-C492-EFB4F7B7D0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4519" y="2728792"/>
            <a:ext cx="5495698" cy="205438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BD8EC153-65D1-C62A-DFDE-ED15B2F1395B}"/>
              </a:ext>
            </a:extLst>
          </p:cNvPr>
          <p:cNvSpPr txBox="1"/>
          <p:nvPr/>
        </p:nvSpPr>
        <p:spPr>
          <a:xfrm>
            <a:off x="6594004" y="4828037"/>
            <a:ext cx="6096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Step 3: Compute singular values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D1C8F7A-FAF8-9E5C-646C-79BB1D11315F}"/>
                  </a:ext>
                </a:extLst>
              </p:cNvPr>
              <p:cNvSpPr txBox="1"/>
              <p:nvPr/>
            </p:nvSpPr>
            <p:spPr>
              <a:xfrm>
                <a:off x="7732721" y="5265263"/>
                <a:ext cx="2108911" cy="6124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D1C8F7A-FAF8-9E5C-646C-79BB1D113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721" y="5265263"/>
                <a:ext cx="2108911" cy="612412"/>
              </a:xfrm>
              <a:prstGeom prst="rect">
                <a:avLst/>
              </a:prstGeom>
              <a:blipFill>
                <a:blip r:embed="rId9"/>
                <a:stretch>
                  <a:fillRect t="-7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90435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7E41B-1463-A4AE-579F-7A632BA49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E7870-99DF-392C-B30C-4FEB1D340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>
                <a:latin typeface="+mj-lt"/>
                <a:ea typeface="华文中宋" panose="02010600040101010101" charset="-122"/>
                <a:cs typeface="华文中宋" panose="02010600040101010101" charset="-122"/>
                <a:sym typeface="+mn-ea"/>
              </a:rPr>
              <a:t>Singular Value Decomposition </a:t>
            </a:r>
            <a:r>
              <a:rPr lang="en-US" altLang="zh-CN" dirty="0">
                <a:latin typeface="+mj-lt"/>
                <a:ea typeface="华文中宋" panose="02010600040101010101" charset="-122"/>
                <a:cs typeface="华文中宋" panose="02010600040101010101" charset="-122"/>
                <a:sym typeface="+mn-ea"/>
              </a:rPr>
              <a:t>(SVD)</a:t>
            </a:r>
            <a:endParaRPr lang="zh-CN" altLang="en-US" dirty="0">
              <a:latin typeface="+mj-lt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0E9C4361-5037-20BC-536E-8C9CC2B6940E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3E772F0B-5BDF-4F38-92DC-F88AC6DE8EB4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3EBEA7F7-1D81-3D32-491A-DF7E451158A0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1ACBFB9E-9655-D747-6135-185F273407FE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95BC333A-5E5C-A4AC-4F13-2FE6B964D4DF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C3D41241-C422-11D8-4203-893666B7315A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BD14199-D4E5-2DA5-15DD-74B23C908AEC}"/>
                  </a:ext>
                </a:extLst>
              </p:cNvPr>
              <p:cNvSpPr txBox="1"/>
              <p:nvPr/>
            </p:nvSpPr>
            <p:spPr>
              <a:xfrm>
                <a:off x="1191884" y="1071800"/>
                <a:ext cx="609694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CN" b="1" dirty="0"/>
                  <a:t>Step 4: Form SVD</a:t>
                </a:r>
                <a:endParaRPr lang="en-US" altLang="zh-C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The SVD of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dirty="0"/>
                  <a:t>is then written as: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altLang="zh-CN" i="0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ar-AE" altLang="zh-CN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BD14199-D4E5-2DA5-15DD-74B23C908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884" y="1071800"/>
                <a:ext cx="6096946" cy="923330"/>
              </a:xfrm>
              <a:prstGeom prst="rect">
                <a:avLst/>
              </a:prstGeom>
              <a:blipFill>
                <a:blip r:embed="rId3"/>
                <a:stretch>
                  <a:fillRect l="-900" t="-3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9E1B6F18-069C-F3AB-2D8B-9F7CBEA13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8874" y="1978435"/>
            <a:ext cx="8514251" cy="115979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5C11929-F5F1-75DD-E3DA-B34A5976F3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679" y="3185216"/>
            <a:ext cx="6091589" cy="286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3098"/>
      </p:ext>
    </p:extLst>
  </p:cSld>
  <p:clrMapOvr>
    <a:masterClrMapping/>
  </p:clrMapOvr>
  <p:transition spd="med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E9FEC-015C-5228-E664-CC8B8D59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101A2-65BA-6360-5309-6AE225DC7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/>
              <a:t>Example </a:t>
            </a:r>
            <a:endParaRPr lang="zh-CN" altLang="en-US" dirty="0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0240BB0-B034-4072-1112-1E5CA05171B0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7FB08631-3D82-3305-C261-BFDF58BCC4B8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1A4BAD64-D2F2-638A-4235-8873A4EC2FB6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0EFAF74-647C-E6CC-1FBF-956627D22A33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9B6872DC-DB21-00A7-5A9C-0982D6A1C770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02CE1304-304E-FF09-72B2-7AA7DC998DED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2418C01-AF6E-90A6-CA41-33CD34A94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497786"/>
              </p:ext>
            </p:extLst>
          </p:nvPr>
        </p:nvGraphicFramePr>
        <p:xfrm>
          <a:off x="838199" y="2786052"/>
          <a:ext cx="10515600" cy="14630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65699833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6395361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5733478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175835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062053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1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M1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M4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860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U1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752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U2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773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U3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778308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69A6C41B-C9BF-82B9-C234-9B8315366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997" y="1066586"/>
            <a:ext cx="1131800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Suppose we have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users (U1, U2, U3)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movies (M1–M4)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the following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 matrix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(scores range from 1 to 5):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Predict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U1’s rating for M3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the missing value — using collaborative filtering (e.g., user-based, item-based, or matrix factorization).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EE28900-BAE5-A790-405F-AFAAF6B25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997" y="507808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🧩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Assume the latent factor dimension is 2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assume that a user’s movie preferences are mainly determined by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hidden features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1: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2: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we represent both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movies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two-dimensional vectors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this latent space.</a:t>
            </a:r>
          </a:p>
        </p:txBody>
      </p:sp>
    </p:spTree>
    <p:extLst>
      <p:ext uri="{BB962C8B-B14F-4D97-AF65-F5344CB8AC3E}">
        <p14:creationId xmlns:p14="http://schemas.microsoft.com/office/powerpoint/2010/main" val="538668339"/>
      </p:ext>
    </p:extLst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117CA-33F3-13F6-F6BE-FE2DEAA0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CE219-B6EE-95C5-7110-FBC2D4781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0DD55246-3828-EAED-4E08-8DC4A10463A7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1AD2AE32-1B67-7E06-A546-F472F3E47F1D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A93A21D7-A406-078C-2B91-526AD9954BE3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9EAB2A60-18D5-1F70-3A9E-99A7CDB81D34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05A45B1E-025B-3409-0ECB-842C9B56A92B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756F4981-D340-470F-DEC0-66A11EE958F5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AAC8E1F8-072B-2945-D407-E2504241C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90" y="1234986"/>
            <a:ext cx="4614786" cy="394321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D1F059D-E7DA-8586-6749-143593477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227" y="1636023"/>
            <a:ext cx="6054896" cy="354217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306B13C-0AA7-1C69-A8CB-F525DB197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168" y="27712"/>
            <a:ext cx="1943371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582293"/>
      </p:ext>
    </p:extLst>
  </p:cSld>
  <p:clrMapOvr>
    <a:masterClrMapping/>
  </p:clrMapOvr>
  <p:transition spd="med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53B34-6CA6-DEE8-DA9E-2AC69E6B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BD2AB-092E-039E-B428-C1EB1C247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/>
              <a:t>LFM-SGD </a:t>
            </a:r>
            <a:endParaRPr lang="zh-CN" altLang="en-US" dirty="0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08702A73-1346-94C6-E710-3BE9FEE30CAA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0D1EBBC3-6226-082B-7F25-EFC2E9112258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357935DB-3C7E-28B1-B17A-758498357225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8AAC0446-920D-1177-4411-41FA754CBD84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11152B2D-C027-018F-F015-32703E776711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3302729A-8DA5-AB65-CFAB-5BE276264C71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0559FE9E-FC70-5A85-4C69-5C89F6ADB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031" y="1742536"/>
            <a:ext cx="3710899" cy="27065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5C11D16-A9C1-EDC5-68C3-01BA574C0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416" y="1115109"/>
            <a:ext cx="6963517" cy="483136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11C802A-6145-D024-F164-7AE12CBB1865}"/>
              </a:ext>
            </a:extLst>
          </p:cNvPr>
          <p:cNvSpPr txBox="1"/>
          <p:nvPr/>
        </p:nvSpPr>
        <p:spPr>
          <a:xfrm>
            <a:off x="3036498" y="1742536"/>
            <a:ext cx="25304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accent4"/>
                </a:solidFill>
              </a:rPr>
              <a:t>Prediction Error   Regularization</a:t>
            </a:r>
            <a:endParaRPr lang="zh-CN" altLang="en-US" sz="1100" dirty="0">
              <a:solidFill>
                <a:schemeClr val="accent4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01943E-7E7E-B914-9D7D-261334848052}"/>
              </a:ext>
            </a:extLst>
          </p:cNvPr>
          <p:cNvSpPr txBox="1"/>
          <p:nvPr/>
        </p:nvSpPr>
        <p:spPr>
          <a:xfrm>
            <a:off x="7934266" y="1115109"/>
            <a:ext cx="3174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Final result:</a:t>
            </a:r>
            <a:endParaRPr lang="zh-CN" altLang="en-US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8564C04-C4B1-4E1B-A8B5-113ED4D2EAC1}"/>
              </a:ext>
            </a:extLst>
          </p:cNvPr>
          <p:cNvSpPr txBox="1"/>
          <p:nvPr/>
        </p:nvSpPr>
        <p:spPr>
          <a:xfrm>
            <a:off x="8009382" y="4827578"/>
            <a:ext cx="309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We found the hidden feature, “romance” and “action”.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68673919"/>
      </p:ext>
    </p:extLst>
  </p:cSld>
  <p:clrMapOvr>
    <a:masterClrMapping/>
  </p:clrMapOvr>
  <p:transition spd="med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Cold-start, Scalability?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E23802-C0C4-4BBC-8B49-14F89E47D61D}"/>
              </a:ext>
            </a:extLst>
          </p:cNvPr>
          <p:cNvSpPr txBox="1"/>
          <p:nvPr/>
        </p:nvSpPr>
        <p:spPr>
          <a:xfrm>
            <a:off x="1949938" y="2768223"/>
            <a:ext cx="3627334" cy="2761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lvl="0" indent="-457200" algn="just">
              <a:lnSpc>
                <a:spcPct val="130000"/>
              </a:lnSpc>
              <a:buAutoNum type="arabicPeriod"/>
            </a:pPr>
            <a:r>
              <a:rPr lang="en-US" altLang="zh-CN" sz="2000" dirty="0">
                <a:highlight>
                  <a:srgbClr val="FFFF00"/>
                </a:highlight>
              </a:rPr>
              <a:t>Use social networks, reviews, or browsing logs to infer preferences.</a:t>
            </a:r>
          </a:p>
          <a:p>
            <a:pPr marL="457200" lvl="0" indent="-457200" algn="just">
              <a:lnSpc>
                <a:spcPct val="130000"/>
              </a:lnSpc>
              <a:buAutoNum type="arabicPeriod"/>
            </a:pPr>
            <a:r>
              <a:rPr lang="en-US" altLang="zh-CN" sz="2000" dirty="0"/>
              <a:t>Ask users to rate or choose preferred items during sign-up.</a:t>
            </a:r>
          </a:p>
          <a:p>
            <a:pPr lvl="0" algn="just">
              <a:lnSpc>
                <a:spcPct val="130000"/>
              </a:lnSpc>
            </a:pP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2E5BDC-FBD7-4DAA-A362-18FE332B89DB}"/>
              </a:ext>
            </a:extLst>
          </p:cNvPr>
          <p:cNvSpPr txBox="1"/>
          <p:nvPr/>
        </p:nvSpPr>
        <p:spPr>
          <a:xfrm>
            <a:off x="6682156" y="2768223"/>
            <a:ext cx="3819245" cy="15614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just">
              <a:lnSpc>
                <a:spcPct val="130000"/>
              </a:lnSpc>
            </a:pPr>
            <a:r>
              <a:rPr lang="en-US" altLang="zh-CN" sz="2000" dirty="0"/>
              <a:t>Use distributed frameworks (e.g., Hadoop, Spark, GPU) for parallel similarity computation and model training.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8364A1-0DD5-4557-ACB1-F13F6D44EA0D}"/>
              </a:ext>
            </a:extLst>
          </p:cNvPr>
          <p:cNvSpPr txBox="1"/>
          <p:nvPr/>
        </p:nvSpPr>
        <p:spPr>
          <a:xfrm>
            <a:off x="2303138" y="1615888"/>
            <a:ext cx="2853509" cy="619744"/>
          </a:xfrm>
          <a:prstGeom prst="roundRect">
            <a:avLst/>
          </a:pr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Cold-start</a:t>
            </a:r>
            <a:endParaRPr kumimoji="0" lang="zh-CN" altLang="en-US" sz="2800" b="1" i="0" u="none" strike="noStrike" kern="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6D24B9-D51A-4A97-963A-5F65DA720C62}"/>
              </a:ext>
            </a:extLst>
          </p:cNvPr>
          <p:cNvSpPr txBox="1"/>
          <p:nvPr/>
        </p:nvSpPr>
        <p:spPr>
          <a:xfrm>
            <a:off x="7035356" y="1615888"/>
            <a:ext cx="2853509" cy="619744"/>
          </a:xfrm>
          <a:prstGeom prst="roundRect">
            <a:avLst/>
          </a:prstGeom>
          <a:solidFill>
            <a:schemeClr val="accent4"/>
          </a:solidFill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chemeClr val="bg1"/>
                </a:solidFill>
              </a:rPr>
              <a:t>Scalability</a:t>
            </a:r>
            <a:endParaRPr kumimoji="0" lang="zh-CN" altLang="en-US" sz="2800" b="1" i="0" u="none" strike="noStrike" kern="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6B92FE-495F-8744-70DE-4F9D594B19D5}"/>
              </a:ext>
            </a:extLst>
          </p:cNvPr>
          <p:cNvSpPr/>
          <p:nvPr/>
        </p:nvSpPr>
        <p:spPr>
          <a:xfrm>
            <a:off x="6761842" y="4966520"/>
            <a:ext cx="22236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LLM?!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929F7E7-B0EC-086D-5B90-199511062FEE}"/>
              </a:ext>
            </a:extLst>
          </p:cNvPr>
          <p:cNvCxnSpPr/>
          <p:nvPr/>
        </p:nvCxnSpPr>
        <p:spPr>
          <a:xfrm>
            <a:off x="5446643" y="3680318"/>
            <a:ext cx="1192696" cy="1096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20862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3751392" cy="857460"/>
            <a:chOff x="5588007" y="1590635"/>
            <a:chExt cx="3751392" cy="857460"/>
          </a:xfrm>
        </p:grpSpPr>
        <p:sp>
          <p:nvSpPr>
            <p:cNvPr id="19" name="文本框 18"/>
            <p:cNvSpPr txBox="1"/>
            <p:nvPr/>
          </p:nvSpPr>
          <p:spPr>
            <a:xfrm>
              <a:off x="6549853" y="1696200"/>
              <a:ext cx="2789546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zh-CN" sz="3600" b="1" dirty="0">
                  <a:solidFill>
                    <a:prstClr val="black"/>
                  </a:solidFill>
                  <a:latin typeface="Century Gothic" panose="020B0502020202020204" pitchFamily="34" charset="0"/>
                  <a:ea typeface="微软雅黑" panose="020B0503020204020204" charset="-122"/>
                  <a:sym typeface="+mn-lt"/>
                </a:rPr>
                <a:t>Arise of LLM</a:t>
              </a:r>
              <a:endParaRPr lang="zh-CN" altLang="en-US" sz="3600" b="1" dirty="0">
                <a:solidFill>
                  <a:prstClr val="black"/>
                </a:solidFill>
                <a:latin typeface="Century Gothic" panose="020B0502020202020204" pitchFamily="34" charset="0"/>
                <a:ea typeface="微软雅黑" panose="020B0503020204020204" charset="-122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Century Gothic" panose="020B0502020202020204" pitchFamily="34" charset="0"/>
                  <a:ea typeface="微软雅黑" panose="020B0503020204020204" charset="-122"/>
                </a:rPr>
                <a:t>5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en-US" altLang="zh-CN" dirty="0">
                <a:solidFill>
                  <a:prstClr val="black"/>
                </a:solidFill>
                <a:latin typeface="Century Gothic" panose="020B0502020202020204" pitchFamily="34" charset="0"/>
                <a:sym typeface="+mn-lt"/>
              </a:rPr>
              <a:t>Arise of LLM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F10F19-FAA2-38F7-C202-7DF236395E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01" y="1594731"/>
            <a:ext cx="4429903" cy="322372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023B742-1C16-F6C6-47B2-C3ABF0764C30}"/>
              </a:ext>
            </a:extLst>
          </p:cNvPr>
          <p:cNvSpPr txBox="1"/>
          <p:nvPr/>
        </p:nvSpPr>
        <p:spPr>
          <a:xfrm>
            <a:off x="942980" y="5188109"/>
            <a:ext cx="68267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/>
              <a:t>Deepseek</a:t>
            </a:r>
            <a:r>
              <a:rPr lang="en-US" altLang="zh-CN" sz="1100" dirty="0"/>
              <a:t>-enhanced Taobao recommendation system</a:t>
            </a:r>
            <a:endParaRPr lang="zh-CN" altLang="en-US" sz="11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0EF9071-ED69-2949-D6BF-8BB1197EB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1342" y="1352553"/>
            <a:ext cx="593226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generating</a:t>
            </a:r>
            <a:r>
              <a:rPr lang="zh-CN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                           RS           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 with text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2483716-4918-39BF-0414-40F587E5848B}"/>
              </a:ext>
            </a:extLst>
          </p:cNvPr>
          <p:cNvCxnSpPr>
            <a:cxnSpLocks/>
          </p:cNvCxnSpPr>
          <p:nvPr/>
        </p:nvCxnSpPr>
        <p:spPr>
          <a:xfrm>
            <a:off x="8678280" y="1608908"/>
            <a:ext cx="1238132" cy="219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8C70104-60C1-FA2B-8A37-EA39A3BEBE23}"/>
              </a:ext>
            </a:extLst>
          </p:cNvPr>
          <p:cNvCxnSpPr/>
          <p:nvPr/>
        </p:nvCxnSpPr>
        <p:spPr>
          <a:xfrm>
            <a:off x="8848666" y="1807209"/>
            <a:ext cx="1130221" cy="28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96DB32C-AF36-0C54-F59E-C5E6A612C6B9}"/>
              </a:ext>
            </a:extLst>
          </p:cNvPr>
          <p:cNvCxnSpPr>
            <a:cxnSpLocks/>
          </p:cNvCxnSpPr>
          <p:nvPr/>
        </p:nvCxnSpPr>
        <p:spPr>
          <a:xfrm flipV="1">
            <a:off x="9144000" y="1870286"/>
            <a:ext cx="772412" cy="276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6C1FEF4-823D-D134-554D-F99B5A1508E7}"/>
              </a:ext>
            </a:extLst>
          </p:cNvPr>
          <p:cNvSpPr txBox="1"/>
          <p:nvPr/>
        </p:nvSpPr>
        <p:spPr>
          <a:xfrm>
            <a:off x="6236094" y="1650577"/>
            <a:ext cx="70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LLM</a:t>
            </a:r>
            <a:endParaRPr lang="zh-CN" altLang="en-US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B997F9-8F05-A14A-6ED6-EBA75280D6D6}"/>
              </a:ext>
            </a:extLst>
          </p:cNvPr>
          <p:cNvSpPr txBox="1"/>
          <p:nvPr/>
        </p:nvSpPr>
        <p:spPr>
          <a:xfrm>
            <a:off x="6236094" y="2481943"/>
            <a:ext cx="4640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Previous: search “Naruto” in website.</a:t>
            </a:r>
            <a:endParaRPr lang="zh-CN" altLang="en-US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8095F3-DEE2-25E6-B7D0-6FA6C6FD52D5}"/>
              </a:ext>
            </a:extLst>
          </p:cNvPr>
          <p:cNvSpPr txBox="1"/>
          <p:nvPr/>
        </p:nvSpPr>
        <p:spPr>
          <a:xfrm>
            <a:off x="6236094" y="2894564"/>
            <a:ext cx="6096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With the help of LLM…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79294A3-9C89-EB97-9779-1E29E6ACA254}"/>
              </a:ext>
            </a:extLst>
          </p:cNvPr>
          <p:cNvSpPr txBox="1"/>
          <p:nvPr/>
        </p:nvSpPr>
        <p:spPr>
          <a:xfrm>
            <a:off x="6236094" y="3404015"/>
            <a:ext cx="616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Now: “I want to see Hot-blooded anime!”</a:t>
            </a:r>
            <a:endParaRPr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86F5CD6-1533-6A78-F1C6-B808788267AE}"/>
              </a:ext>
            </a:extLst>
          </p:cNvPr>
          <p:cNvSpPr txBox="1"/>
          <p:nvPr/>
        </p:nvSpPr>
        <p:spPr>
          <a:xfrm>
            <a:off x="6236094" y="4325762"/>
            <a:ext cx="61991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Recent studies integrate LLMs as either the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an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auxiliary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component of recommender systems — a direction known as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LLM4Rec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ransition spd="med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3084543" cy="857460"/>
            <a:chOff x="5588007" y="1590635"/>
            <a:chExt cx="3084543" cy="857460"/>
          </a:xfrm>
        </p:grpSpPr>
        <p:sp>
          <p:nvSpPr>
            <p:cNvPr id="19" name="文本框 18"/>
            <p:cNvSpPr txBox="1"/>
            <p:nvPr/>
          </p:nvSpPr>
          <p:spPr>
            <a:xfrm>
              <a:off x="6549853" y="1696200"/>
              <a:ext cx="2122697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zh-CN" sz="3600" b="1" dirty="0">
                  <a:solidFill>
                    <a:prstClr val="black"/>
                  </a:solidFill>
                  <a:latin typeface="Century Gothic" panose="020B0502020202020204" pitchFamily="34" charset="0"/>
                  <a:ea typeface="微软雅黑" panose="020B0503020204020204" charset="-122"/>
                  <a:sym typeface="+mn-lt"/>
                </a:rPr>
                <a:t>LLM4Rec</a:t>
              </a:r>
              <a:endParaRPr lang="zh-CN" altLang="en-US" sz="3600" b="1" dirty="0">
                <a:solidFill>
                  <a:prstClr val="black"/>
                </a:solidFill>
                <a:latin typeface="Century Gothic" panose="020B0502020202020204" pitchFamily="34" charset="0"/>
                <a:ea typeface="微软雅黑" panose="020B0503020204020204" charset="-122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rPr>
                <a:t>6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en-US" altLang="zh-CN" dirty="0"/>
              <a:t>Modes</a:t>
            </a:r>
          </a:p>
        </p:txBody>
      </p:sp>
      <p:grpSp>
        <p:nvGrpSpPr>
          <p:cNvPr id="75" name="组合 74"/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/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/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/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/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8194" name="Picture 2">
            <a:extLst>
              <a:ext uri="{FF2B5EF4-FFF2-40B4-BE49-F238E27FC236}">
                <a16:creationId xmlns:a16="http://schemas.microsoft.com/office/drawing/2014/main" id="{2838AD60-E160-B2D7-B64B-8D3D383045EE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2" t="-83" r="-541" b="19774"/>
          <a:stretch>
            <a:fillRect/>
          </a:stretch>
        </p:blipFill>
        <p:spPr bwMode="auto">
          <a:xfrm>
            <a:off x="5582949" y="2136051"/>
            <a:ext cx="6383762" cy="309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7762210-1B64-D5D8-214E-DC48EFA75720}"/>
              </a:ext>
            </a:extLst>
          </p:cNvPr>
          <p:cNvSpPr/>
          <p:nvPr/>
        </p:nvSpPr>
        <p:spPr>
          <a:xfrm>
            <a:off x="6647333" y="2346740"/>
            <a:ext cx="1846810" cy="25069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05F77C-6290-40F9-0A55-9CD477BDF748}"/>
              </a:ext>
            </a:extLst>
          </p:cNvPr>
          <p:cNvSpPr txBox="1"/>
          <p:nvPr/>
        </p:nvSpPr>
        <p:spPr>
          <a:xfrm>
            <a:off x="225289" y="1281852"/>
            <a:ext cx="556780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>
                <a:highlight>
                  <a:srgbClr val="FFFF00"/>
                </a:highlight>
              </a:rPr>
              <a:t>Discriminative Models:</a:t>
            </a:r>
            <a:br>
              <a:rPr lang="en-US" altLang="zh-CN" dirty="0"/>
            </a:br>
            <a:r>
              <a:rPr lang="en-US" altLang="zh-CN" dirty="0"/>
              <a:t>Focus on </a:t>
            </a:r>
            <a:r>
              <a:rPr lang="en-US" altLang="zh-CN" b="1" dirty="0"/>
              <a:t>distinguishing and understanding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They analyze given data to </a:t>
            </a:r>
            <a:r>
              <a:rPr lang="en-US" altLang="zh-CN" b="1" dirty="0"/>
              <a:t>classify</a:t>
            </a:r>
            <a:r>
              <a:rPr lang="en-US" altLang="zh-CN" dirty="0"/>
              <a:t> it into predefined categories or produce meaningful numerical representations.</a:t>
            </a:r>
            <a:br>
              <a:rPr lang="en-US" altLang="zh-CN" dirty="0"/>
            </a:br>
            <a:r>
              <a:rPr lang="en-US" altLang="zh-CN" dirty="0"/>
              <a:t>In recommendation systems, they are used to </a:t>
            </a:r>
            <a:r>
              <a:rPr lang="en-US" altLang="zh-CN" b="1" dirty="0"/>
              <a:t>judge whether a user–item pair is a good match</a:t>
            </a:r>
            <a:r>
              <a:rPr lang="en-US" altLang="zh-CN" dirty="0"/>
              <a:t> or to </a:t>
            </a:r>
            <a:r>
              <a:rPr lang="en-US" altLang="zh-CN" b="1" dirty="0"/>
              <a:t>learn embeddings</a:t>
            </a:r>
            <a:r>
              <a:rPr lang="en-US" altLang="zh-CN" dirty="0"/>
              <a:t> for users and items.</a:t>
            </a:r>
          </a:p>
          <a:p>
            <a:pPr>
              <a:buNone/>
            </a:pPr>
            <a:r>
              <a:rPr lang="en-US" altLang="zh-CN" b="1" dirty="0">
                <a:highlight>
                  <a:srgbClr val="FFFF00"/>
                </a:highlight>
              </a:rPr>
              <a:t>Generative Models:</a:t>
            </a:r>
            <a:br>
              <a:rPr lang="en-US" altLang="zh-CN" dirty="0"/>
            </a:br>
            <a:r>
              <a:rPr lang="en-US" altLang="zh-CN" dirty="0"/>
              <a:t>Focus on </a:t>
            </a:r>
            <a:r>
              <a:rPr lang="en-US" altLang="zh-CN" b="1" dirty="0"/>
              <a:t>creating and generating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They generate coherent new text or data based on context.</a:t>
            </a:r>
            <a:br>
              <a:rPr lang="en-US" altLang="zh-CN" dirty="0"/>
            </a:br>
            <a:r>
              <a:rPr lang="en-US" altLang="zh-CN" dirty="0"/>
              <a:t>In recommendation systems, they can </a:t>
            </a:r>
            <a:r>
              <a:rPr lang="en-US" altLang="zh-CN" b="1" dirty="0"/>
              <a:t>directly generate item names or IDs</a:t>
            </a:r>
            <a:r>
              <a:rPr lang="en-US" altLang="zh-CN" dirty="0"/>
              <a:t> to recommend, or </a:t>
            </a:r>
            <a:r>
              <a:rPr lang="en-US" altLang="zh-CN" b="1" dirty="0"/>
              <a:t>produce explanations and descriptions</a:t>
            </a:r>
            <a:r>
              <a:rPr lang="en-US" altLang="zh-CN" dirty="0"/>
              <a:t> for recommendations.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8FFB7E-F894-1D91-C85B-F5A16A17B14F}"/>
              </a:ext>
            </a:extLst>
          </p:cNvPr>
          <p:cNvSpPr txBox="1"/>
          <p:nvPr/>
        </p:nvSpPr>
        <p:spPr>
          <a:xfrm>
            <a:off x="6398909" y="1364891"/>
            <a:ext cx="4543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It acts like a “</a:t>
            </a:r>
            <a:r>
              <a:rPr lang="en-US" altLang="zh-CN" sz="1200" b="1" dirty="0"/>
              <a:t>referee</a:t>
            </a:r>
            <a:r>
              <a:rPr lang="en-US" altLang="zh-CN" sz="1200" dirty="0"/>
              <a:t>” — given a user and an item, it judges whether they are a good match.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4F89C37-086B-96D9-04C8-FA734B5B77CB}"/>
              </a:ext>
            </a:extLst>
          </p:cNvPr>
          <p:cNvCxnSpPr/>
          <p:nvPr/>
        </p:nvCxnSpPr>
        <p:spPr>
          <a:xfrm flipV="1">
            <a:off x="7491265" y="1826556"/>
            <a:ext cx="374847" cy="520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AFA3777-F650-C1B2-605D-EDDFBC5CF562}"/>
              </a:ext>
            </a:extLst>
          </p:cNvPr>
          <p:cNvSpPr txBox="1"/>
          <p:nvPr/>
        </p:nvSpPr>
        <p:spPr>
          <a:xfrm>
            <a:off x="5923960" y="5359995"/>
            <a:ext cx="54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It works like a“</a:t>
            </a:r>
            <a:r>
              <a:rPr lang="zh-CN" altLang="en-US" sz="1200" b="1" dirty="0"/>
              <a:t>smart friend</a:t>
            </a:r>
            <a:r>
              <a:rPr lang="zh-CN" altLang="en-US" sz="1200" dirty="0"/>
              <a:t>” — directly telling you what you might want to watch and why it’s recommended.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86F09C7-2E13-8545-2C14-CC5CF1E1ED59}"/>
              </a:ext>
            </a:extLst>
          </p:cNvPr>
          <p:cNvCxnSpPr/>
          <p:nvPr/>
        </p:nvCxnSpPr>
        <p:spPr>
          <a:xfrm>
            <a:off x="7570738" y="4395935"/>
            <a:ext cx="204502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69735-1ACF-19A2-606C-BEB10A3D2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7AE8EC-77DF-91F2-B8AC-33883448F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en-US" altLang="zh-CN" dirty="0"/>
              <a:t>Modes</a:t>
            </a: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9C56A8AA-35BB-4D99-54EF-1D03FA115658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92B03FCB-8A1C-C7AF-5C69-6B38D48B0E36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49D1E386-27AB-9559-EF02-28CD86BCD560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34F53CD8-F95B-D65D-FCDF-3E130E6FD185}"/>
              </a:ext>
            </a:extLst>
          </p:cNvPr>
          <p:cNvSpPr txBox="1"/>
          <p:nvPr/>
        </p:nvSpPr>
        <p:spPr>
          <a:xfrm>
            <a:off x="1465312" y="1921672"/>
            <a:ext cx="8589282" cy="2326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Suppose a system analyzes a user’s watching history and </a:t>
            </a:r>
            <a:r>
              <a:rPr lang="en-US" altLang="zh-CN" b="1" i="1" dirty="0"/>
              <a:t>directly generates</a:t>
            </a:r>
            <a:r>
              <a:rPr lang="en-US" altLang="zh-CN" b="1" dirty="0"/>
              <a:t> a list of recommended movies with natural-language reasons like “You may like Titanic because you enjoyed The Notebook.”</a:t>
            </a:r>
            <a:br>
              <a:rPr lang="en-US" altLang="zh-CN" b="1" dirty="0"/>
            </a:br>
            <a:r>
              <a:rPr lang="en-US" altLang="zh-CN" b="1" dirty="0"/>
              <a:t>This system is most likely using a:</a:t>
            </a:r>
          </a:p>
          <a:p>
            <a:r>
              <a:rPr lang="en-US" altLang="zh-CN" dirty="0"/>
              <a:t>A. Discriminative model</a:t>
            </a:r>
            <a:br>
              <a:rPr lang="en-US" altLang="zh-CN" dirty="0"/>
            </a:br>
            <a:r>
              <a:rPr lang="en-US" altLang="zh-CN" dirty="0"/>
              <a:t>B. Generative model</a:t>
            </a:r>
            <a:br>
              <a:rPr lang="en-US" altLang="zh-CN" dirty="0"/>
            </a:br>
            <a:r>
              <a:rPr lang="en-US" altLang="zh-CN" dirty="0"/>
              <a:t>C. Linear regression model</a:t>
            </a:r>
            <a:br>
              <a:rPr lang="en-US" altLang="zh-CN" dirty="0"/>
            </a:br>
            <a:r>
              <a:rPr lang="en-US" altLang="zh-CN" dirty="0"/>
              <a:t>D. Clustering algorithm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13C8BF-163D-0971-119F-0A55ADCC293C}"/>
              </a:ext>
            </a:extLst>
          </p:cNvPr>
          <p:cNvSpPr/>
          <p:nvPr/>
        </p:nvSpPr>
        <p:spPr>
          <a:xfrm>
            <a:off x="282560" y="998342"/>
            <a:ext cx="32780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Pop quiz!</a:t>
            </a:r>
            <a:endParaRPr lang="zh-CN" alt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6C8A02-BAD8-67E2-8F8E-A03C3A762A33}"/>
              </a:ext>
            </a:extLst>
          </p:cNvPr>
          <p:cNvSpPr txBox="1"/>
          <p:nvPr/>
        </p:nvSpPr>
        <p:spPr>
          <a:xfrm>
            <a:off x="1401890" y="4231376"/>
            <a:ext cx="93882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✅ </a:t>
            </a:r>
            <a:r>
              <a:rPr lang="en-US" altLang="zh-CN" b="1" dirty="0"/>
              <a:t>Answer:</a:t>
            </a:r>
            <a:r>
              <a:rPr lang="en-US" altLang="zh-CN" dirty="0"/>
              <a:t> B</a:t>
            </a:r>
            <a:br>
              <a:rPr lang="en-US" altLang="zh-CN" dirty="0"/>
            </a:br>
            <a:r>
              <a:rPr lang="en-US" altLang="zh-CN" b="1" dirty="0"/>
              <a:t>Explanation:</a:t>
            </a:r>
            <a:br>
              <a:rPr lang="en-US" altLang="zh-CN" dirty="0"/>
            </a:br>
            <a:r>
              <a:rPr lang="en-US" altLang="zh-CN" dirty="0"/>
              <a:t>A </a:t>
            </a:r>
            <a:r>
              <a:rPr lang="en-US" altLang="zh-CN" i="1" dirty="0"/>
              <a:t>generative model</a:t>
            </a:r>
            <a:r>
              <a:rPr lang="en-US" altLang="zh-CN" dirty="0"/>
              <a:t> creates new outputs (e.g., movie names, explanations, summaries).</a:t>
            </a:r>
            <a:br>
              <a:rPr lang="en-US" altLang="zh-CN" dirty="0"/>
            </a:br>
            <a:r>
              <a:rPr lang="en-US" altLang="zh-CN" dirty="0"/>
              <a:t>In contrast, discriminative models would only score existing candidate movies but wouldn’t generate natural-language recommendations.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854032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E4F2-DE9C-496B-661C-E3427A86D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D2A5C-D276-0D82-7426-4A7126DED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Training manners</a:t>
            </a:r>
            <a:endParaRPr lang="en-US" altLang="zh-CN" dirty="0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8193FA5-300C-04BD-15D9-D9E797F885D8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BD98BB94-0654-6B55-FF34-6AF6C2148E3C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F0ACD1A6-BE85-33A0-9F81-2A78E33C54D9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7C6F0DFF-D09B-FF58-5F0C-FE90FC2CAE7A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FC18FCB6-6315-51DA-8DF5-BDA6A1282B39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992230BC-FBD7-943A-EF21-94B4CE9DEA9F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73793A69-C4F0-95B8-9240-93B488054340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2" t="-83" r="-541" b="19774"/>
          <a:stretch>
            <a:fillRect/>
          </a:stretch>
        </p:blipFill>
        <p:spPr bwMode="auto">
          <a:xfrm>
            <a:off x="721295" y="1279224"/>
            <a:ext cx="6383762" cy="309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67E1FF1-D4F4-FD48-CD52-5D213B301547}"/>
              </a:ext>
            </a:extLst>
          </p:cNvPr>
          <p:cNvSpPr/>
          <p:nvPr/>
        </p:nvSpPr>
        <p:spPr>
          <a:xfrm>
            <a:off x="3635151" y="1561863"/>
            <a:ext cx="3421088" cy="271480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30F2E6-D1D8-79D6-5E79-32F1254B4524}"/>
              </a:ext>
            </a:extLst>
          </p:cNvPr>
          <p:cNvSpPr txBox="1"/>
          <p:nvPr/>
        </p:nvSpPr>
        <p:spPr>
          <a:xfrm>
            <a:off x="942980" y="4559304"/>
            <a:ext cx="105948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/>
              <a:t>In </a:t>
            </a:r>
            <a:r>
              <a:rPr lang="en-US" altLang="zh-CN" b="1" dirty="0"/>
              <a:t>LLM4Rec</a:t>
            </a:r>
            <a:r>
              <a:rPr lang="en-US" altLang="zh-CN" dirty="0"/>
              <a:t>, the training mainly focuses on </a:t>
            </a:r>
            <a:r>
              <a:rPr lang="en-US" altLang="zh-CN" b="1" dirty="0"/>
              <a:t>how to leverage user, item, and interaction data</a:t>
            </a:r>
            <a:r>
              <a:rPr lang="en-US" altLang="zh-CN" dirty="0"/>
              <a:t> to teach the LLM to make recommendations.</a:t>
            </a:r>
          </a:p>
          <a:p>
            <a:pPr>
              <a:buNone/>
            </a:pPr>
            <a:r>
              <a:rPr lang="en-US" altLang="zh-CN" dirty="0"/>
              <a:t>The </a:t>
            </a:r>
            <a:r>
              <a:rPr lang="en-US" altLang="zh-CN" b="1" dirty="0"/>
              <a:t>training approach</a:t>
            </a:r>
            <a:r>
              <a:rPr lang="en-US" altLang="zh-CN" dirty="0"/>
              <a:t> directly affects the model’s </a:t>
            </a:r>
            <a:r>
              <a:rPr lang="en-US" altLang="zh-CN" b="1" dirty="0"/>
              <a:t>performance, generalization ability, and computational cost</a:t>
            </a:r>
            <a:r>
              <a:rPr lang="en-US" altLang="zh-C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194638"/>
      </p:ext>
    </p:extLst>
  </p:cSld>
  <p:clrMapOvr>
    <a:masterClrMapping/>
  </p:clrMapOvr>
  <p:transition spd="med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649A-A74E-62BD-0451-56AD504CE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A21F0-3943-78AD-5D58-501E6EFA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Manner1: </a:t>
            </a:r>
            <a:r>
              <a:rPr lang="en-US" altLang="zh-CN" dirty="0"/>
              <a:t>Fine-tuning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EE4ADD4-A2B1-BD45-C5AC-C1E5A7586ADB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DB7EF9BF-BDD4-9EFA-6841-27814D0EF446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50719D6F-D4A7-CEDD-77A8-4A097F7A6ACB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3CF8DE0C-8A18-AA0D-2930-A425467E67FB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6975F8A1-F30A-5039-36D7-E95C5311352A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A509D669-880D-C531-4216-D4902D4E4445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5468B1B2-495E-1491-E690-2E9AE1798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80" y="2630406"/>
            <a:ext cx="10164417" cy="147944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EC41D08-A8D5-98EF-384F-A8D3734AD5B0}"/>
              </a:ext>
            </a:extLst>
          </p:cNvPr>
          <p:cNvSpPr txBox="1"/>
          <p:nvPr/>
        </p:nvSpPr>
        <p:spPr>
          <a:xfrm>
            <a:off x="896261" y="1099125"/>
            <a:ext cx="102111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Fine-tuning</a:t>
            </a:r>
            <a:r>
              <a:rPr lang="en-US" altLang="zh-CN" dirty="0"/>
              <a:t> refers to taking a </a:t>
            </a:r>
            <a:r>
              <a:rPr lang="en-US" altLang="zh-CN" b="1" dirty="0"/>
              <a:t>pre-trained large language model</a:t>
            </a:r>
            <a:r>
              <a:rPr lang="en-US" altLang="zh-CN" dirty="0"/>
              <a:t> (e.g., GPT, BERT, </a:t>
            </a:r>
            <a:r>
              <a:rPr lang="en-US" altLang="zh-CN" dirty="0" err="1"/>
              <a:t>LLaMA</a:t>
            </a:r>
            <a:r>
              <a:rPr lang="en-US" altLang="zh-CN" dirty="0"/>
              <a:t>) and </a:t>
            </a:r>
            <a:r>
              <a:rPr lang="en-US" altLang="zh-CN" b="1" dirty="0"/>
              <a:t>further training it on task-specific data</a:t>
            </a:r>
            <a:r>
              <a:rPr lang="en-US" altLang="zh-CN" dirty="0"/>
              <a:t> so that it better adapts to the requirements of the target task.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C4E8DDE-2698-CC70-682B-0551B8F1D346}"/>
              </a:ext>
            </a:extLst>
          </p:cNvPr>
          <p:cNvSpPr txBox="1"/>
          <p:nvPr/>
        </p:nvSpPr>
        <p:spPr>
          <a:xfrm>
            <a:off x="3853692" y="2022455"/>
            <a:ext cx="60969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a task-specific loss function to guide fine-tuning.</a:t>
            </a:r>
            <a:endParaRPr lang="zh-CN" altLang="en-US" sz="120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1B3EEED-CC47-EB4F-CC12-CA395A761C51}"/>
              </a:ext>
            </a:extLst>
          </p:cNvPr>
          <p:cNvCxnSpPr>
            <a:endCxn id="4" idx="0"/>
          </p:cNvCxnSpPr>
          <p:nvPr/>
        </p:nvCxnSpPr>
        <p:spPr>
          <a:xfrm>
            <a:off x="5741978" y="2298120"/>
            <a:ext cx="283211" cy="332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E7FC9A3C-4A5F-7BDE-AD36-50C9F6BCAB41}"/>
              </a:ext>
            </a:extLst>
          </p:cNvPr>
          <p:cNvSpPr txBox="1"/>
          <p:nvPr/>
        </p:nvSpPr>
        <p:spPr>
          <a:xfrm>
            <a:off x="942980" y="4519401"/>
            <a:ext cx="9552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Process</a:t>
            </a:r>
            <a:r>
              <a:rPr lang="zh-CN" altLang="en-US" b="1" dirty="0">
                <a:solidFill>
                  <a:schemeClr val="accent4"/>
                </a:solidFill>
              </a:rPr>
              <a:t>：</a:t>
            </a:r>
            <a:endParaRPr lang="en-US" altLang="zh-CN" b="1" dirty="0">
              <a:solidFill>
                <a:schemeClr val="accent4"/>
              </a:solidFill>
            </a:endParaRPr>
          </a:p>
          <a:p>
            <a:r>
              <a:rPr lang="zh-CN" altLang="en-US" b="1" dirty="0">
                <a:solidFill>
                  <a:schemeClr val="accent4"/>
                </a:solidFill>
              </a:rPr>
              <a:t>Prepare Data  →  Convert Data to Model Input  →  Choose Fine-tuning Method  →  Train &amp; Validate  →  Deploy &amp; Continuous Optimization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FC52A6-8F55-404D-9239-EDC1BB3C9BE5}"/>
              </a:ext>
            </a:extLst>
          </p:cNvPr>
          <p:cNvSpPr txBox="1"/>
          <p:nvPr/>
        </p:nvSpPr>
        <p:spPr>
          <a:xfrm>
            <a:off x="8135210" y="4256132"/>
            <a:ext cx="5327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Small data → LoRA </a:t>
            </a:r>
            <a:endParaRPr lang="en-US" altLang="zh-CN" sz="1200" dirty="0"/>
          </a:p>
          <a:p>
            <a:r>
              <a:rPr lang="zh-CN" altLang="en-US" sz="1200" dirty="0"/>
              <a:t>Large data → SFT / RLHF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A343FD8-8CAA-E3CF-856E-D0C45A4BF0F7}"/>
              </a:ext>
            </a:extLst>
          </p:cNvPr>
          <p:cNvCxnSpPr/>
          <p:nvPr/>
        </p:nvCxnSpPr>
        <p:spPr>
          <a:xfrm flipV="1">
            <a:off x="8607159" y="4660490"/>
            <a:ext cx="135685" cy="200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792734"/>
      </p:ext>
    </p:extLst>
  </p:cSld>
  <p:clrMapOvr>
    <a:masterClrMapping/>
  </p:clrMapOvr>
  <p:transition spd="med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B6A09-92A0-A4DF-717C-CCC0643B2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605EC-6A69-5200-4C71-AC03848FA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Manner2: </a:t>
            </a:r>
            <a:r>
              <a:rPr lang="en-US" altLang="zh-CN" dirty="0"/>
              <a:t>Prompting / In-Context Learning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904C7BB7-B3DB-71FA-4845-235A8D659488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9390D833-A07F-4377-3103-735FD4BE8439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162208AC-480A-190E-F9A4-B08EE8BDDD70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E475E6DB-A29F-3231-165F-28A0B852F63E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0894587D-B208-C078-4587-5DABA14EBD58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5671B972-2D27-1935-72F1-B078BB587C98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6C0C6E35-2668-26CF-EAF3-7AB740539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477" y="2047533"/>
            <a:ext cx="9533993" cy="13611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DE80A74-4554-CB31-E7A5-2AA27E6CB9F7}"/>
              </a:ext>
            </a:extLst>
          </p:cNvPr>
          <p:cNvSpPr txBox="1"/>
          <p:nvPr/>
        </p:nvSpPr>
        <p:spPr>
          <a:xfrm>
            <a:off x="931439" y="1174032"/>
            <a:ext cx="103175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Uses a </a:t>
            </a:r>
            <a:r>
              <a:rPr lang="en-US" altLang="zh-CN" b="1" dirty="0"/>
              <a:t>pre-trained LLM</a:t>
            </a:r>
            <a:r>
              <a:rPr lang="en-US" altLang="zh-CN" dirty="0"/>
              <a:t> to perform tasks </a:t>
            </a:r>
            <a:r>
              <a:rPr lang="en-US" altLang="zh-CN" b="1" dirty="0">
                <a:highlight>
                  <a:srgbClr val="FFFF00"/>
                </a:highlight>
              </a:rPr>
              <a:t>without changing its parameters</a:t>
            </a:r>
            <a:r>
              <a:rPr lang="en-US" altLang="zh-CN" dirty="0"/>
              <a:t>, by designing </a:t>
            </a:r>
            <a:r>
              <a:rPr lang="en-US" altLang="zh-CN" b="1" dirty="0"/>
              <a:t>prompts</a:t>
            </a:r>
            <a:r>
              <a:rPr lang="en-US" altLang="zh-CN" dirty="0"/>
              <a:t> or providing a few examples.</a:t>
            </a:r>
            <a:endParaRPr lang="zh-CN" alt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E031CB9-22FF-F62B-0745-012AFE3C8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477" y="3614000"/>
            <a:ext cx="644663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Few-shot Prompting: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a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number of examples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prompt so the model can infer the task pattern.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In-Context Learning: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model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understands the task from the context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prompt, requiring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gradient updates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Engineering: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Carefully craft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questions or instructions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guide the model’s output.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C77BF5-FCFD-FD7C-D6F2-5941FB00D876}"/>
              </a:ext>
            </a:extLst>
          </p:cNvPr>
          <p:cNvSpPr txBox="1"/>
          <p:nvPr/>
        </p:nvSpPr>
        <p:spPr>
          <a:xfrm>
            <a:off x="7288830" y="3764337"/>
            <a:ext cx="6096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5"/>
                </a:solidFill>
              </a:rPr>
              <a:t>giving a chef a detailed recipe</a:t>
            </a:r>
            <a:endParaRPr lang="zh-CN" altLang="en-US" b="1" dirty="0">
              <a:solidFill>
                <a:schemeClr val="accent5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75A535-7570-99C6-DCFF-AF5407FC75D3}"/>
              </a:ext>
            </a:extLst>
          </p:cNvPr>
          <p:cNvSpPr txBox="1"/>
          <p:nvPr/>
        </p:nvSpPr>
        <p:spPr>
          <a:xfrm>
            <a:off x="7288830" y="4465545"/>
            <a:ext cx="6692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5"/>
                </a:solidFill>
              </a:rPr>
              <a:t>teaching a child with math</a:t>
            </a:r>
            <a:endParaRPr lang="zh-CN" altLang="en-US" b="1" dirty="0">
              <a:solidFill>
                <a:schemeClr val="accent5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360E2A-5558-71F1-F47D-8FD80480C42D}"/>
              </a:ext>
            </a:extLst>
          </p:cNvPr>
          <p:cNvSpPr txBox="1"/>
          <p:nvPr/>
        </p:nvSpPr>
        <p:spPr>
          <a:xfrm>
            <a:off x="7288830" y="5314636"/>
            <a:ext cx="6990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5"/>
                </a:solidFill>
              </a:rPr>
              <a:t>doing a live demonstration </a:t>
            </a:r>
            <a:endParaRPr lang="zh-CN" alt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151399"/>
      </p:ext>
    </p:extLst>
  </p:cSld>
  <p:clrMapOvr>
    <a:masterClrMapping/>
  </p:clrMapOvr>
  <p:transition spd="med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4A1C4-A4AF-A521-5ACE-60D02D3E0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177488-D2D1-A8E2-C664-3C52E775B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Manner3: </a:t>
            </a:r>
            <a:r>
              <a:rPr lang="en-US" altLang="zh-CN" dirty="0"/>
              <a:t>Prompt Tuning 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6CFCBE95-FFCE-D1F3-D1F0-095BF2754FB9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D9B86FCD-EE1A-BFDB-0DC6-7337EAB990A5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6B69D9BD-81C7-62C5-697E-8CCF6F344583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B6E4F87C-7978-DCCC-E24B-78403DB42EB6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7D388D82-E01E-D19E-86EE-0C50DEF2D866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27023D16-105F-6A4F-A6EF-780E361ED124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27A2D56C-840D-96DC-B883-6DE1564B2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375" y="2165121"/>
            <a:ext cx="9795250" cy="170203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280DAE4-D3A7-A7B5-7F18-7989D2BA618C}"/>
              </a:ext>
            </a:extLst>
          </p:cNvPr>
          <p:cNvSpPr txBox="1"/>
          <p:nvPr/>
        </p:nvSpPr>
        <p:spPr>
          <a:xfrm>
            <a:off x="908720" y="985976"/>
            <a:ext cx="100356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Prompt Tuning</a:t>
            </a:r>
            <a:r>
              <a:rPr lang="en-US" altLang="zh-CN" dirty="0"/>
              <a:t> is a </a:t>
            </a:r>
            <a:r>
              <a:rPr lang="en-US" altLang="zh-CN" b="1" dirty="0"/>
              <a:t>parameter-efficient fine-tuning (PEFT)</a:t>
            </a:r>
            <a:r>
              <a:rPr lang="en-US" altLang="zh-CN" dirty="0"/>
              <a:t> method:</a:t>
            </a:r>
          </a:p>
          <a:p>
            <a:r>
              <a:rPr lang="en-US" altLang="zh-CN" dirty="0"/>
              <a:t>Instead of fully fine-tuning the entire LLM, it </a:t>
            </a:r>
            <a:r>
              <a:rPr lang="en-US" altLang="zh-CN" b="1" dirty="0"/>
              <a:t>only tunes the input prompt</a:t>
            </a:r>
            <a:r>
              <a:rPr lang="en-US" altLang="zh-CN" dirty="0"/>
              <a:t> (or a small subset of model parameters).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4018D3D-E8C8-4026-A928-740CCC3E2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259" y="3894304"/>
            <a:ext cx="73950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prompt: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Fixed natural language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 prompt: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Trainable vector embeddings (not human-readable text)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E57B86D-4E05-91B7-CE4E-8F3D8E010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238" y="4878030"/>
            <a:ext cx="4392735" cy="93832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32187E4-9781-7020-A2E2-0FE92C5A6038}"/>
              </a:ext>
            </a:extLst>
          </p:cNvPr>
          <p:cNvSpPr txBox="1"/>
          <p:nvPr/>
        </p:nvSpPr>
        <p:spPr>
          <a:xfrm>
            <a:off x="6902245" y="5940650"/>
            <a:ext cx="4206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Soft prompt example</a:t>
            </a:r>
            <a:endParaRPr lang="zh-CN" altLang="en-US" sz="12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A22CCCF-5573-5ABF-2240-3D53243FC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8156" y="4567786"/>
            <a:ext cx="3091262" cy="148992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1B4B1FD-DBD6-506A-B834-EC3E44010E7D}"/>
              </a:ext>
            </a:extLst>
          </p:cNvPr>
          <p:cNvSpPr txBox="1"/>
          <p:nvPr/>
        </p:nvSpPr>
        <p:spPr>
          <a:xfrm>
            <a:off x="585296" y="5949363"/>
            <a:ext cx="6096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Hard prompt example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46654100"/>
      </p:ext>
    </p:extLst>
  </p:cSld>
  <p:clrMapOvr>
    <a:masterClrMapping/>
  </p:clrMapOvr>
  <p:transition spd="med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16E42-A13A-935D-02AD-B13E47A1E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187A4-7073-0BF9-ADCC-E19142730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Manner4: </a:t>
            </a:r>
            <a:r>
              <a:rPr lang="zh-CN" altLang="zh-CN" dirty="0">
                <a:latin typeface="Arial" panose="020B0604020202020204" pitchFamily="34" charset="0"/>
              </a:rPr>
              <a:t>Instruction Tuning</a:t>
            </a:r>
            <a:r>
              <a:rPr lang="zh-CN" altLang="zh-CN" b="0" dirty="0">
                <a:latin typeface="Arial" panose="020B0604020202020204" pitchFamily="34" charset="0"/>
              </a:rPr>
              <a:t> </a:t>
            </a:r>
            <a:endParaRPr lang="en-US" altLang="zh-CN" dirty="0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7D470F52-AD39-5695-F16E-F10F67A394FE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1187F14D-E67A-6376-1B9A-C5AD2F14F1EA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DC0530C3-F718-B64D-62A7-1F912AC21D3F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CF8CF8BC-4965-CABE-C60A-027E796565A6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13B723B8-2708-3ADF-092C-40870ED1C27B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EE6E2339-7B69-E570-9304-D8F4DD8D4016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A01EB7C-4000-3649-905C-906E451F2157}"/>
              </a:ext>
            </a:extLst>
          </p:cNvPr>
          <p:cNvPicPr>
            <a:picLocks/>
          </p:cNvPicPr>
          <p:nvPr/>
        </p:nvPicPr>
        <p:blipFill>
          <a:blip r:embed="rId3"/>
          <a:srcRect t="5466"/>
          <a:stretch>
            <a:fillRect/>
          </a:stretch>
        </p:blipFill>
        <p:spPr>
          <a:xfrm>
            <a:off x="1147424" y="2353017"/>
            <a:ext cx="9897151" cy="170715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28AB7E4-B68F-95DF-1588-B7079FE9A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788" y="1165732"/>
            <a:ext cx="989715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Instruction Tuning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refers to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fine-tuning an LLM using natural language instructions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enabling the model to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tasks based on task descriptions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rather than relying solely on task-specific data.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D84277E-0BA3-C721-BB58-DAAB229B6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749" y="1842251"/>
            <a:ext cx="6604481" cy="472217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86F65D5-5482-9BB8-88B2-FF9341FCC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629950"/>
              </p:ext>
            </p:extLst>
          </p:nvPr>
        </p:nvGraphicFramePr>
        <p:xfrm>
          <a:off x="1555020" y="4011368"/>
          <a:ext cx="8746908" cy="2011680"/>
        </p:xfrm>
        <a:graphic>
          <a:graphicData uri="http://schemas.openxmlformats.org/drawingml/2006/table">
            <a:tbl>
              <a:tblPr/>
              <a:tblGrid>
                <a:gridCol w="4373454">
                  <a:extLst>
                    <a:ext uri="{9D8B030D-6E8A-4147-A177-3AD203B41FA5}">
                      <a16:colId xmlns:a16="http://schemas.microsoft.com/office/drawing/2014/main" val="902198205"/>
                    </a:ext>
                  </a:extLst>
                </a:gridCol>
                <a:gridCol w="4373454">
                  <a:extLst>
                    <a:ext uri="{9D8B030D-6E8A-4147-A177-3AD203B41FA5}">
                      <a16:colId xmlns:a16="http://schemas.microsoft.com/office/drawing/2014/main" val="3282532466"/>
                    </a:ext>
                  </a:extLst>
                </a:gridCol>
              </a:tblGrid>
              <a:tr h="193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Instruction 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047432"/>
                  </a:ext>
                </a:extLst>
              </a:tr>
              <a:tr h="193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</a:rPr>
                        <a:t>Similar to Prompting/ICL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Uses instructions to guide the model.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575276"/>
                  </a:ext>
                </a:extLst>
              </a:tr>
              <a:tr h="33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Similar to Fine-tuning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Updates LLM parameters via gradients to improve performance.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129013"/>
                  </a:ext>
                </a:extLst>
              </a:tr>
              <a:tr h="33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Similar to Prompt 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Can leverage PEFT, but focuses more on generalizing across multiple tasks.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566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0459110"/>
      </p:ext>
    </p:extLst>
  </p:cSld>
  <p:clrMapOvr>
    <a:masterClrMapping/>
  </p:clrMapOvr>
  <p:transition spd="med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1EBF-9E4F-CF51-084B-20550447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56D3C-13EE-98F4-A393-8B6188501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Manner quiz </a:t>
            </a:r>
            <a:endParaRPr lang="en-US" altLang="zh-CN" dirty="0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88D69DA-77AD-69C4-BDFD-F81F8D637D9D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50B91890-192A-8A41-4944-288F10853D14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F5076212-8BA9-6BC2-E3F0-5231A0319067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29AFB199-F459-FCAF-C59F-4E66F00FEF48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A725043C-341A-7EE6-0019-A744F763C24B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DC18A275-14EB-CF55-3A47-A7273B238840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AFB3B070-3946-BD76-1315-00279E2AFF51}"/>
              </a:ext>
            </a:extLst>
          </p:cNvPr>
          <p:cNvSpPr txBox="1"/>
          <p:nvPr/>
        </p:nvSpPr>
        <p:spPr>
          <a:xfrm>
            <a:off x="1120755" y="1671520"/>
            <a:ext cx="99504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/>
              <a:t>You are given a pre-trained LLM and want to adapt it to a </a:t>
            </a:r>
            <a:r>
              <a:rPr lang="en-US" altLang="zh-CN" b="1" dirty="0"/>
              <a:t>new task with very few examples</a:t>
            </a:r>
            <a:r>
              <a:rPr lang="en-US" altLang="zh-CN" dirty="0"/>
              <a:t>, </a:t>
            </a:r>
            <a:r>
              <a:rPr lang="en-US" altLang="zh-CN" b="1" dirty="0"/>
              <a:t>without updating the model parameters</a:t>
            </a:r>
            <a:r>
              <a:rPr lang="en-US" altLang="zh-CN" dirty="0"/>
              <a:t>. Which method is the most suitable?</a:t>
            </a:r>
          </a:p>
          <a:p>
            <a:pPr>
              <a:buNone/>
            </a:pPr>
            <a:r>
              <a:rPr lang="en-US" altLang="zh-CN" dirty="0"/>
              <a:t>A. Fine-tuning</a:t>
            </a:r>
            <a:br>
              <a:rPr lang="en-US" altLang="zh-CN" dirty="0"/>
            </a:br>
            <a:r>
              <a:rPr lang="en-US" altLang="zh-CN" dirty="0"/>
              <a:t>B. Prompting / In-Context Learning</a:t>
            </a:r>
            <a:br>
              <a:rPr lang="en-US" altLang="zh-CN" dirty="0"/>
            </a:br>
            <a:r>
              <a:rPr lang="en-US" altLang="zh-CN" dirty="0"/>
              <a:t>C. Prompt Tuning</a:t>
            </a:r>
            <a:br>
              <a:rPr lang="en-US" altLang="zh-CN" dirty="0"/>
            </a:br>
            <a:r>
              <a:rPr lang="en-US" altLang="zh-CN" dirty="0"/>
              <a:t>D. Instruction Tuning.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615BDD-4D44-008A-AE41-9C683F630BC9}"/>
              </a:ext>
            </a:extLst>
          </p:cNvPr>
          <p:cNvSpPr txBox="1"/>
          <p:nvPr/>
        </p:nvSpPr>
        <p:spPr>
          <a:xfrm>
            <a:off x="-1523527" y="963634"/>
            <a:ext cx="60969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0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Pop quiz!</a:t>
            </a:r>
            <a:endParaRPr lang="zh-CN" alt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2867A8-36DD-35AA-9A3C-C1AFCD442E7B}"/>
              </a:ext>
            </a:extLst>
          </p:cNvPr>
          <p:cNvSpPr txBox="1"/>
          <p:nvPr/>
        </p:nvSpPr>
        <p:spPr>
          <a:xfrm>
            <a:off x="1120755" y="3943214"/>
            <a:ext cx="90732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Answer:</a:t>
            </a:r>
            <a:r>
              <a:rPr lang="en-US" altLang="zh-CN" dirty="0"/>
              <a:t> B</a:t>
            </a:r>
          </a:p>
          <a:p>
            <a:pPr>
              <a:buNone/>
            </a:pPr>
            <a:r>
              <a:rPr lang="en-US" altLang="zh-CN" b="1" dirty="0"/>
              <a:t>Explanation: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Fine-tuning (A)</a:t>
            </a:r>
            <a:r>
              <a:rPr lang="en-US" altLang="zh-CN" dirty="0"/>
              <a:t> requires full model updates, unsuitable for few-shot.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Prompting / ICL (B)</a:t>
            </a:r>
            <a:r>
              <a:rPr lang="en-US" altLang="zh-CN" dirty="0"/>
              <a:t> fits perfectly: only design prompts/examples, model remains frozen.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Prompt Tuning (C)</a:t>
            </a:r>
            <a:r>
              <a:rPr lang="en-US" altLang="zh-CN" dirty="0"/>
              <a:t> requires gradient updates on prompt embeddings.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Instruction Tuning (D)</a:t>
            </a:r>
            <a:r>
              <a:rPr lang="en-US" altLang="zh-CN" dirty="0"/>
              <a:t> requires multi-task fine-tuning with parameter updates.</a:t>
            </a:r>
          </a:p>
        </p:txBody>
      </p:sp>
    </p:spTree>
    <p:extLst>
      <p:ext uri="{BB962C8B-B14F-4D97-AF65-F5344CB8AC3E}">
        <p14:creationId xmlns:p14="http://schemas.microsoft.com/office/powerpoint/2010/main" val="398438587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1F26D-A176-30F5-A2E7-3025AFC0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F77D1-9133-56C7-C9BA-7E0F467AB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en-US" altLang="zh-CN" dirty="0"/>
              <a:t>Main paradigms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3398EF52-D542-4BF9-46A8-5EE6C66DB39E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5D3E503E-21E0-5ED7-570F-73A2A70AB51F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7F93A935-21B6-C91F-50ED-83153F1274D3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4EF015DF-9785-8474-8F3B-98207FE8F806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CC9974E6-EDF0-6AA7-C356-36D500210B6B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87F0F6AE-D344-CA79-59D5-2280170695DC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19C818B8-72CD-DB74-05AD-D946EACADF28}"/>
              </a:ext>
            </a:extLst>
          </p:cNvPr>
          <p:cNvSpPr txBox="1"/>
          <p:nvPr/>
        </p:nvSpPr>
        <p:spPr>
          <a:xfrm>
            <a:off x="249898" y="963524"/>
            <a:ext cx="8469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/>
              <a:t>In recommender systems, </a:t>
            </a:r>
            <a:r>
              <a:rPr lang="en-US" altLang="zh-CN" b="1" dirty="0"/>
              <a:t>LLMs can be applied in three main paradigms</a:t>
            </a:r>
            <a:r>
              <a:rPr lang="en-US" altLang="zh-CN" dirty="0"/>
              <a:t>: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458601F-C0EB-35C2-68B0-05D25C4D49A4}"/>
              </a:ext>
            </a:extLst>
          </p:cNvPr>
          <p:cNvPicPr>
            <a:picLocks/>
          </p:cNvPicPr>
          <p:nvPr/>
        </p:nvPicPr>
        <p:blipFill>
          <a:blip r:embed="rId3"/>
          <a:srcRect l="-1" r="-2947" b="63372"/>
          <a:stretch>
            <a:fillRect/>
          </a:stretch>
        </p:blipFill>
        <p:spPr>
          <a:xfrm>
            <a:off x="2046472" y="1373794"/>
            <a:ext cx="8099056" cy="2569420"/>
          </a:xfrm>
          <a:prstGeom prst="rect">
            <a:avLst/>
          </a:prstGeom>
        </p:spPr>
      </p:pic>
      <p:sp>
        <p:nvSpPr>
          <p:cNvPr id="17" name="Rectangle 1">
            <a:extLst>
              <a:ext uri="{FF2B5EF4-FFF2-40B4-BE49-F238E27FC236}">
                <a16:creationId xmlns:a16="http://schemas.microsoft.com/office/drawing/2014/main" id="{32D6DB2C-56C3-1D98-4FBE-245701167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50" y="4133669"/>
            <a:ext cx="1086837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profiles and item descriptions are fed into the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 Generation: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 encodes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these texts into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embeddings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capturing deep user and item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Recommendation: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recommender system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these embeddings to compute similarity, predict preferences, and generate the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recommendations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16179B-4A14-788E-AD94-0071EEA00A9D}"/>
              </a:ext>
            </a:extLst>
          </p:cNvPr>
          <p:cNvSpPr txBox="1"/>
          <p:nvPr/>
        </p:nvSpPr>
        <p:spPr>
          <a:xfrm>
            <a:off x="249898" y="3347274"/>
            <a:ext cx="3873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accent4"/>
                </a:solidFill>
              </a:rPr>
              <a:t>Input sequence:</a:t>
            </a:r>
            <a:r>
              <a:rPr lang="zh-CN" altLang="en-US" sz="1200" b="1" dirty="0">
                <a:solidFill>
                  <a:schemeClr val="accent4"/>
                </a:solidFill>
              </a:rPr>
              <a:t> </a:t>
            </a:r>
            <a:r>
              <a:rPr lang="en-US" altLang="zh-CN" sz="1200" b="1" dirty="0">
                <a:solidFill>
                  <a:schemeClr val="accent4"/>
                </a:solidFill>
              </a:rPr>
              <a:t>text</a:t>
            </a:r>
            <a:r>
              <a:rPr lang="zh-CN" altLang="en-US" sz="1200" b="1" dirty="0">
                <a:solidFill>
                  <a:schemeClr val="accent4"/>
                </a:solidFill>
              </a:rPr>
              <a:t> </a:t>
            </a:r>
            <a:r>
              <a:rPr lang="en-US" altLang="zh-CN" sz="1200" b="1" dirty="0">
                <a:solidFill>
                  <a:schemeClr val="accent4"/>
                </a:solidFill>
              </a:rPr>
              <a:t>sequence.</a:t>
            </a:r>
          </a:p>
          <a:p>
            <a:r>
              <a:rPr lang="en-US" altLang="zh-CN" sz="1200" b="1" dirty="0">
                <a:solidFill>
                  <a:schemeClr val="accent4"/>
                </a:solidFill>
              </a:rPr>
              <a:t>Semi / un structured data</a:t>
            </a:r>
            <a:endParaRPr lang="zh-CN" altLang="en-US" sz="1200" b="1" dirty="0">
              <a:solidFill>
                <a:schemeClr val="accent4"/>
              </a:solidFill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AA501E3-BAAF-B35C-52A8-EE9D16B0031E}"/>
              </a:ext>
            </a:extLst>
          </p:cNvPr>
          <p:cNvCxnSpPr>
            <a:cxnSpLocks/>
          </p:cNvCxnSpPr>
          <p:nvPr/>
        </p:nvCxnSpPr>
        <p:spPr>
          <a:xfrm flipV="1">
            <a:off x="1336533" y="3101104"/>
            <a:ext cx="1099973" cy="3018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615F8D6-005D-82FC-987C-5EA061C30BAD}"/>
              </a:ext>
            </a:extLst>
          </p:cNvPr>
          <p:cNvSpPr txBox="1"/>
          <p:nvPr/>
        </p:nvSpPr>
        <p:spPr>
          <a:xfrm>
            <a:off x="119270" y="2237424"/>
            <a:ext cx="19272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4"/>
                </a:solidFill>
              </a:rPr>
              <a:t>Different tokens</a:t>
            </a:r>
          </a:p>
          <a:p>
            <a:r>
              <a:rPr lang="en-US" altLang="zh-CN" sz="1000" b="1" dirty="0">
                <a:solidFill>
                  <a:schemeClr val="accent4"/>
                </a:solidFill>
              </a:rPr>
              <a:t>(using different color)</a:t>
            </a:r>
          </a:p>
          <a:p>
            <a:r>
              <a:rPr lang="en-US" altLang="zh-CN" sz="1000" b="1" dirty="0" err="1">
                <a:solidFill>
                  <a:schemeClr val="accent4"/>
                </a:solidFill>
              </a:rPr>
              <a:t>Eg.</a:t>
            </a:r>
            <a:r>
              <a:rPr lang="en-US" altLang="zh-CN" sz="1000" b="1" dirty="0">
                <a:solidFill>
                  <a:schemeClr val="accent4"/>
                </a:solidFill>
              </a:rPr>
              <a:t> User-token, item-token  </a:t>
            </a:r>
            <a:endParaRPr lang="zh-CN" altLang="en-US" sz="1000" b="1" dirty="0">
              <a:solidFill>
                <a:schemeClr val="accent4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866EDE0-19E4-BE9F-9B69-E39145B9059E}"/>
              </a:ext>
            </a:extLst>
          </p:cNvPr>
          <p:cNvCxnSpPr/>
          <p:nvPr/>
        </p:nvCxnSpPr>
        <p:spPr>
          <a:xfrm>
            <a:off x="1606550" y="2408109"/>
            <a:ext cx="727726" cy="298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E526008-6CB2-5339-884A-E70B3FEF535E}"/>
              </a:ext>
            </a:extLst>
          </p:cNvPr>
          <p:cNvCxnSpPr/>
          <p:nvPr/>
        </p:nvCxnSpPr>
        <p:spPr>
          <a:xfrm flipV="1">
            <a:off x="1606550" y="2260442"/>
            <a:ext cx="727726" cy="73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11B5126-96B8-2377-5038-305716A09943}"/>
              </a:ext>
            </a:extLst>
          </p:cNvPr>
          <p:cNvCxnSpPr/>
          <p:nvPr/>
        </p:nvCxnSpPr>
        <p:spPr>
          <a:xfrm>
            <a:off x="3714395" y="2557173"/>
            <a:ext cx="448681" cy="1520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4779D5F-7478-3706-E740-35A1CFCA3529}"/>
              </a:ext>
            </a:extLst>
          </p:cNvPr>
          <p:cNvSpPr txBox="1"/>
          <p:nvPr/>
        </p:nvSpPr>
        <p:spPr>
          <a:xfrm>
            <a:off x="3549688" y="4055109"/>
            <a:ext cx="2686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accent4"/>
                </a:solidFill>
              </a:rPr>
              <a:t>Embedding vectors, value-based </a:t>
            </a:r>
            <a:endParaRPr lang="zh-CN" altLang="en-US" sz="1200" b="1" dirty="0">
              <a:solidFill>
                <a:schemeClr val="accent4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F820BFD-87C5-9B2B-9B25-AC406BA3B3F1}"/>
              </a:ext>
            </a:extLst>
          </p:cNvPr>
          <p:cNvSpPr txBox="1"/>
          <p:nvPr/>
        </p:nvSpPr>
        <p:spPr>
          <a:xfrm>
            <a:off x="6972489" y="4052040"/>
            <a:ext cx="45096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4"/>
                </a:solidFill>
              </a:rPr>
              <a:t>The input of large language models usually includes token and positional embeddings, while the output module generates the desired embeddings or tokens.</a:t>
            </a:r>
            <a:endParaRPr lang="zh-CN" altLang="en-US" sz="12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006554"/>
      </p:ext>
    </p:extLst>
  </p:cSld>
  <p:clrMapOvr>
    <a:masterClrMapping/>
  </p:clrMapOvr>
  <p:transition spd="med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C9442-BF9A-AC6E-D788-A6F609BE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6D844-F588-0157-5049-DD705A268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en-US" altLang="zh-CN" dirty="0"/>
              <a:t>Main paradigms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78F60C50-B78E-83BA-9BF7-8E85F2E59EC3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21B1FE20-2E88-A019-3248-4490AFF22271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671BF6A2-6C7A-CB57-5157-F3353F29B136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B0C5F9DC-2F92-0FC2-7BD7-93C0DF64BECB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7F5861E0-8705-737E-C513-123D4B863E41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39B1F27F-9995-D750-CD59-8E03A090E6D3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6460600A-7D93-E385-87D7-1C9BFD718100}"/>
              </a:ext>
            </a:extLst>
          </p:cNvPr>
          <p:cNvSpPr txBox="1"/>
          <p:nvPr/>
        </p:nvSpPr>
        <p:spPr>
          <a:xfrm>
            <a:off x="249898" y="963524"/>
            <a:ext cx="8469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In recommender systems,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LLMs can be applied in three main paradigms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: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37ADC7C-E00E-F0FE-3258-0F9232A5C2B8}"/>
              </a:ext>
            </a:extLst>
          </p:cNvPr>
          <p:cNvPicPr>
            <a:picLocks/>
          </p:cNvPicPr>
          <p:nvPr/>
        </p:nvPicPr>
        <p:blipFill>
          <a:blip r:embed="rId3"/>
          <a:srcRect t="35680" b="31918"/>
          <a:stretch>
            <a:fillRect/>
          </a:stretch>
        </p:blipFill>
        <p:spPr>
          <a:xfrm>
            <a:off x="1908915" y="1469964"/>
            <a:ext cx="8039117" cy="221450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F9FDAB1-D2E0-5E88-5FEE-230E3F323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37" y="4218821"/>
            <a:ext cx="1177272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and item information are provided to the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Tag Generation: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 interprets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information and generates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tags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“The user dislikes thriller movies”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Support: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tags are then used to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recommendation decisions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improving interpretability and personalization.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E70292-9569-8EC1-A0F8-3AA1ABAF66EE}"/>
              </a:ext>
            </a:extLst>
          </p:cNvPr>
          <p:cNvSpPr txBox="1"/>
          <p:nvPr/>
        </p:nvSpPr>
        <p:spPr>
          <a:xfrm>
            <a:off x="-947" y="3583011"/>
            <a:ext cx="60969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4"/>
                </a:solidFill>
              </a:rPr>
              <a:t>Input sequence:</a:t>
            </a:r>
            <a:r>
              <a:rPr lang="zh-CN" altLang="en-US" sz="1200" b="1" dirty="0">
                <a:solidFill>
                  <a:schemeClr val="accent4"/>
                </a:solidFill>
              </a:rPr>
              <a:t> </a:t>
            </a:r>
            <a:r>
              <a:rPr lang="en-US" altLang="zh-CN" sz="1200" b="1" dirty="0">
                <a:solidFill>
                  <a:schemeClr val="accent4"/>
                </a:solidFill>
              </a:rPr>
              <a:t>text</a:t>
            </a:r>
            <a:r>
              <a:rPr lang="zh-CN" altLang="en-US" sz="1200" b="1" dirty="0">
                <a:solidFill>
                  <a:schemeClr val="accent4"/>
                </a:solidFill>
              </a:rPr>
              <a:t> </a:t>
            </a:r>
            <a:r>
              <a:rPr lang="en-US" altLang="zh-CN" sz="1200" b="1" dirty="0">
                <a:solidFill>
                  <a:schemeClr val="accent4"/>
                </a:solidFill>
              </a:rPr>
              <a:t>sequence.</a:t>
            </a:r>
          </a:p>
          <a:p>
            <a:r>
              <a:rPr lang="en-US" altLang="zh-CN" sz="1200" b="1" dirty="0">
                <a:solidFill>
                  <a:schemeClr val="accent4"/>
                </a:solidFill>
              </a:rPr>
              <a:t>Semi / un structured data</a:t>
            </a:r>
            <a:endParaRPr lang="zh-CN" altLang="en-US" sz="1200" b="1" dirty="0">
              <a:solidFill>
                <a:schemeClr val="accent4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EFDB72C-BECC-9146-99F9-D4B431DB5732}"/>
              </a:ext>
            </a:extLst>
          </p:cNvPr>
          <p:cNvCxnSpPr/>
          <p:nvPr/>
        </p:nvCxnSpPr>
        <p:spPr>
          <a:xfrm flipV="1">
            <a:off x="1465312" y="2825682"/>
            <a:ext cx="817848" cy="757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F728134-E704-E50A-FF36-DCE5ACEF616E}"/>
              </a:ext>
            </a:extLst>
          </p:cNvPr>
          <p:cNvSpPr txBox="1"/>
          <p:nvPr/>
        </p:nvSpPr>
        <p:spPr>
          <a:xfrm>
            <a:off x="0" y="1867205"/>
            <a:ext cx="6099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4"/>
                </a:solidFill>
              </a:rPr>
              <a:t>Different tokens</a:t>
            </a:r>
          </a:p>
          <a:p>
            <a:r>
              <a:rPr lang="en-US" altLang="zh-CN" sz="1200" b="1" dirty="0">
                <a:solidFill>
                  <a:schemeClr val="accent4"/>
                </a:solidFill>
              </a:rPr>
              <a:t>(using different color)</a:t>
            </a:r>
          </a:p>
          <a:p>
            <a:r>
              <a:rPr lang="en-US" altLang="zh-CN" sz="1200" b="1" dirty="0" err="1">
                <a:solidFill>
                  <a:schemeClr val="accent4"/>
                </a:solidFill>
              </a:rPr>
              <a:t>Eg.</a:t>
            </a:r>
            <a:r>
              <a:rPr lang="en-US" altLang="zh-CN" sz="1200" b="1" dirty="0">
                <a:solidFill>
                  <a:schemeClr val="accent4"/>
                </a:solidFill>
              </a:rPr>
              <a:t> User-token, item-token  </a:t>
            </a:r>
            <a:endParaRPr lang="zh-CN" altLang="en-US" sz="1200" b="1" dirty="0">
              <a:solidFill>
                <a:schemeClr val="accent4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464FC67-0850-DA9A-8C10-3C05920DE07A}"/>
              </a:ext>
            </a:extLst>
          </p:cNvPr>
          <p:cNvCxnSpPr/>
          <p:nvPr/>
        </p:nvCxnSpPr>
        <p:spPr>
          <a:xfrm>
            <a:off x="1516427" y="1999185"/>
            <a:ext cx="6815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5EB7167-4F54-EE6A-ADEE-BA07609152FA}"/>
              </a:ext>
            </a:extLst>
          </p:cNvPr>
          <p:cNvCxnSpPr/>
          <p:nvPr/>
        </p:nvCxnSpPr>
        <p:spPr>
          <a:xfrm>
            <a:off x="1516427" y="1999185"/>
            <a:ext cx="681541" cy="397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8195465-73C9-F01B-6995-AC616EBAA81A}"/>
              </a:ext>
            </a:extLst>
          </p:cNvPr>
          <p:cNvCxnSpPr/>
          <p:nvPr/>
        </p:nvCxnSpPr>
        <p:spPr>
          <a:xfrm>
            <a:off x="3703036" y="2618251"/>
            <a:ext cx="391886" cy="1195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C7BDE78-EF61-BA92-053E-192EBC085B91}"/>
              </a:ext>
            </a:extLst>
          </p:cNvPr>
          <p:cNvSpPr txBox="1"/>
          <p:nvPr/>
        </p:nvSpPr>
        <p:spPr>
          <a:xfrm>
            <a:off x="3532651" y="3890460"/>
            <a:ext cx="2470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accent4"/>
                </a:solidFill>
              </a:rPr>
              <a:t>Discrete tokens or labels (used as the input of RS)</a:t>
            </a:r>
            <a:endParaRPr lang="zh-CN" altLang="en-US" sz="12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933246"/>
      </p:ext>
    </p:extLst>
  </p:cSld>
  <p:clrMapOvr>
    <a:masterClrMapping/>
  </p:clrMapOvr>
  <p:transition spd="med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69105-61B4-7055-760A-E06AFD7F7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A5971-3388-7653-D0D6-EBA44198D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en-US" altLang="zh-CN" dirty="0"/>
              <a:t>Main paradigms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98C6A604-244E-DE97-4F3F-2E0CEACA6D88}"/>
              </a:ext>
            </a:extLst>
          </p:cNvPr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>
              <a:extLst>
                <a:ext uri="{FF2B5EF4-FFF2-40B4-BE49-F238E27FC236}">
                  <a16:creationId xmlns:a16="http://schemas.microsoft.com/office/drawing/2014/main" id="{B1F29352-6491-71AB-AFEC-F1D99AC7905E}"/>
                </a:ext>
              </a:extLst>
            </p:cNvPr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>
              <a:extLst>
                <a:ext uri="{FF2B5EF4-FFF2-40B4-BE49-F238E27FC236}">
                  <a16:creationId xmlns:a16="http://schemas.microsoft.com/office/drawing/2014/main" id="{5DE898CA-E9A2-E310-30BA-845BA5CD75B2}"/>
                </a:ext>
              </a:extLst>
            </p:cNvPr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DEFE74CD-DDA2-AC3A-594E-8D2D9D1A0519}"/>
              </a:ext>
            </a:extLst>
          </p:cNvPr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>
              <a:extLst>
                <a:ext uri="{FF2B5EF4-FFF2-40B4-BE49-F238E27FC236}">
                  <a16:creationId xmlns:a16="http://schemas.microsoft.com/office/drawing/2014/main" id="{014D1E3B-55AC-735B-461C-2F1259AA1ABF}"/>
                </a:ext>
              </a:extLst>
            </p:cNvPr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>
              <a:extLst>
                <a:ext uri="{FF2B5EF4-FFF2-40B4-BE49-F238E27FC236}">
                  <a16:creationId xmlns:a16="http://schemas.microsoft.com/office/drawing/2014/main" id="{DEAE5518-565E-951E-2E2C-41F14842E08E}"/>
                </a:ext>
              </a:extLst>
            </p:cNvPr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4B817EF-2608-52D6-77C0-F0540678CF3C}"/>
              </a:ext>
            </a:extLst>
          </p:cNvPr>
          <p:cNvSpPr txBox="1"/>
          <p:nvPr/>
        </p:nvSpPr>
        <p:spPr>
          <a:xfrm>
            <a:off x="249898" y="963524"/>
            <a:ext cx="8469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In recommender systems,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LLMs can be applied in three main paradigms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: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9144B31-2E90-7FA3-2C82-F55417B00A67}"/>
              </a:ext>
            </a:extLst>
          </p:cNvPr>
          <p:cNvPicPr>
            <a:picLocks/>
          </p:cNvPicPr>
          <p:nvPr/>
        </p:nvPicPr>
        <p:blipFill>
          <a:blip r:embed="rId3"/>
          <a:srcRect t="66690" b="-118"/>
          <a:stretch>
            <a:fillRect/>
          </a:stretch>
        </p:blipFill>
        <p:spPr>
          <a:xfrm>
            <a:off x="1874238" y="1655826"/>
            <a:ext cx="7838362" cy="245283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76F3B56-AD05-BA26-FF29-550D3BFC1F74}"/>
              </a:ext>
            </a:extLst>
          </p:cNvPr>
          <p:cNvSpPr txBox="1"/>
          <p:nvPr/>
        </p:nvSpPr>
        <p:spPr>
          <a:xfrm>
            <a:off x="329251" y="4274105"/>
            <a:ext cx="110297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 complete prompt sequence—comprising the </a:t>
            </a:r>
            <a:r>
              <a:rPr lang="en-US" altLang="zh-CN" b="1" dirty="0"/>
              <a:t>user profile</a:t>
            </a:r>
            <a:r>
              <a:rPr lang="en-US" altLang="zh-CN" dirty="0"/>
              <a:t>, </a:t>
            </a:r>
            <a:r>
              <a:rPr lang="en-US" altLang="zh-CN" b="1" dirty="0"/>
              <a:t>behavioral history</a:t>
            </a:r>
            <a:r>
              <a:rPr lang="en-US" altLang="zh-CN" dirty="0"/>
              <a:t>, </a:t>
            </a:r>
            <a:r>
              <a:rPr lang="en-US" altLang="zh-CN" b="1" dirty="0"/>
              <a:t>candidate items</a:t>
            </a:r>
            <a:r>
              <a:rPr lang="en-US" altLang="zh-CN" dirty="0"/>
              <a:t>, and a </a:t>
            </a:r>
            <a:r>
              <a:rPr lang="en-US" altLang="zh-CN" b="1" dirty="0"/>
              <a:t>task instruction</a:t>
            </a:r>
            <a:r>
              <a:rPr lang="en-US" altLang="zh-CN" dirty="0"/>
              <a:t>—is fed to the LLM. The LLM then </a:t>
            </a:r>
            <a:r>
              <a:rPr lang="en-US" altLang="zh-CN" b="1" dirty="0"/>
              <a:t>directly outputs the recommendation list</a:t>
            </a:r>
            <a:r>
              <a:rPr lang="en-US" altLang="zh-CN" dirty="0"/>
              <a:t>, implementing an </a:t>
            </a:r>
            <a:r>
              <a:rPr lang="en-US" altLang="zh-CN" b="1" dirty="0"/>
              <a:t>end-to-end recommendation pipeline</a:t>
            </a:r>
            <a:r>
              <a:rPr lang="en-US" altLang="zh-CN" dirty="0"/>
              <a:t> where the model maps raw inputs to final recommendations without intermediate embedding or ranking modules.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CD729E-8C2B-8A07-033A-CE80B53DE4F4}"/>
              </a:ext>
            </a:extLst>
          </p:cNvPr>
          <p:cNvSpPr txBox="1"/>
          <p:nvPr/>
        </p:nvSpPr>
        <p:spPr>
          <a:xfrm>
            <a:off x="0" y="3429000"/>
            <a:ext cx="2294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accent4"/>
                </a:solidFill>
              </a:rPr>
              <a:t>Natural language sequence </a:t>
            </a:r>
            <a:endParaRPr lang="zh-CN" altLang="en-US" sz="1200" b="1" dirty="0">
              <a:solidFill>
                <a:schemeClr val="accent4"/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61C27C0-B616-F62A-176F-2006E28EB4F2}"/>
              </a:ext>
            </a:extLst>
          </p:cNvPr>
          <p:cNvCxnSpPr/>
          <p:nvPr/>
        </p:nvCxnSpPr>
        <p:spPr>
          <a:xfrm flipV="1">
            <a:off x="1482350" y="3101009"/>
            <a:ext cx="687220" cy="403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31BB8F0-17D0-6849-7631-6B2C340F1062}"/>
              </a:ext>
            </a:extLst>
          </p:cNvPr>
          <p:cNvSpPr txBox="1"/>
          <p:nvPr/>
        </p:nvSpPr>
        <p:spPr>
          <a:xfrm>
            <a:off x="-946" y="1900962"/>
            <a:ext cx="60969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4"/>
                </a:solidFill>
              </a:rPr>
              <a:t>Different tokens</a:t>
            </a:r>
          </a:p>
          <a:p>
            <a:r>
              <a:rPr lang="en-US" altLang="zh-CN" sz="1200" b="1" dirty="0">
                <a:solidFill>
                  <a:schemeClr val="accent4"/>
                </a:solidFill>
              </a:rPr>
              <a:t>(using different color)</a:t>
            </a:r>
          </a:p>
          <a:p>
            <a:r>
              <a:rPr lang="en-US" altLang="zh-CN" sz="1200" b="1" dirty="0" err="1">
                <a:solidFill>
                  <a:schemeClr val="accent4"/>
                </a:solidFill>
              </a:rPr>
              <a:t>Eg.</a:t>
            </a:r>
            <a:r>
              <a:rPr lang="en-US" altLang="zh-CN" sz="1200" b="1" dirty="0">
                <a:solidFill>
                  <a:schemeClr val="accent4"/>
                </a:solidFill>
              </a:rPr>
              <a:t> User-token, item-token  </a:t>
            </a:r>
            <a:endParaRPr lang="zh-CN" altLang="en-US" sz="1200" b="1" dirty="0">
              <a:solidFill>
                <a:schemeClr val="accent4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96801AD-6ECB-21F6-0F32-AB0A84589605}"/>
              </a:ext>
            </a:extLst>
          </p:cNvPr>
          <p:cNvCxnSpPr/>
          <p:nvPr/>
        </p:nvCxnSpPr>
        <p:spPr>
          <a:xfrm>
            <a:off x="1777684" y="2118455"/>
            <a:ext cx="391886" cy="105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1DCCA77-C5E4-5F8B-F277-41491D5F20FA}"/>
              </a:ext>
            </a:extLst>
          </p:cNvPr>
          <p:cNvCxnSpPr/>
          <p:nvPr/>
        </p:nvCxnSpPr>
        <p:spPr>
          <a:xfrm>
            <a:off x="1783364" y="2152532"/>
            <a:ext cx="431642" cy="613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1D15C3B-1CBD-6EF2-1AF8-E8DB193376DE}"/>
              </a:ext>
            </a:extLst>
          </p:cNvPr>
          <p:cNvSpPr txBox="1"/>
          <p:nvPr/>
        </p:nvSpPr>
        <p:spPr>
          <a:xfrm>
            <a:off x="2743526" y="1415744"/>
            <a:ext cx="60997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4"/>
                </a:solidFill>
              </a:rPr>
              <a:t>Generate response directly </a:t>
            </a:r>
            <a:endParaRPr lang="zh-CN" altLang="en-US" sz="1200" b="1" dirty="0">
              <a:solidFill>
                <a:schemeClr val="accent4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9C459E4-E027-949A-2BFA-6EB4573CBCB8}"/>
              </a:ext>
            </a:extLst>
          </p:cNvPr>
          <p:cNvCxnSpPr/>
          <p:nvPr/>
        </p:nvCxnSpPr>
        <p:spPr>
          <a:xfrm flipH="1" flipV="1">
            <a:off x="3589446" y="1655826"/>
            <a:ext cx="85193" cy="515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35197"/>
      </p:ext>
    </p:extLst>
  </p:cSld>
  <p:clrMapOvr>
    <a:masterClrMapping/>
  </p:clrMapOvr>
  <p:transition spd="med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3374686" cy="857460"/>
            <a:chOff x="5588007" y="1590635"/>
            <a:chExt cx="3374686" cy="857460"/>
          </a:xfrm>
        </p:grpSpPr>
        <p:sp>
          <p:nvSpPr>
            <p:cNvPr id="19" name="文本框 18"/>
            <p:cNvSpPr txBox="1"/>
            <p:nvPr/>
          </p:nvSpPr>
          <p:spPr>
            <a:xfrm>
              <a:off x="6549853" y="1696200"/>
              <a:ext cx="2412840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zh-CN" sz="3600" b="1" dirty="0">
                  <a:solidFill>
                    <a:prstClr val="black"/>
                  </a:solidFill>
                  <a:latin typeface="Century Gothic" panose="020B0502020202020204" pitchFamily="34" charset="0"/>
                  <a:ea typeface="微软雅黑" panose="020B0503020204020204" charset="-122"/>
                  <a:sym typeface="+mn-lt"/>
                </a:rPr>
                <a:t>LLM VS CF</a:t>
              </a:r>
              <a:endParaRPr lang="zh-CN" altLang="en-US" sz="3600" b="1" dirty="0">
                <a:solidFill>
                  <a:prstClr val="black"/>
                </a:solidFill>
                <a:latin typeface="Century Gothic" panose="020B0502020202020204" pitchFamily="34" charset="0"/>
                <a:ea typeface="微软雅黑" panose="020B0503020204020204" charset="-122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rPr>
                <a:t>8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LLM optimize the CF?</a:t>
            </a:r>
            <a:endParaRPr lang="zh-CN" altLang="en-US" dirty="0"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32348477-5D10-4901-9173-DC964BF89229}"/>
              </a:ext>
            </a:extLst>
          </p:cNvPr>
          <p:cNvSpPr/>
          <p:nvPr/>
        </p:nvSpPr>
        <p:spPr>
          <a:xfrm>
            <a:off x="674412" y="1626014"/>
            <a:ext cx="5724000" cy="3207658"/>
          </a:xfrm>
          <a:prstGeom prst="parallelogram">
            <a:avLst/>
          </a:prstGeom>
          <a:noFill/>
          <a:ln w="38100">
            <a:gradFill>
              <a:gsLst>
                <a:gs pos="20000">
                  <a:srgbClr val="003378">
                    <a:alpha val="0"/>
                  </a:srgbClr>
                </a:gs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0A034329-0ACC-472E-884C-4E78CC69A788}"/>
              </a:ext>
            </a:extLst>
          </p:cNvPr>
          <p:cNvSpPr/>
          <p:nvPr/>
        </p:nvSpPr>
        <p:spPr>
          <a:xfrm>
            <a:off x="5822046" y="2366244"/>
            <a:ext cx="5724000" cy="3207658"/>
          </a:xfrm>
          <a:prstGeom prst="parallelogram">
            <a:avLst/>
          </a:prstGeom>
          <a:noFill/>
          <a:ln w="38100">
            <a:gradFill>
              <a:gsLst>
                <a:gs pos="20000">
                  <a:srgbClr val="003378">
                    <a:alpha val="0"/>
                  </a:srgbClr>
                </a:gs>
                <a:gs pos="0">
                  <a:schemeClr val="accent1">
                    <a:alpha val="0"/>
                  </a:schemeClr>
                </a:gs>
                <a:gs pos="100000">
                  <a:schemeClr val="accent4"/>
                </a:gs>
              </a:gsLst>
              <a:lin ang="9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AADF55-D27C-40F9-930F-99385A786CB9}"/>
              </a:ext>
            </a:extLst>
          </p:cNvPr>
          <p:cNvSpPr txBox="1"/>
          <p:nvPr/>
        </p:nvSpPr>
        <p:spPr>
          <a:xfrm>
            <a:off x="4978400" y="2558913"/>
            <a:ext cx="2235200" cy="16539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0" i="1" u="none" strike="noStrike" kern="1200" cap="none" spc="300" normalizeH="0" baseline="0" noProof="0" dirty="0">
                <a:ln>
                  <a:noFill/>
                </a:ln>
                <a:solidFill>
                  <a:srgbClr val="006C39">
                    <a:alpha val="11000"/>
                  </a:srgb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VS</a:t>
            </a:r>
            <a:endParaRPr kumimoji="0" lang="zh-CN" altLang="en-US" sz="9600" b="0" i="1" u="none" strike="noStrike" kern="1200" cap="none" spc="300" normalizeH="0" baseline="0" noProof="0" dirty="0">
              <a:ln>
                <a:noFill/>
              </a:ln>
              <a:solidFill>
                <a:srgbClr val="006C39">
                  <a:alpha val="11000"/>
                </a:srgb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4A929E3-FE8C-44A4-AA75-7D72577C71D4}"/>
              </a:ext>
            </a:extLst>
          </p:cNvPr>
          <p:cNvSpPr txBox="1"/>
          <p:nvPr/>
        </p:nvSpPr>
        <p:spPr>
          <a:xfrm>
            <a:off x="6723709" y="2892691"/>
            <a:ext cx="2656114" cy="5055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Solution 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A13F0B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FE2F0AC-FD39-4750-8D6D-33E078192640}"/>
              </a:ext>
            </a:extLst>
          </p:cNvPr>
          <p:cNvSpPr txBox="1"/>
          <p:nvPr/>
        </p:nvSpPr>
        <p:spPr>
          <a:xfrm>
            <a:off x="1488960" y="2027056"/>
            <a:ext cx="390434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Question 1: Data Sparsity and Cold Start</a:t>
            </a:r>
            <a:endParaRPr lang="en-US" altLang="zh-CN" sz="1200" dirty="0">
              <a:solidFill>
                <a:schemeClr val="accent1"/>
              </a:solidFill>
            </a:endParaRPr>
          </a:p>
          <a:p>
            <a:r>
              <a:rPr lang="en-US" altLang="zh-CN" sz="1200" b="1" dirty="0">
                <a:solidFill>
                  <a:schemeClr val="accent1"/>
                </a:solidFill>
              </a:rPr>
              <a:t>Problem in Traditional Collaborative Filtering:</a:t>
            </a:r>
            <a:endParaRPr kumimoji="0" lang="zh-CN" altLang="en-US" sz="1200" b="1" i="0" u="none" strike="noStrike" kern="1200" cap="none" spc="30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62ECAE-6477-ECF3-AD33-193974B11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4386" y="3437500"/>
            <a:ext cx="42475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Paradigm 1: LLM Embeddings + RS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 LLM as a general semantic encoder to convert textual information such as item titles, descriptions, and categories into high-quality semantic embeddings.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8A3899-2D12-05D8-18EF-BF50B9AC3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2558913"/>
            <a:ext cx="529565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 core lies in “collaboration,” relying on the pattern of “users with similar preferences also like…”.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new users (with no history), new items (with no interactions), or niche users appear, the collaborative relationships cannot be established — causing the entire system to fail.</a:t>
            </a:r>
          </a:p>
        </p:txBody>
      </p:sp>
    </p:spTree>
    <p:extLst>
      <p:ext uri="{BB962C8B-B14F-4D97-AF65-F5344CB8AC3E}">
        <p14:creationId xmlns:p14="http://schemas.microsoft.com/office/powerpoint/2010/main" val="637964210"/>
      </p:ext>
    </p:extLst>
  </p:cSld>
  <p:clrMapOvr>
    <a:masterClrMapping/>
  </p:clrMapOvr>
  <p:transition spd="med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LLM optimize the CF?</a:t>
            </a:r>
            <a:endParaRPr lang="zh-CN" altLang="en-US" dirty="0"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32348477-5D10-4901-9173-DC964BF89229}"/>
              </a:ext>
            </a:extLst>
          </p:cNvPr>
          <p:cNvSpPr/>
          <p:nvPr/>
        </p:nvSpPr>
        <p:spPr>
          <a:xfrm>
            <a:off x="674412" y="1626014"/>
            <a:ext cx="5724000" cy="3207658"/>
          </a:xfrm>
          <a:prstGeom prst="parallelogram">
            <a:avLst/>
          </a:prstGeom>
          <a:noFill/>
          <a:ln w="38100">
            <a:gradFill>
              <a:gsLst>
                <a:gs pos="20000">
                  <a:srgbClr val="003378">
                    <a:alpha val="0"/>
                  </a:srgbClr>
                </a:gs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0A034329-0ACC-472E-884C-4E78CC69A788}"/>
              </a:ext>
            </a:extLst>
          </p:cNvPr>
          <p:cNvSpPr/>
          <p:nvPr/>
        </p:nvSpPr>
        <p:spPr>
          <a:xfrm>
            <a:off x="5822046" y="2366244"/>
            <a:ext cx="5724000" cy="3207658"/>
          </a:xfrm>
          <a:prstGeom prst="parallelogram">
            <a:avLst/>
          </a:prstGeom>
          <a:noFill/>
          <a:ln w="38100">
            <a:gradFill>
              <a:gsLst>
                <a:gs pos="20000">
                  <a:srgbClr val="003378">
                    <a:alpha val="0"/>
                  </a:srgbClr>
                </a:gs>
                <a:gs pos="0">
                  <a:schemeClr val="accent1">
                    <a:alpha val="0"/>
                  </a:schemeClr>
                </a:gs>
                <a:gs pos="100000">
                  <a:schemeClr val="accent4"/>
                </a:gs>
              </a:gsLst>
              <a:lin ang="9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AADF55-D27C-40F9-930F-99385A786CB9}"/>
              </a:ext>
            </a:extLst>
          </p:cNvPr>
          <p:cNvSpPr txBox="1"/>
          <p:nvPr/>
        </p:nvSpPr>
        <p:spPr>
          <a:xfrm>
            <a:off x="4978400" y="2558913"/>
            <a:ext cx="2235200" cy="16539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0" i="1" u="none" strike="noStrike" kern="1200" cap="none" spc="300" normalizeH="0" baseline="0" noProof="0" dirty="0">
                <a:ln>
                  <a:noFill/>
                </a:ln>
                <a:solidFill>
                  <a:srgbClr val="006C39">
                    <a:alpha val="11000"/>
                  </a:srgb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VS</a:t>
            </a:r>
            <a:endParaRPr kumimoji="0" lang="zh-CN" altLang="en-US" sz="9600" b="0" i="1" u="none" strike="noStrike" kern="1200" cap="none" spc="300" normalizeH="0" baseline="0" noProof="0" dirty="0">
              <a:ln>
                <a:noFill/>
              </a:ln>
              <a:solidFill>
                <a:srgbClr val="006C39">
                  <a:alpha val="11000"/>
                </a:srgb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FE2F0AC-FD39-4750-8D6D-33E078192640}"/>
              </a:ext>
            </a:extLst>
          </p:cNvPr>
          <p:cNvSpPr txBox="1"/>
          <p:nvPr/>
        </p:nvSpPr>
        <p:spPr>
          <a:xfrm>
            <a:off x="1488960" y="2027056"/>
            <a:ext cx="3904343" cy="2889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1"/>
                </a:solidFill>
              </a:rPr>
              <a:t>Question 2: Lack of Interpretability</a:t>
            </a:r>
            <a:endParaRPr kumimoji="0" lang="zh-CN" altLang="en-US" sz="1600" b="1" i="0" u="none" strike="noStrike" kern="1200" cap="none" spc="30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56A2AC-2B26-A05B-257F-D7F58CEA9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282" y="2846122"/>
            <a:ext cx="443194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Essentially, it functions as a “black box.” The recommendation rationale is often simply “because users similar to you liked…,” which is vague and fails to reflect the user’s personalized interests.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BE0387-D554-2DD9-4E62-C635B8C77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147" y="2400412"/>
            <a:ext cx="519938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Paradigm 2: LLM Tokens + RS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 LLM as a </a:t>
            </a:r>
            <a:r>
              <a: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preference analyzer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Given a user’s history, it generates a short summary like: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“The user is interested in psychology and self-help books.”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text provides a clear and interpretable signal — usable by the recommendation model or shown directly to the user as the reason for the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192694565"/>
      </p:ext>
    </p:extLst>
  </p:cSld>
  <p:clrMapOvr>
    <a:masterClrMapping/>
  </p:clrMapOvr>
  <p:transition spd="med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8BEA-6988-BDB2-A502-304DCED45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8C3F85B4-0710-5E8A-B7F3-1D28C5487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LLM optimize the CF?</a:t>
            </a:r>
            <a:endParaRPr lang="zh-CN" altLang="en-US" dirty="0"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E8763FF4-5567-44AF-255B-810E6A23CCF9}"/>
              </a:ext>
            </a:extLst>
          </p:cNvPr>
          <p:cNvSpPr/>
          <p:nvPr/>
        </p:nvSpPr>
        <p:spPr>
          <a:xfrm>
            <a:off x="674412" y="1626014"/>
            <a:ext cx="5724000" cy="3207658"/>
          </a:xfrm>
          <a:prstGeom prst="parallelogram">
            <a:avLst/>
          </a:prstGeom>
          <a:noFill/>
          <a:ln w="38100">
            <a:gradFill>
              <a:gsLst>
                <a:gs pos="20000">
                  <a:srgbClr val="003378">
                    <a:alpha val="0"/>
                  </a:srgbClr>
                </a:gs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242A7A7B-CE7B-2341-A1C5-04DCD8422FEB}"/>
              </a:ext>
            </a:extLst>
          </p:cNvPr>
          <p:cNvSpPr/>
          <p:nvPr/>
        </p:nvSpPr>
        <p:spPr>
          <a:xfrm>
            <a:off x="5822046" y="2366244"/>
            <a:ext cx="5724000" cy="3207658"/>
          </a:xfrm>
          <a:prstGeom prst="parallelogram">
            <a:avLst/>
          </a:prstGeom>
          <a:noFill/>
          <a:ln w="38100">
            <a:gradFill>
              <a:gsLst>
                <a:gs pos="20000">
                  <a:srgbClr val="003378">
                    <a:alpha val="0"/>
                  </a:srgbClr>
                </a:gs>
                <a:gs pos="0">
                  <a:schemeClr val="accent1">
                    <a:alpha val="0"/>
                  </a:schemeClr>
                </a:gs>
                <a:gs pos="100000">
                  <a:schemeClr val="accent4"/>
                </a:gs>
              </a:gsLst>
              <a:lin ang="9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DABF86-3A46-ECF8-1598-5D52F1A3B708}"/>
              </a:ext>
            </a:extLst>
          </p:cNvPr>
          <p:cNvSpPr txBox="1"/>
          <p:nvPr/>
        </p:nvSpPr>
        <p:spPr>
          <a:xfrm>
            <a:off x="4978400" y="2558913"/>
            <a:ext cx="2235200" cy="16539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0" i="1" u="none" strike="noStrike" kern="1200" cap="none" spc="300" normalizeH="0" baseline="0" noProof="0" dirty="0">
                <a:ln>
                  <a:noFill/>
                </a:ln>
                <a:solidFill>
                  <a:srgbClr val="006C39">
                    <a:alpha val="11000"/>
                  </a:srgb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VS</a:t>
            </a:r>
            <a:endParaRPr kumimoji="0" lang="zh-CN" altLang="en-US" sz="9600" b="0" i="1" u="none" strike="noStrike" kern="1200" cap="none" spc="300" normalizeH="0" baseline="0" noProof="0" dirty="0">
              <a:ln>
                <a:noFill/>
              </a:ln>
              <a:solidFill>
                <a:srgbClr val="006C39">
                  <a:alpha val="11000"/>
                </a:srgb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BBF338B-BBA4-643C-9AF3-EA32C9AD4EC1}"/>
              </a:ext>
            </a:extLst>
          </p:cNvPr>
          <p:cNvSpPr txBox="1"/>
          <p:nvPr/>
        </p:nvSpPr>
        <p:spPr>
          <a:xfrm>
            <a:off x="1488960" y="2027056"/>
            <a:ext cx="3904343" cy="2889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Question 2: Lack of Interpretability</a:t>
            </a:r>
            <a:endParaRPr kumimoji="0" lang="zh-CN" altLang="en-US" sz="1600" b="1" i="0" u="none" strike="noStrike" kern="1200" cap="none" spc="300" normalizeH="0" baseline="0" noProof="0" dirty="0">
              <a:ln>
                <a:noFill/>
              </a:ln>
              <a:solidFill>
                <a:srgbClr val="006C3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F6C88A-0F87-6F4B-CEA6-7772FFD92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282" y="2846122"/>
            <a:ext cx="443194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+mn-cs"/>
              </a:rPr>
              <a:t>Essentially, it functions as a “black box.” The recommendation rationale is often simply “because users similar to you liked…,” which is vague and fails to reflect the user’s personalized interests.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83AAFE-BFDA-DEF0-A646-09EC34BE9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6412" y="2445737"/>
            <a:ext cx="544145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Paradigm 3: LLM as RS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 LLM’s strong natural language generation ability to directly produce recommendations </a:t>
            </a:r>
            <a:r>
              <a: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along with personalized explanations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helps: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carefully designing prompts that ask the LLM to “recommend and explain,” the model can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accurate explanations based on its understanding of the user’s history and item content.</a:t>
            </a:r>
          </a:p>
        </p:txBody>
      </p:sp>
    </p:spTree>
    <p:extLst>
      <p:ext uri="{BB962C8B-B14F-4D97-AF65-F5344CB8AC3E}">
        <p14:creationId xmlns:p14="http://schemas.microsoft.com/office/powerpoint/2010/main" val="1329684016"/>
      </p:ext>
    </p:extLst>
  </p:cSld>
  <p:clrMapOvr>
    <a:masterClrMapping/>
  </p:clrMapOvr>
  <p:transition spd="med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solidFill>
                  <a:prstClr val="black"/>
                </a:solidFill>
                <a:latin typeface="Century Gothic" panose="020B0502020202020204" pitchFamily="34" charset="0"/>
                <a:sym typeface="+mn-lt"/>
              </a:rPr>
              <a:t>LLM VS CF</a:t>
            </a:r>
            <a:endParaRPr lang="en-US" altLang="zh-CN" dirty="0"/>
          </a:p>
        </p:txBody>
      </p:sp>
      <p:grpSp>
        <p:nvGrpSpPr>
          <p:cNvPr id="39" name="组合 38"/>
          <p:cNvGrpSpPr/>
          <p:nvPr/>
        </p:nvGrpSpPr>
        <p:grpSpPr>
          <a:xfrm>
            <a:off x="8672105" y="2913206"/>
            <a:ext cx="481013" cy="454026"/>
            <a:chOff x="1528763" y="4175125"/>
            <a:chExt cx="481013" cy="454026"/>
          </a:xfrm>
          <a:solidFill>
            <a:schemeClr val="bg1"/>
          </a:solidFill>
        </p:grpSpPr>
        <p:sp>
          <p:nvSpPr>
            <p:cNvPr id="40" name="Freeform 82"/>
            <p:cNvSpPr/>
            <p:nvPr/>
          </p:nvSpPr>
          <p:spPr bwMode="auto">
            <a:xfrm>
              <a:off x="1603375" y="4175125"/>
              <a:ext cx="330200" cy="398463"/>
            </a:xfrm>
            <a:custGeom>
              <a:avLst/>
              <a:gdLst>
                <a:gd name="T0" fmla="*/ 4 w 88"/>
                <a:gd name="T1" fmla="*/ 46 h 106"/>
                <a:gd name="T2" fmla="*/ 42 w 88"/>
                <a:gd name="T3" fmla="*/ 8 h 106"/>
                <a:gd name="T4" fmla="*/ 42 w 88"/>
                <a:gd name="T5" fmla="*/ 104 h 106"/>
                <a:gd name="T6" fmla="*/ 44 w 88"/>
                <a:gd name="T7" fmla="*/ 106 h 106"/>
                <a:gd name="T8" fmla="*/ 46 w 88"/>
                <a:gd name="T9" fmla="*/ 104 h 106"/>
                <a:gd name="T10" fmla="*/ 46 w 88"/>
                <a:gd name="T11" fmla="*/ 8 h 106"/>
                <a:gd name="T12" fmla="*/ 84 w 88"/>
                <a:gd name="T13" fmla="*/ 46 h 106"/>
                <a:gd name="T14" fmla="*/ 88 w 88"/>
                <a:gd name="T15" fmla="*/ 46 h 106"/>
                <a:gd name="T16" fmla="*/ 88 w 88"/>
                <a:gd name="T17" fmla="*/ 43 h 106"/>
                <a:gd name="T18" fmla="*/ 46 w 88"/>
                <a:gd name="T19" fmla="*/ 1 h 106"/>
                <a:gd name="T20" fmla="*/ 42 w 88"/>
                <a:gd name="T21" fmla="*/ 1 h 106"/>
                <a:gd name="T22" fmla="*/ 0 w 88"/>
                <a:gd name="T23" fmla="*/ 43 h 106"/>
                <a:gd name="T24" fmla="*/ 0 w 88"/>
                <a:gd name="T25" fmla="*/ 46 h 106"/>
                <a:gd name="T26" fmla="*/ 4 w 88"/>
                <a:gd name="T27" fmla="*/ 4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8" h="106">
                  <a:moveTo>
                    <a:pt x="4" y="46"/>
                  </a:moveTo>
                  <a:cubicBezTo>
                    <a:pt x="42" y="8"/>
                    <a:pt x="42" y="8"/>
                    <a:pt x="42" y="8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2" y="105"/>
                    <a:pt x="43" y="106"/>
                    <a:pt x="44" y="106"/>
                  </a:cubicBezTo>
                  <a:cubicBezTo>
                    <a:pt x="45" y="106"/>
                    <a:pt x="46" y="105"/>
                    <a:pt x="46" y="104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5" y="47"/>
                    <a:pt x="87" y="47"/>
                    <a:pt x="88" y="46"/>
                  </a:cubicBezTo>
                  <a:cubicBezTo>
                    <a:pt x="88" y="45"/>
                    <a:pt x="88" y="44"/>
                    <a:pt x="88" y="43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5" y="0"/>
                    <a:pt x="43" y="0"/>
                    <a:pt x="42" y="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0" y="45"/>
                    <a:pt x="0" y="46"/>
                  </a:cubicBezTo>
                  <a:cubicBezTo>
                    <a:pt x="1" y="47"/>
                    <a:pt x="3" y="47"/>
                    <a:pt x="4" y="4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83"/>
            <p:cNvSpPr/>
            <p:nvPr/>
          </p:nvSpPr>
          <p:spPr bwMode="auto">
            <a:xfrm>
              <a:off x="1528763" y="4557713"/>
              <a:ext cx="481013" cy="71438"/>
            </a:xfrm>
            <a:custGeom>
              <a:avLst/>
              <a:gdLst>
                <a:gd name="T0" fmla="*/ 126 w 128"/>
                <a:gd name="T1" fmla="*/ 0 h 19"/>
                <a:gd name="T2" fmla="*/ 123 w 128"/>
                <a:gd name="T3" fmla="*/ 2 h 19"/>
                <a:gd name="T4" fmla="*/ 123 w 128"/>
                <a:gd name="T5" fmla="*/ 14 h 19"/>
                <a:gd name="T6" fmla="*/ 5 w 128"/>
                <a:gd name="T7" fmla="*/ 14 h 19"/>
                <a:gd name="T8" fmla="*/ 5 w 128"/>
                <a:gd name="T9" fmla="*/ 2 h 19"/>
                <a:gd name="T10" fmla="*/ 2 w 128"/>
                <a:gd name="T11" fmla="*/ 0 h 19"/>
                <a:gd name="T12" fmla="*/ 0 w 128"/>
                <a:gd name="T13" fmla="*/ 2 h 19"/>
                <a:gd name="T14" fmla="*/ 0 w 128"/>
                <a:gd name="T15" fmla="*/ 17 h 19"/>
                <a:gd name="T16" fmla="*/ 2 w 128"/>
                <a:gd name="T17" fmla="*/ 19 h 19"/>
                <a:gd name="T18" fmla="*/ 126 w 128"/>
                <a:gd name="T19" fmla="*/ 19 h 19"/>
                <a:gd name="T20" fmla="*/ 128 w 128"/>
                <a:gd name="T21" fmla="*/ 17 h 19"/>
                <a:gd name="T22" fmla="*/ 128 w 128"/>
                <a:gd name="T23" fmla="*/ 2 h 19"/>
                <a:gd name="T24" fmla="*/ 126 w 128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9">
                  <a:moveTo>
                    <a:pt x="126" y="0"/>
                  </a:moveTo>
                  <a:cubicBezTo>
                    <a:pt x="124" y="0"/>
                    <a:pt x="123" y="1"/>
                    <a:pt x="123" y="2"/>
                  </a:cubicBezTo>
                  <a:cubicBezTo>
                    <a:pt x="123" y="14"/>
                    <a:pt x="123" y="14"/>
                    <a:pt x="123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7" y="19"/>
                    <a:pt x="128" y="18"/>
                    <a:pt x="128" y="17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77850" y="1001395"/>
          <a:ext cx="10801350" cy="5177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Traditional CF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LLM Enhanced Recommendation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4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Data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Interaction Matrix (Rating/Click)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Interaction + Text Description + User Language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Cold start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Strong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Real-time/Scalability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Mature, well-optimized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Challenges Remain (Delay/Cost)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Semantic Understanding/Interpretability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Strong (can generate explanations, natural language)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Recommendation Diversity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Based on historical interactions, it may tend to become popular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More rich items can be expanded based on semantics/context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Cost/Engineering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Optimal 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Sufficient data, dense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New users/new projects, natural language preferences, complex user descriptions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3499720" cy="857460"/>
            <a:chOff x="5588007" y="1590635"/>
            <a:chExt cx="3499720" cy="857460"/>
          </a:xfrm>
        </p:grpSpPr>
        <p:sp>
          <p:nvSpPr>
            <p:cNvPr id="19" name="文本框 18"/>
            <p:cNvSpPr txBox="1"/>
            <p:nvPr/>
          </p:nvSpPr>
          <p:spPr>
            <a:xfrm>
              <a:off x="6549853" y="1696200"/>
              <a:ext cx="2537874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zh-CN" sz="3600" b="1" dirty="0">
                  <a:solidFill>
                    <a:prstClr val="black"/>
                  </a:solidFill>
                  <a:latin typeface="Century Gothic" panose="020B0502020202020204" pitchFamily="34" charset="0"/>
                  <a:ea typeface="微软雅黑" panose="020B0503020204020204" charset="-122"/>
                  <a:sym typeface="+mn-lt"/>
                </a:rPr>
                <a:t>New Trend</a:t>
              </a:r>
              <a:endParaRPr lang="zh-CN" altLang="en-US" sz="3600" b="1" dirty="0">
                <a:solidFill>
                  <a:prstClr val="black"/>
                </a:solidFill>
                <a:latin typeface="Century Gothic" panose="020B0502020202020204" pitchFamily="34" charset="0"/>
                <a:ea typeface="微软雅黑" panose="020B0503020204020204" charset="-122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rPr>
                <a:t>9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en-US" altLang="zh-CN" dirty="0">
                <a:solidFill>
                  <a:prstClr val="black"/>
                </a:solidFill>
                <a:latin typeface="Century Gothic" panose="020B0502020202020204" pitchFamily="34" charset="0"/>
                <a:sym typeface="+mn-lt"/>
              </a:rPr>
              <a:t>Trend</a:t>
            </a:r>
            <a:endParaRPr lang="en-US" altLang="zh-CN" dirty="0"/>
          </a:p>
        </p:txBody>
      </p:sp>
      <p:grpSp>
        <p:nvGrpSpPr>
          <p:cNvPr id="75" name="组合 74"/>
          <p:cNvGrpSpPr/>
          <p:nvPr/>
        </p:nvGrpSpPr>
        <p:grpSpPr>
          <a:xfrm>
            <a:off x="9211834" y="3943214"/>
            <a:ext cx="2037186" cy="1244895"/>
            <a:chOff x="673100" y="3812589"/>
            <a:chExt cx="2037186" cy="1244895"/>
          </a:xfrm>
        </p:grpSpPr>
        <p:sp>
          <p:nvSpPr>
            <p:cNvPr id="76" name="îŝḻîdé"/>
            <p:cNvSpPr/>
            <p:nvPr/>
          </p:nvSpPr>
          <p:spPr bwMode="auto">
            <a:xfrm>
              <a:off x="673100" y="4193499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ïṩḷîdê"/>
            <p:cNvSpPr txBox="1"/>
            <p:nvPr/>
          </p:nvSpPr>
          <p:spPr bwMode="auto">
            <a:xfrm>
              <a:off x="813805" y="3812589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7148125" y="1842252"/>
            <a:ext cx="2037186" cy="1364341"/>
            <a:chOff x="7148125" y="1813223"/>
            <a:chExt cx="2037186" cy="1364341"/>
          </a:xfrm>
        </p:grpSpPr>
        <p:sp>
          <p:nvSpPr>
            <p:cNvPr id="79" name="îŝḻîdé"/>
            <p:cNvSpPr/>
            <p:nvPr/>
          </p:nvSpPr>
          <p:spPr bwMode="auto">
            <a:xfrm>
              <a:off x="7148125" y="1813223"/>
              <a:ext cx="2037186" cy="86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ïṩḷîdê"/>
            <p:cNvSpPr txBox="1"/>
            <p:nvPr/>
          </p:nvSpPr>
          <p:spPr bwMode="auto">
            <a:xfrm>
              <a:off x="7288830" y="2796653"/>
              <a:ext cx="1755776" cy="3809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616585" y="1093470"/>
            <a:ext cx="6464300" cy="4094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Here we recommend some cutting-edge papers for your reference.</a:t>
            </a:r>
            <a:endParaRPr lang="en-US" altLang="zh-CN" sz="1800" b="1" i="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090" y="1714500"/>
            <a:ext cx="4585335" cy="303657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27F1B27-9B41-D7E6-792B-AC4F282D0B7B}"/>
              </a:ext>
            </a:extLst>
          </p:cNvPr>
          <p:cNvSpPr txBox="1"/>
          <p:nvPr/>
        </p:nvSpPr>
        <p:spPr>
          <a:xfrm>
            <a:off x="657402" y="2825682"/>
            <a:ext cx="60969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hlinkClick r:id="rId4"/>
              </a:rPr>
              <a:t>[2502.10050] A Survey on LLM-powered Agents for Recommender Systems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544874-3AF9-8B79-4B93-AAF4E4149214}"/>
              </a:ext>
            </a:extLst>
          </p:cNvPr>
          <p:cNvSpPr txBox="1"/>
          <p:nvPr/>
        </p:nvSpPr>
        <p:spPr>
          <a:xfrm>
            <a:off x="657402" y="2179351"/>
            <a:ext cx="60969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1.A Survey on LLM-powered Agents for Recommender Systems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7E1473-357B-04F0-AED8-0F55AC184A35}"/>
              </a:ext>
            </a:extLst>
          </p:cNvPr>
          <p:cNvSpPr txBox="1"/>
          <p:nvPr/>
        </p:nvSpPr>
        <p:spPr>
          <a:xfrm>
            <a:off x="657402" y="3818198"/>
            <a:ext cx="609694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Lucida Grande"/>
              </a:rPr>
              <a:t>2. Large Language Model Enhanced Recommender Systems: A Survey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043599-05B8-A149-8113-EA46452DC020}"/>
              </a:ext>
            </a:extLst>
          </p:cNvPr>
          <p:cNvSpPr txBox="1"/>
          <p:nvPr/>
        </p:nvSpPr>
        <p:spPr>
          <a:xfrm>
            <a:off x="616585" y="4593482"/>
            <a:ext cx="60969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5"/>
              </a:rPr>
              <a:t>[2412.13432] Large Language Model Enhanced Recommender Systems: A Survey</a:t>
            </a:r>
            <a:endParaRPr lang="zh-CN" altLang="en-US" dirty="0"/>
          </a:p>
        </p:txBody>
      </p:sp>
    </p:spTree>
  </p:cSld>
  <p:clrMapOvr>
    <a:masterClrMapping/>
  </p:clrMapOvr>
  <p:transition spd="med">
    <p:pull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833795" y="2336758"/>
            <a:ext cx="85244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THANKS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50*370"/>
  <p:tag name="TABLE_ENDDRAG_RECT" val="68*109*850*37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2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目1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4333</Words>
  <Application>Microsoft Office PowerPoint</Application>
  <PresentationFormat>宽屏</PresentationFormat>
  <Paragraphs>638</Paragraphs>
  <Slides>55</Slides>
  <Notes>55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55</vt:i4>
      </vt:variant>
    </vt:vector>
  </HeadingPairs>
  <TitlesOfParts>
    <vt:vector size="70" baseType="lpstr">
      <vt:lpstr>Lucida Grande</vt:lpstr>
      <vt:lpstr>等线</vt:lpstr>
      <vt:lpstr>等线 Light</vt:lpstr>
      <vt:lpstr>华文中宋</vt:lpstr>
      <vt:lpstr>微软雅黑</vt:lpstr>
      <vt:lpstr>微软雅黑 Light</vt:lpstr>
      <vt:lpstr>Arial</vt:lpstr>
      <vt:lpstr>Cambria Math</vt:lpstr>
      <vt:lpstr>Century Gothic</vt:lpstr>
      <vt:lpstr>Times New Roman</vt:lpstr>
      <vt:lpstr>Office 主题​​</vt:lpstr>
      <vt:lpstr>封2​​</vt:lpstr>
      <vt:lpstr>目1​​</vt:lpstr>
      <vt:lpstr>内页​​</vt:lpstr>
      <vt:lpstr>1_内页​​</vt:lpstr>
      <vt:lpstr>Traditional collaborative filtering VS LLM enhanced recommendation</vt:lpstr>
      <vt:lpstr>PowerPoint 演示文稿</vt:lpstr>
      <vt:lpstr>PowerPoint 演示文稿</vt:lpstr>
      <vt:lpstr>PowerPoint 演示文稿</vt:lpstr>
      <vt:lpstr>What is Recommendation System?</vt:lpstr>
      <vt:lpstr>PowerPoint 演示文稿</vt:lpstr>
      <vt:lpstr>What is collaborative filtering</vt:lpstr>
      <vt:lpstr>Type of CF</vt:lpstr>
      <vt:lpstr>User-based CF </vt:lpstr>
      <vt:lpstr>Item-based CF </vt:lpstr>
      <vt:lpstr>How to evaluate “similarity”?</vt:lpstr>
      <vt:lpstr>Method1: Jaccard Similarity</vt:lpstr>
      <vt:lpstr>Method2: Cosine Distance</vt:lpstr>
      <vt:lpstr>Method3: Pearson correlation coefficient </vt:lpstr>
      <vt:lpstr>Similarity method Contrast</vt:lpstr>
      <vt:lpstr>Example: use user/item based CF </vt:lpstr>
      <vt:lpstr>User-based CF </vt:lpstr>
      <vt:lpstr>Item-based CF </vt:lpstr>
      <vt:lpstr>PowerPoint 演示文稿</vt:lpstr>
      <vt:lpstr>Workflow </vt:lpstr>
      <vt:lpstr>PowerPoint 演示文稿</vt:lpstr>
      <vt:lpstr>Pros</vt:lpstr>
      <vt:lpstr>Challenge</vt:lpstr>
      <vt:lpstr>How to deal with Sparsity?</vt:lpstr>
      <vt:lpstr>Matrix Factorization, MF</vt:lpstr>
      <vt:lpstr>Eigen Decomposition</vt:lpstr>
      <vt:lpstr>Singular Value Decomposition (SVD)</vt:lpstr>
      <vt:lpstr>Singular Value Decomposition (SVD)</vt:lpstr>
      <vt:lpstr>Singular Value Decomposition (SVD)</vt:lpstr>
      <vt:lpstr>Example </vt:lpstr>
      <vt:lpstr>Example</vt:lpstr>
      <vt:lpstr>LFM-SGD </vt:lpstr>
      <vt:lpstr>Cold-start, Scalability?</vt:lpstr>
      <vt:lpstr>PowerPoint 演示文稿</vt:lpstr>
      <vt:lpstr>Arise of LLM</vt:lpstr>
      <vt:lpstr>PowerPoint 演示文稿</vt:lpstr>
      <vt:lpstr>Modes</vt:lpstr>
      <vt:lpstr>Modes</vt:lpstr>
      <vt:lpstr>Training manners</vt:lpstr>
      <vt:lpstr>Manner1: Fine-tuning</vt:lpstr>
      <vt:lpstr>Manner2: Prompting / In-Context Learning</vt:lpstr>
      <vt:lpstr>Manner3: Prompt Tuning </vt:lpstr>
      <vt:lpstr>Manner4: Instruction Tuning </vt:lpstr>
      <vt:lpstr>Manner quiz </vt:lpstr>
      <vt:lpstr>Main paradigms</vt:lpstr>
      <vt:lpstr>Main paradigms</vt:lpstr>
      <vt:lpstr>Main paradigms</vt:lpstr>
      <vt:lpstr>PowerPoint 演示文稿</vt:lpstr>
      <vt:lpstr>How LLM optimize the CF?</vt:lpstr>
      <vt:lpstr>How LLM optimize the CF?</vt:lpstr>
      <vt:lpstr>How LLM optimize the CF?</vt:lpstr>
      <vt:lpstr>LLM VS CF</vt:lpstr>
      <vt:lpstr>PowerPoint 演示文稿</vt:lpstr>
      <vt:lpstr>Trend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Tiancheng LAN</dc:creator>
  <cp:lastModifiedBy>Tiancheng LAN</cp:lastModifiedBy>
  <cp:revision>29</cp:revision>
  <dcterms:created xsi:type="dcterms:W3CDTF">2025-10-22T14:40:00Z</dcterms:created>
  <dcterms:modified xsi:type="dcterms:W3CDTF">2025-10-23T17:08:11Z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352B3F6C8BA743C0B140E8CA8F537F74_12</vt:lpwstr>
  </property>
  <property fmtid="{D5CDD505-2E9C-101B-9397-08002B2CF9AE}" pid="3" name="KSOProductBuildVer">
    <vt:lpwstr>2052-12.1.0.23125</vt:lpwstr>
  </property>
</Properties>
</file>