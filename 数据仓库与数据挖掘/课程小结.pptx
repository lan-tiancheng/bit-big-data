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8"/>
  </p:notesMasterIdLst>
  <p:sldIdLst>
    <p:sldId id="284" r:id="rId4"/>
    <p:sldId id="286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46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0" Type="http://schemas.openxmlformats.org/officeDocument/2006/relationships/tags" Target="../tags/tag168.xml"/><Relationship Id="rId2" Type="http://schemas.openxmlformats.org/officeDocument/2006/relationships/tags" Target="../tags/tag150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6.png"/><Relationship Id="rId4" Type="http://schemas.openxmlformats.org/officeDocument/2006/relationships/tags" Target="../tags/tag184.xml"/><Relationship Id="rId3" Type="http://schemas.openxmlformats.org/officeDocument/2006/relationships/image" Target="../media/image5.png"/><Relationship Id="rId2" Type="http://schemas.openxmlformats.org/officeDocument/2006/relationships/tags" Target="../tags/tag183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 rotWithShape="1">
          <a:blip r:embed="rId2" cstate="print"/>
          <a:srcRect l="18116" t="7030" r="31559" b="11337"/>
          <a:stretch>
            <a:fillRect/>
          </a:stretch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E2CC6A-3CD6-4EB2-A6B9-76993E7CF1F2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1" name="Freeform 6"/>
              <p:cNvSpPr/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 rotWithShape="1">
          <a:blip r:embed="rId2" cstate="print"/>
          <a:srcRect l="18116" t="7030" r="31559" b="11337"/>
          <a:stretch>
            <a:fillRect/>
          </a:stretch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5dx" fmla="*/ dsw 0 1"/>
              <a:gd name="p0a5dy" fmla="*/ dsh 0 1"/>
              <a:gd name="p0a6dx" fmla="*/ dsw 360 1"/>
              <a:gd name="p0a6dy" fmla="*/ dsh 0 1"/>
              <a:gd name="p0a7dx" fmla="*/ dsw 0 1"/>
              <a:gd name="p0a7dy" fmla="*/ dsh 304 1"/>
              <a:gd name="p0a8dx" fmla="*/ dsw 360 1"/>
              <a:gd name="p0a8dy" fmla="*/ dsh 304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5dx" fmla="*/ dsw 0 1"/>
              <a:gd name="p0a5dy" fmla="*/ dsh 0 1"/>
              <a:gd name="p0a6dx" fmla="*/ dsw 360 1"/>
              <a:gd name="p0a6dy" fmla="*/ dsh 0 1"/>
              <a:gd name="p0a7dx" fmla="*/ dsw 0 1"/>
              <a:gd name="p0a7dy" fmla="*/ dsh 304 1"/>
              <a:gd name="p0a8dx" fmla="*/ dsw 360 1"/>
              <a:gd name="p0a8dy" fmla="*/ dsh 304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286000"/>
            <a:ext cx="2514600" cy="37592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6dx" fmla="*/ dsw 360 1"/>
              <a:gd name="p0a6dy" fmla="*/ dsh 0 1"/>
              <a:gd name="p0a7dx" fmla="*/ dsw 0 1"/>
              <a:gd name="p0a7dy" fmla="*/ dsh 304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286000"/>
            <a:ext cx="2514600" cy="37592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6dx" fmla="*/ dsw 360 1"/>
              <a:gd name="p0a6dy" fmla="*/ dsh 0 1"/>
              <a:gd name="p0a7dx" fmla="*/ dsw 0 1"/>
              <a:gd name="p0a7dy" fmla="*/ dsh 304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286000"/>
            <a:ext cx="2514600" cy="37592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6dx" fmla="*/ dsw 360 1"/>
              <a:gd name="p0a6dy" fmla="*/ dsh 0 1"/>
              <a:gd name="p0a7dx" fmla="*/ dsw 0 1"/>
              <a:gd name="p0a7dy" fmla="*/ dsh 304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7272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286000"/>
            <a:ext cx="2514600" cy="37592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6dx" fmla="*/ dsw 360 1"/>
              <a:gd name="p0a6dy" fmla="*/ dsh 0 1"/>
              <a:gd name="p0a7dx" fmla="*/ dsw 0 1"/>
              <a:gd name="p0a7dy" fmla="*/ dsh 304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486400 w 5486400"/>
              <a:gd name="connsiteY1" fmla="*/ 0 h 4724400"/>
              <a:gd name="connisteX2" fmla="*/ 5486400 w 5486400"/>
              <a:gd name="connsiteY2" fmla="*/ 4724400 h 4724400"/>
              <a:gd name="connisteX3" fmla="*/ 0 w 5486400"/>
              <a:gd name="connsiteY3" fmla="*/ 4724400 h 4724400"/>
              <a:gd name="connisteX4" fmla="*/ 0 w 54864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4724400">
                <a:moveTo>
                  <a:pt x="0" y="0"/>
                </a:moveTo>
                <a:lnTo>
                  <a:pt x="5486400" y="0"/>
                </a:lnTo>
                <a:lnTo>
                  <a:pt x="54864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2997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35560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3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556000"/>
            <a:ext cx="25146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146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3556000"/>
            <a:ext cx="25146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429000" y="1524000"/>
            <a:ext cx="25146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7338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7338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3556000"/>
            <a:ext cx="25146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248400" y="1524000"/>
            <a:ext cx="25146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5532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5532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3556000"/>
            <a:ext cx="25146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67800" y="1524000"/>
            <a:ext cx="25146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3726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3726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842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4038600 w 4038600"/>
              <a:gd name="connsiteY1" fmla="*/ 0 h 4724400"/>
              <a:gd name="connisteX2" fmla="*/ 4038600 w 4038600"/>
              <a:gd name="connsiteY2" fmla="*/ 4724400 h 4724400"/>
              <a:gd name="connisteX3" fmla="*/ 0 w 4038600"/>
              <a:gd name="connsiteY3" fmla="*/ 4724400 h 4724400"/>
              <a:gd name="connisteX4" fmla="*/ 0 w 40386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4724400">
                <a:moveTo>
                  <a:pt x="0" y="0"/>
                </a:moveTo>
                <a:lnTo>
                  <a:pt x="4038600" y="0"/>
                </a:lnTo>
                <a:lnTo>
                  <a:pt x="40386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84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934200 w 6934200"/>
              <a:gd name="connsiteY1" fmla="*/ 0 h 4724400"/>
              <a:gd name="connisteX2" fmla="*/ 6934200 w 6934200"/>
              <a:gd name="connsiteY2" fmla="*/ 4724400 h 4724400"/>
              <a:gd name="connisteX3" fmla="*/ 0 w 6934200"/>
              <a:gd name="connsiteY3" fmla="*/ 4724400 h 4724400"/>
              <a:gd name="connisteX4" fmla="*/ 0 w 69342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4724400">
                <a:moveTo>
                  <a:pt x="0" y="0"/>
                </a:moveTo>
                <a:lnTo>
                  <a:pt x="6934200" y="0"/>
                </a:lnTo>
                <a:lnTo>
                  <a:pt x="69342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41400" y="31496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41400" y="37084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486400 w 5486400"/>
              <a:gd name="connsiteY1" fmla="*/ 0 h 4724400"/>
              <a:gd name="connisteX2" fmla="*/ 5486400 w 5486400"/>
              <a:gd name="connsiteY2" fmla="*/ 4724400 h 4724400"/>
              <a:gd name="connisteX3" fmla="*/ 0 w 5486400"/>
              <a:gd name="connsiteY3" fmla="*/ 4724400 h 4724400"/>
              <a:gd name="connisteX4" fmla="*/ 0 w 54864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4724400">
                <a:moveTo>
                  <a:pt x="0" y="0"/>
                </a:moveTo>
                <a:lnTo>
                  <a:pt x="5486400" y="0"/>
                </a:lnTo>
                <a:lnTo>
                  <a:pt x="54864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486400 w 5486400"/>
              <a:gd name="connsiteY1" fmla="*/ 0 h 4724400"/>
              <a:gd name="connisteX2" fmla="*/ 5486400 w 5486400"/>
              <a:gd name="connsiteY2" fmla="*/ 4724400 h 4724400"/>
              <a:gd name="connisteX3" fmla="*/ 0 w 5486400"/>
              <a:gd name="connsiteY3" fmla="*/ 4724400 h 4724400"/>
              <a:gd name="connisteX4" fmla="*/ 0 w 54864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4724400">
                <a:moveTo>
                  <a:pt x="0" y="0"/>
                </a:moveTo>
                <a:lnTo>
                  <a:pt x="5486400" y="0"/>
                </a:lnTo>
                <a:lnTo>
                  <a:pt x="54864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20320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495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0546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78232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400800" y="44958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400800" y="50546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3251200"/>
          </a:xfrm>
          <a:custGeom>
            <a:avLst/>
            <a:gdLst>
              <a:gd name="connisteX0" fmla="*/ 0 w 5334000"/>
              <a:gd name="connsiteY0" fmla="*/ 0 h 3251200"/>
              <a:gd name="connisteX1" fmla="*/ 5334000 w 5334000"/>
              <a:gd name="connsiteY1" fmla="*/ 0 h 3251200"/>
              <a:gd name="connisteX2" fmla="*/ 5334000 w 5334000"/>
              <a:gd name="connsiteY2" fmla="*/ 3251200 h 3251200"/>
              <a:gd name="connisteX3" fmla="*/ 0 w 5334000"/>
              <a:gd name="connsiteY3" fmla="*/ 3251200 h 3251200"/>
              <a:gd name="connisteX4" fmla="*/ 0 w 5334000"/>
              <a:gd name="connsiteY4" fmla="*/ 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3251200">
                <a:moveTo>
                  <a:pt x="0" y="0"/>
                </a:moveTo>
                <a:lnTo>
                  <a:pt x="5334000" y="0"/>
                </a:lnTo>
                <a:lnTo>
                  <a:pt x="53340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3251200"/>
          </a:xfrm>
          <a:custGeom>
            <a:avLst/>
            <a:gdLst>
              <a:gd name="connisteX0" fmla="*/ 0 w 5334000"/>
              <a:gd name="connsiteY0" fmla="*/ 0 h 3251200"/>
              <a:gd name="connisteX1" fmla="*/ 5334000 w 5334000"/>
              <a:gd name="connsiteY1" fmla="*/ 0 h 3251200"/>
              <a:gd name="connisteX2" fmla="*/ 5334000 w 5334000"/>
              <a:gd name="connsiteY2" fmla="*/ 3251200 h 3251200"/>
              <a:gd name="connisteX3" fmla="*/ 0 w 5334000"/>
              <a:gd name="connsiteY3" fmla="*/ 3251200 h 3251200"/>
              <a:gd name="connisteX4" fmla="*/ 0 w 5334000"/>
              <a:gd name="connsiteY4" fmla="*/ 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3251200">
                <a:moveTo>
                  <a:pt x="0" y="0"/>
                </a:moveTo>
                <a:lnTo>
                  <a:pt x="5334000" y="0"/>
                </a:lnTo>
                <a:lnTo>
                  <a:pt x="53340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87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387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87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x0" fmla="*/ 0 w 360"/>
              <a:gd name="p0y0" fmla="*/ 0 h 304"/>
              <a:gd name="p0x1" fmla="*/ 360 w 360"/>
              <a:gd name="p0y1" fmla="*/ 0 h 304"/>
              <a:gd name="p0x2" fmla="*/ 360 w 360"/>
              <a:gd name="p0y2" fmla="*/ 304 h 304"/>
              <a:gd name="p0x3" fmla="*/ 0 w 360"/>
              <a:gd name="p0y3" fmla="*/ 304 h 304"/>
              <a:gd name="p0x4" fmla="*/ 0 w 360"/>
              <a:gd name="p0y4" fmla="*/ 0 h 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7dx" fmla="*/ dsw 0 1"/>
              <a:gd name="p0a7dy" fmla="*/ dsh 304 1"/>
              <a:gd name="p0a6dx" fmla="*/ dsw 360 1"/>
              <a:gd name="p0a6dy" fmla="*/ dsh 0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727200" y="2082800"/>
            <a:ext cx="1219200" cy="1219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17 w 120"/>
              <a:gd name="p0y0" fmla="*/ 0 h 120"/>
              <a:gd name="p0x1" fmla="*/ 102 w 120"/>
              <a:gd name="p0y1" fmla="*/ 0 h 120"/>
              <a:gd name="p0x2" fmla="*/ 102 w 120"/>
              <a:gd name="p0y2" fmla="*/ 9 h 120"/>
              <a:gd name="p0x3" fmla="*/ 110 w 120"/>
              <a:gd name="p0y3" fmla="*/ 18 h 120"/>
              <a:gd name="p0x4" fmla="*/ 120 w 120"/>
              <a:gd name="p0y4" fmla="*/ 18 h 120"/>
              <a:gd name="p0x5" fmla="*/ 120 w 120"/>
              <a:gd name="p0y5" fmla="*/ 102 h 120"/>
              <a:gd name="p0x6" fmla="*/ 110 w 120"/>
              <a:gd name="p0y6" fmla="*/ 102 h 120"/>
              <a:gd name="p0x7" fmla="*/ 102 w 120"/>
              <a:gd name="p0y7" fmla="*/ 110 h 120"/>
              <a:gd name="p0x8" fmla="*/ 102 w 120"/>
              <a:gd name="p0y8" fmla="*/ 120 h 120"/>
              <a:gd name="p0x9" fmla="*/ 17 w 120"/>
              <a:gd name="p0y9" fmla="*/ 120 h 120"/>
              <a:gd name="p0x10" fmla="*/ 17 w 120"/>
              <a:gd name="p0y10" fmla="*/ 110 h 120"/>
              <a:gd name="p0x11" fmla="*/ 9 w 120"/>
              <a:gd name="p0y11" fmla="*/ 102 h 120"/>
              <a:gd name="p0x12" fmla="*/ 0 w 120"/>
              <a:gd name="p0y12" fmla="*/ 102 h 120"/>
              <a:gd name="p0x13" fmla="*/ 0 w 120"/>
              <a:gd name="p0y13" fmla="*/ 18 h 120"/>
              <a:gd name="p0x14" fmla="*/ 9 w 120"/>
              <a:gd name="p0y14" fmla="*/ 17 h 120"/>
              <a:gd name="p0x15" fmla="*/ 17 w 120"/>
              <a:gd name="p0y15" fmla="*/ 9 h 120"/>
              <a:gd name="p0x16" fmla="*/ 17 w 120"/>
              <a:gd name="p0y16" fmla="*/ 0 h 1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20116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7dx" fmla="*/ dsw 0 1"/>
              <a:gd name="p0a7dy" fmla="*/ dsh 304 1"/>
              <a:gd name="p0a6dx" fmla="*/ dsw 360 1"/>
              <a:gd name="p0a6dy" fmla="*/ dsh 0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486400" y="2082800"/>
            <a:ext cx="1219200" cy="1219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17 w 120"/>
              <a:gd name="p0y0" fmla="*/ 0 h 120"/>
              <a:gd name="p0x1" fmla="*/ 102 w 120"/>
              <a:gd name="p0y1" fmla="*/ 0 h 120"/>
              <a:gd name="p0x2" fmla="*/ 102 w 120"/>
              <a:gd name="p0y2" fmla="*/ 9 h 120"/>
              <a:gd name="p0x3" fmla="*/ 110 w 120"/>
              <a:gd name="p0y3" fmla="*/ 18 h 120"/>
              <a:gd name="p0x4" fmla="*/ 120 w 120"/>
              <a:gd name="p0y4" fmla="*/ 18 h 120"/>
              <a:gd name="p0x5" fmla="*/ 120 w 120"/>
              <a:gd name="p0y5" fmla="*/ 102 h 120"/>
              <a:gd name="p0x6" fmla="*/ 110 w 120"/>
              <a:gd name="p0y6" fmla="*/ 102 h 120"/>
              <a:gd name="p0x7" fmla="*/ 102 w 120"/>
              <a:gd name="p0y7" fmla="*/ 110 h 120"/>
              <a:gd name="p0x8" fmla="*/ 102 w 120"/>
              <a:gd name="p0y8" fmla="*/ 120 h 120"/>
              <a:gd name="p0x9" fmla="*/ 17 w 120"/>
              <a:gd name="p0y9" fmla="*/ 120 h 120"/>
              <a:gd name="p0x10" fmla="*/ 17 w 120"/>
              <a:gd name="p0y10" fmla="*/ 110 h 120"/>
              <a:gd name="p0x11" fmla="*/ 9 w 120"/>
              <a:gd name="p0y11" fmla="*/ 102 h 120"/>
              <a:gd name="p0x12" fmla="*/ 0 w 120"/>
              <a:gd name="p0y12" fmla="*/ 102 h 120"/>
              <a:gd name="p0x13" fmla="*/ 0 w 120"/>
              <a:gd name="p0y13" fmla="*/ 18 h 120"/>
              <a:gd name="p0x14" fmla="*/ 9 w 120"/>
              <a:gd name="p0y14" fmla="*/ 17 h 120"/>
              <a:gd name="p0x15" fmla="*/ 17 w 120"/>
              <a:gd name="p0y15" fmla="*/ 9 h 120"/>
              <a:gd name="p0x16" fmla="*/ 17 w 120"/>
              <a:gd name="p0y16" fmla="*/ 0 h 1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7708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sw" fmla="*/ 1 w 360"/>
              <a:gd name="sh" fmla="*/ 1 h 304"/>
              <a:gd name="mins" fmla="min sw sh"/>
              <a:gd name="dsw" fmla="+- 0 sw mins"/>
              <a:gd name="dsh" fmla="+- 0 sh mins"/>
              <a:gd name="p0a8dx" fmla="*/ dsw 360 1"/>
              <a:gd name="p0a8dy" fmla="*/ dsh 304 1"/>
              <a:gd name="p0a7dx" fmla="*/ dsw 0 1"/>
              <a:gd name="p0a7dy" fmla="*/ dsh 304 1"/>
              <a:gd name="p0a6dx" fmla="*/ dsw 360 1"/>
              <a:gd name="p0a6dy" fmla="*/ dsh 0 1"/>
              <a:gd name="p0a5dx" fmla="*/ dsw 0 1"/>
              <a:gd name="p0a5dy" fmla="*/ dsh 0 1"/>
              <a:gd name="p0x0s" fmla="*/ 336 mins 1"/>
              <a:gd name="p0x0" fmla="+- p0x0s p0a6dx 0"/>
              <a:gd name="p0y0s" fmla="*/ 0 mins 1"/>
              <a:gd name="p0y0" fmla="+- p0y0s p0a6dy 0"/>
              <a:gd name="p0x1s" fmla="*/ 336 mins 1"/>
              <a:gd name="p0x1" fmla="+- p0x1s p0a6dx 0"/>
              <a:gd name="p0y1s" fmla="*/ 13 mins 1"/>
              <a:gd name="p0y1" fmla="+- p0y1s p0a6dy 0"/>
              <a:gd name="p0x2s" fmla="*/ 346 mins 1"/>
              <a:gd name="p0x2" fmla="+- p0x2s p0a6dx 0"/>
              <a:gd name="p0y2s" fmla="*/ 24 mins 1"/>
              <a:gd name="p0y2" fmla="+- p0y2s p0a6dy 0"/>
              <a:gd name="p0x3s" fmla="*/ 360 mins 1"/>
              <a:gd name="p0x3" fmla="+- p0x3s p0a6dx 0"/>
              <a:gd name="p0y3s" fmla="*/ 24 mins 1"/>
              <a:gd name="p0y3" fmla="+- p0y3s p0a6dy 0"/>
              <a:gd name="p0x4s" fmla="*/ 360 mins 1"/>
              <a:gd name="p0x4" fmla="+- p0x4s p0a8dx 0"/>
              <a:gd name="p0y4s" fmla="*/ 304 mins 1"/>
              <a:gd name="p0y4" fmla="+- p0y4s p0a8dy 0"/>
              <a:gd name="p0x5s" fmla="*/ 0 mins 1"/>
              <a:gd name="p0x5" fmla="+- p0x5s p0a7dx 0"/>
              <a:gd name="p0y5s" fmla="*/ 304 mins 1"/>
              <a:gd name="p0y5" fmla="+- p0y5s p0a7dy 0"/>
              <a:gd name="p0x6s" fmla="*/ 0 mins 1"/>
              <a:gd name="p0x6" fmla="+- p0x6s p0a5dx 0"/>
              <a:gd name="p0y6s" fmla="*/ 0 mins 1"/>
              <a:gd name="p0y6" fmla="+- p0y6s p0a5dy 0"/>
              <a:gd name="p0x7s" fmla="*/ 336 mins 1"/>
              <a:gd name="p0x7" fmla="+- p0x7s p0a6dx 0"/>
              <a:gd name="p0y7s" fmla="*/ 0 mins 1"/>
              <a:gd name="p0y7" fmla="+- p0y7s p0a6dy 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245600" y="2082800"/>
            <a:ext cx="1219200" cy="1219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17 w 120"/>
              <a:gd name="p0y0" fmla="*/ 0 h 120"/>
              <a:gd name="p0x1" fmla="*/ 102 w 120"/>
              <a:gd name="p0y1" fmla="*/ 0 h 120"/>
              <a:gd name="p0x2" fmla="*/ 102 w 120"/>
              <a:gd name="p0y2" fmla="*/ 9 h 120"/>
              <a:gd name="p0x3" fmla="*/ 110 w 120"/>
              <a:gd name="p0y3" fmla="*/ 18 h 120"/>
              <a:gd name="p0x4" fmla="*/ 120 w 120"/>
              <a:gd name="p0y4" fmla="*/ 18 h 120"/>
              <a:gd name="p0x5" fmla="*/ 120 w 120"/>
              <a:gd name="p0y5" fmla="*/ 102 h 120"/>
              <a:gd name="p0x6" fmla="*/ 110 w 120"/>
              <a:gd name="p0y6" fmla="*/ 102 h 120"/>
              <a:gd name="p0x7" fmla="*/ 102 w 120"/>
              <a:gd name="p0y7" fmla="*/ 110 h 120"/>
              <a:gd name="p0x8" fmla="*/ 102 w 120"/>
              <a:gd name="p0y8" fmla="*/ 120 h 120"/>
              <a:gd name="p0x9" fmla="*/ 17 w 120"/>
              <a:gd name="p0y9" fmla="*/ 120 h 120"/>
              <a:gd name="p0x10" fmla="*/ 17 w 120"/>
              <a:gd name="p0y10" fmla="*/ 110 h 120"/>
              <a:gd name="p0x11" fmla="*/ 9 w 120"/>
              <a:gd name="p0y11" fmla="*/ 102 h 120"/>
              <a:gd name="p0x12" fmla="*/ 0 w 120"/>
              <a:gd name="p0y12" fmla="*/ 102 h 120"/>
              <a:gd name="p0x13" fmla="*/ 0 w 120"/>
              <a:gd name="p0y13" fmla="*/ 18 h 120"/>
              <a:gd name="p0x14" fmla="*/ 9 w 120"/>
              <a:gd name="p0y14" fmla="*/ 17 h 120"/>
              <a:gd name="p0x15" fmla="*/ 17 w 120"/>
              <a:gd name="p0y15" fmla="*/ 9 h 120"/>
              <a:gd name="p0x16" fmla="*/ 17 w 120"/>
              <a:gd name="p0y16" fmla="*/ 0 h 1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5300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单击此处添加标题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0 h 1117600"/>
              <a:gd name="connisteX1" fmla="*/ 50800 w 50800"/>
              <a:gd name="connsiteY1" fmla="*/ 0 h 1117600"/>
              <a:gd name="connisteX2" fmla="*/ 50800 w 50800"/>
              <a:gd name="connsiteY2" fmla="*/ 1117600 h 1117600"/>
              <a:gd name="connisteX3" fmla="*/ 0 w 50800"/>
              <a:gd name="connsiteY3" fmla="*/ 1117600 h 1117600"/>
              <a:gd name="connisteX4" fmla="*/ 0 w 50800"/>
              <a:gd name="connsiteY4" fmla="*/ 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单击此处添加项标题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单击此处添加项正文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@png2x_装饰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655487" y="0"/>
            <a:ext cx="10536513" cy="6858000"/>
          </a:xfrm>
          <a:prstGeom prst="rect">
            <a:avLst/>
          </a:prstGeom>
        </p:spPr>
      </p:pic>
      <p:pic>
        <p:nvPicPr>
          <p:cNvPr id="2" name="图片 1" descr="Frame 117128004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2667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</a:fld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3312795" y="3429635"/>
            <a:ext cx="7520305" cy="1840865"/>
          </a:xfrm>
          <a:noFill/>
        </p:spPr>
        <p:txBody>
          <a:bodyPr lIns="0" tIns="0" rIns="0" bIns="0" anchor="t">
            <a:normAutofit/>
          </a:bodyPr>
          <a:lstStyle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汉仪中宋简" panose="02010600000101010101" charset="-122"/>
                <a:ea typeface="汉仪中宋简" panose="02010600000101010101" charset="-122"/>
              </a:rPr>
              <a:t>章节页的标题内容标题</a:t>
            </a:r>
            <a:endParaRPr lang="zh-CN" altLang="en-US" smtClean="0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  <p:custDataLst>
              <p:tags r:id="rId10"/>
            </p:custDataLst>
          </p:nvPr>
        </p:nvSpPr>
        <p:spPr>
          <a:xfrm>
            <a:off x="8568055" y="1193165"/>
            <a:ext cx="2239645" cy="2236470"/>
          </a:xfrm>
          <a:noFill/>
        </p:spPr>
        <p:txBody>
          <a:bodyPr lIns="0" tIns="0" rIns="0" bIns="0" anchor="ctr">
            <a:noAutofit/>
          </a:bodyPr>
          <a:lstStyle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zh-CN" altLang="en-US" smtClean="0">
                <a:latin typeface="汉仪书宋二简" panose="02010600000101010101" charset="-122"/>
                <a:ea typeface="汉仪书宋二简" panose="02010600000101010101" charset="-122"/>
              </a:rPr>
              <a:t>01</a:t>
            </a:r>
            <a:endParaRPr lang="zh-CN" altLang="en-US" smtClean="0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4" Type="http://schemas.openxmlformats.org/officeDocument/2006/relationships/slideLayout" Target="../slideLayouts/slideLayout22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image" Target="../media/image12.svg"/><Relationship Id="rId2" Type="http://schemas.openxmlformats.org/officeDocument/2006/relationships/tags" Target="../tags/tag208.xml"/><Relationship Id="rId19" Type="http://schemas.openxmlformats.org/officeDocument/2006/relationships/image" Target="../media/image11.png"/><Relationship Id="rId18" Type="http://schemas.openxmlformats.org/officeDocument/2006/relationships/tags" Target="../tags/tag220.xml"/><Relationship Id="rId17" Type="http://schemas.openxmlformats.org/officeDocument/2006/relationships/tags" Target="../tags/tag219.xml"/><Relationship Id="rId16" Type="http://schemas.openxmlformats.org/officeDocument/2006/relationships/tags" Target="../tags/tag218.xml"/><Relationship Id="rId15" Type="http://schemas.openxmlformats.org/officeDocument/2006/relationships/tags" Target="../tags/tag217.xml"/><Relationship Id="rId14" Type="http://schemas.openxmlformats.org/officeDocument/2006/relationships/tags" Target="../tags/tag216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image" Target="../media/image13.jpeg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6" Type="http://schemas.openxmlformats.org/officeDocument/2006/relationships/slideLayout" Target="../slideLayouts/slideLayout21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image" Target="../media/image14.jpeg"/><Relationship Id="rId11" Type="http://schemas.openxmlformats.org/officeDocument/2006/relationships/tags" Target="../tags/tag233.xml"/><Relationship Id="rId10" Type="http://schemas.openxmlformats.org/officeDocument/2006/relationships/tags" Target="../tags/tag232.xml"/><Relationship Id="rId1" Type="http://schemas.openxmlformats.org/officeDocument/2006/relationships/tags" Target="../tags/tag22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image" Target="../media/image15.jpeg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8" Type="http://schemas.openxmlformats.org/officeDocument/2006/relationships/slideLayout" Target="../slideLayouts/slideLayout20.xml"/><Relationship Id="rId17" Type="http://schemas.openxmlformats.org/officeDocument/2006/relationships/tags" Target="../tags/tag253.xml"/><Relationship Id="rId16" Type="http://schemas.openxmlformats.org/officeDocument/2006/relationships/tags" Target="../tags/tag252.xml"/><Relationship Id="rId15" Type="http://schemas.openxmlformats.org/officeDocument/2006/relationships/tags" Target="../tags/tag251.xml"/><Relationship Id="rId14" Type="http://schemas.openxmlformats.org/officeDocument/2006/relationships/image" Target="../media/image17.jpeg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4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tags" Target="../tags/tag25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image" Target="../media/image19.jpeg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image" Target="../media/image18.jpeg"/><Relationship Id="rId2" Type="http://schemas.openxmlformats.org/officeDocument/2006/relationships/tags" Target="../tags/tag269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275.xml"/><Relationship Id="rId1" Type="http://schemas.openxmlformats.org/officeDocument/2006/relationships/tags" Target="../tags/tag26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image" Target="../media/image21.jpeg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image" Target="../media/image20.jpeg"/><Relationship Id="rId2" Type="http://schemas.openxmlformats.org/officeDocument/2006/relationships/tags" Target="../tags/tag280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286.xml"/><Relationship Id="rId1" Type="http://schemas.openxmlformats.org/officeDocument/2006/relationships/tags" Target="../tags/tag27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image" Target="../media/image22.jpeg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image" Target="../media/image23.jpeg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image" Target="../media/image24.jpeg"/><Relationship Id="rId3" Type="http://schemas.openxmlformats.org/officeDocument/2006/relationships/tags" Target="../tags/tag304.xml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319.xml"/><Relationship Id="rId21" Type="http://schemas.openxmlformats.org/officeDocument/2006/relationships/tags" Target="../tags/tag318.xml"/><Relationship Id="rId20" Type="http://schemas.openxmlformats.org/officeDocument/2006/relationships/tags" Target="../tags/tag317.xml"/><Relationship Id="rId2" Type="http://schemas.openxmlformats.org/officeDocument/2006/relationships/tags" Target="../tags/tag303.xml"/><Relationship Id="rId19" Type="http://schemas.openxmlformats.org/officeDocument/2006/relationships/image" Target="../media/image27.png"/><Relationship Id="rId18" Type="http://schemas.openxmlformats.org/officeDocument/2006/relationships/tags" Target="../tags/tag316.xml"/><Relationship Id="rId17" Type="http://schemas.openxmlformats.org/officeDocument/2006/relationships/tags" Target="../tags/tag315.xml"/><Relationship Id="rId16" Type="http://schemas.openxmlformats.org/officeDocument/2006/relationships/tags" Target="../tags/tag314.xml"/><Relationship Id="rId15" Type="http://schemas.openxmlformats.org/officeDocument/2006/relationships/tags" Target="../tags/tag313.xml"/><Relationship Id="rId14" Type="http://schemas.openxmlformats.org/officeDocument/2006/relationships/image" Target="../media/image26.jpeg"/><Relationship Id="rId13" Type="http://schemas.openxmlformats.org/officeDocument/2006/relationships/tags" Target="../tags/tag312.xml"/><Relationship Id="rId12" Type="http://schemas.openxmlformats.org/officeDocument/2006/relationships/tags" Target="../tags/tag311.xml"/><Relationship Id="rId11" Type="http://schemas.openxmlformats.org/officeDocument/2006/relationships/tags" Target="../tags/tag310.xml"/><Relationship Id="rId10" Type="http://schemas.openxmlformats.org/officeDocument/2006/relationships/tags" Target="../tags/tag309.xml"/><Relationship Id="rId1" Type="http://schemas.openxmlformats.org/officeDocument/2006/relationships/tags" Target="../tags/tag30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image" Target="../media/image28.jpeg"/><Relationship Id="rId2" Type="http://schemas.openxmlformats.org/officeDocument/2006/relationships/tags" Target="../tags/tag324.xml"/><Relationship Id="rId1" Type="http://schemas.openxmlformats.org/officeDocument/2006/relationships/tags" Target="../tags/tag32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341.xml"/><Relationship Id="rId13" Type="http://schemas.openxmlformats.org/officeDocument/2006/relationships/tags" Target="../tags/tag34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tags" Target="../tags/tag32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351.xml"/><Relationship Id="rId7" Type="http://schemas.openxmlformats.org/officeDocument/2006/relationships/tags" Target="../tags/tag350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4" Type="http://schemas.openxmlformats.org/officeDocument/2006/relationships/image" Target="../media/image29.png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tags" Target="../tags/tag34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、填空：</a:t>
            </a:r>
            <a:r>
              <a:rPr lang="en-US" altLang="zh-CN"/>
              <a:t>10</a:t>
            </a:r>
            <a:r>
              <a:rPr lang="zh-CN" altLang="en-US"/>
              <a:t>道</a:t>
            </a:r>
            <a:r>
              <a:rPr lang="en-US" altLang="zh-CN"/>
              <a:t>  </a:t>
            </a:r>
            <a:r>
              <a:rPr lang="zh-CN" altLang="en-US"/>
              <a:t>每个</a:t>
            </a:r>
            <a:r>
              <a:rPr lang="en-US" altLang="zh-CN"/>
              <a:t>1.5</a:t>
            </a:r>
            <a:r>
              <a:rPr lang="zh-CN" altLang="en-US"/>
              <a:t>分</a:t>
            </a:r>
            <a:r>
              <a:rPr lang="en-US" altLang="zh-CN"/>
              <a:t> 15</a:t>
            </a:r>
            <a:r>
              <a:rPr lang="zh-CN" altLang="en-US"/>
              <a:t>分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、判断改错</a:t>
            </a:r>
            <a:r>
              <a:rPr lang="en-US" altLang="zh-CN"/>
              <a:t>  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道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1.5</a:t>
            </a:r>
            <a:r>
              <a:rPr lang="zh-CN" altLang="en-US">
                <a:sym typeface="+mn-ea"/>
              </a:rPr>
              <a:t>分</a:t>
            </a:r>
            <a:r>
              <a:rPr lang="en-US" altLang="zh-CN">
                <a:sym typeface="+mn-ea"/>
              </a:rPr>
              <a:t> 15</a:t>
            </a:r>
            <a:r>
              <a:rPr lang="zh-CN" altLang="en-US">
                <a:sym typeface="+mn-ea"/>
              </a:rPr>
              <a:t>分</a:t>
            </a:r>
            <a:endParaRPr lang="zh-CN" altLang="en-US">
              <a:sym typeface="+mn-ea"/>
            </a:endParaRPr>
          </a:p>
          <a:p>
            <a:r>
              <a:rPr lang="en-US" altLang="zh-CN"/>
              <a:t>3</a:t>
            </a:r>
            <a:r>
              <a:rPr lang="zh-CN" altLang="en-US"/>
              <a:t>、名词解释：</a:t>
            </a:r>
            <a:r>
              <a:rPr lang="en-US" altLang="zh-CN"/>
              <a:t>5</a:t>
            </a:r>
            <a:r>
              <a:rPr lang="zh-CN" altLang="en-US"/>
              <a:t>道，每个</a:t>
            </a:r>
            <a:r>
              <a:rPr lang="en-US" altLang="zh-CN"/>
              <a:t>3</a:t>
            </a:r>
            <a:r>
              <a:rPr lang="zh-CN" altLang="en-US"/>
              <a:t>分</a:t>
            </a:r>
            <a:r>
              <a:rPr lang="en-US" altLang="zh-CN"/>
              <a:t>   15</a:t>
            </a:r>
            <a:r>
              <a:rPr lang="zh-CN" altLang="en-US"/>
              <a:t>分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、简答：</a:t>
            </a:r>
            <a:r>
              <a:rPr lang="en-US" altLang="zh-CN"/>
              <a:t>5</a:t>
            </a:r>
            <a:r>
              <a:rPr lang="zh-CN" altLang="en-US"/>
              <a:t>道，每题</a:t>
            </a:r>
            <a:r>
              <a:rPr lang="en-US" altLang="zh-CN"/>
              <a:t>8</a:t>
            </a:r>
            <a:r>
              <a:rPr lang="zh-CN" altLang="en-US"/>
              <a:t>分，</a:t>
            </a:r>
            <a:r>
              <a:rPr lang="en-US" altLang="zh-CN"/>
              <a:t>40</a:t>
            </a:r>
            <a:r>
              <a:rPr lang="zh-CN" altLang="en-US"/>
              <a:t>分</a:t>
            </a:r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、计算题，</a:t>
            </a:r>
            <a:r>
              <a:rPr lang="en-US" altLang="zh-CN"/>
              <a:t>2</a:t>
            </a:r>
            <a:r>
              <a:rPr lang="zh-CN" altLang="en-US"/>
              <a:t>道，共计</a:t>
            </a:r>
            <a:r>
              <a:rPr lang="en-US" altLang="zh-CN"/>
              <a:t>15</a:t>
            </a:r>
            <a:r>
              <a:rPr lang="zh-CN" altLang="en-US"/>
              <a:t>分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概述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01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数据挖掘的定义与核心功能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从海量数据中提取未知、潜在有用知识的过程，核心功能包括预测（分类、回归）和描述（聚类、关联规则）两大方面。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CRISP-DM标准流程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跨行业数据挖掘标准流程，包括业务理解、数据理解、数据准备、建立模型、模型评估、结果部署六个依次进行的阶段。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6910" y="1661160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数据的核心生产要素地位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1030" y="2219960"/>
            <a:ext cx="4724400" cy="914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数据已成为核心生产要素，其价值通过数据挖掘技术转化为有效的决策支持，驱动各行业发展。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数据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02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8" name="图片占位符 17" descr="7"/>
          <p:cNvPicPr>
            <a:picLocks noChangeAspect="1"/>
          </p:cNvPicPr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1680" y="23672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数据类型分类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按结构分为结构化（关系表）、半结构化（XML/JSON）、非结构化（文本/图像）；按处理方式分为批数据（静态）和流数据（动态）。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9" name="图片占位符 18" descr="2"/>
          <p:cNvPicPr>
            <a:picLocks noChangeAspect="1"/>
          </p:cNvPicPr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0880" y="23672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属性类型划分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属性类型包括标称（如颜色）、序数（如等级）、区间（如温度）、比率（如长度），不同类型支持不同的数学运算和分析方法。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0" name="图片占位符 19" descr="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30080" y="23672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数据统计特征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>
          <a:xfrm>
            <a:off x="8534400" y="4165600"/>
            <a:ext cx="2641600" cy="1835150"/>
          </a:xfrm>
        </p:spPr>
        <p:txBody>
          <a:bodyPr>
            <a:normAutofit lnSpcReduction="10000"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统计特征涵盖集中趋势（均值、中位数）、离散程度（方差、标准差）、分布形状（偏态、峰态），是数据描述和分析的基础。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23"/>
    </p:custData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4" name="图片占位符 23" descr="88e3a79e-bb08-11f0-a806-be1c7f8e951c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3235" b="13235"/>
          <a:stretch>
            <a:fillRect/>
          </a:stretch>
        </p:blipFill>
        <p:spPr>
          <a:xfrm>
            <a:off x="609600" y="1524000"/>
            <a:ext cx="3454400" cy="20320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集合距离度量方法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集合距离度量包括SMC（简单匹配系数）和Jaccard系数，用于衡量两个集合的相似程度。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几何距离度量方法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几何距离基于闵可夫斯基距离，包括曼哈顿距离、欧氏距离、切比雪夫距离等，适用于连续型数据的相似性计算。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6" name="图片占位符 25" descr="88e3a9c0-bb08-11f0-a806-be1c7f8e951c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/>
          <a:srcRect l="7500" r="7500"/>
          <a:stretch>
            <a:fillRect/>
          </a:stretch>
        </p:blipFill>
        <p:spPr>
          <a:xfrm>
            <a:off x="8128000" y="1524000"/>
            <a:ext cx="3454400" cy="20320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语义距离度量方法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语义距离常用余弦相似度，通过向量空间中夹角的余弦值衡量文本等数据的语义相似程度。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5"/>
    </p:custData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数据预处理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03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4" name="图片占位符 23" descr="88e66ac7-bb08-11f0-82f1-6e9fcca2024d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b="30882"/>
          <a:stretch>
            <a:fillRect/>
          </a:stretch>
        </p:blipFill>
        <p:spPr>
          <a:xfrm>
            <a:off x="609600" y="1524000"/>
            <a:ext cx="3454400" cy="2387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数据清洗的主要任务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数据清洗包括处理缺失值（如插补方法）、异常值（如3σ准则）、重复记录（如实体识别技术），以提高数据质量。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5" name="图片占位符 24" descr="88e66ad8-bb08-11f0-82f1-6e9fcca2024d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r="3803" b="266"/>
          <a:stretch>
            <a:fillRect/>
          </a:stretch>
        </p:blipFill>
        <p:spPr>
          <a:xfrm>
            <a:off x="4368800" y="1524000"/>
            <a:ext cx="3454400" cy="2387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数据变换的常用方法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数据变换包括规范化（最小-最大规范化、z-score规范化）和离散化（等宽分箱、ChiMerge算法），使数据符合分析要求。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26" name="图片占位符 25" descr="88e6696f-bb08-11f0-82f1-6e9fcca2024d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1773" r="1773"/>
          <a:stretch>
            <a:fillRect/>
          </a:stretch>
        </p:blipFill>
        <p:spPr>
          <a:xfrm>
            <a:off x="8128000" y="1524000"/>
            <a:ext cx="3454400" cy="23876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数据集成与规约技术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数据集成涉及多源数据合并，需解决模式冲突；数据规约包括属性规约（如PCA）和数值规约（如抽样），减少数据量。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7"/>
    </p:custData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数据仓库和数据湖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04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数据仓库的定义与特点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数据仓库是面向主题、集成、稳定、随时间变化的数据集，主要用于OLAP分析，区别于OLTP的事务处理功能。与数据库的区别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  <a:p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ETL流程的关键环节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ETL包括数据抽取（全量或增量抽取）、转换（清洗、聚合等处理）、加载（数据刷新或更新）三个关键环节。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数据湖与湖仓一体架构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数据湖是存储原始格式数据的分布式系统，支持多类型分析；湖仓一体架构融合数据仓库和数据湖优势，实现数据统一管理。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8000" y="1837690"/>
            <a:ext cx="35064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数据模型：</a:t>
            </a:r>
            <a:endParaRPr lang="zh-CN" altLang="en-US"/>
          </a:p>
          <a:p>
            <a:r>
              <a:rPr lang="zh-CN" altLang="en-US"/>
              <a:t>星型模型（单事实表</a:t>
            </a:r>
            <a:r>
              <a:rPr lang="en-US" altLang="zh-CN"/>
              <a:t>+</a:t>
            </a:r>
            <a:r>
              <a:rPr lang="zh-CN" altLang="en-US"/>
              <a:t>多维度表）、</a:t>
            </a:r>
            <a:endParaRPr lang="zh-CN" altLang="en-US"/>
          </a:p>
          <a:p>
            <a:r>
              <a:rPr lang="zh-CN" altLang="en-US"/>
              <a:t>雪花模型（维度表规范化）、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星</a:t>
            </a:r>
            <a:r>
              <a:rPr lang="en-US" altLang="zh-CN"/>
              <a:t>-</a:t>
            </a:r>
            <a:r>
              <a:rPr lang="zh-CN" altLang="en-US"/>
              <a:t>雪花混合模型。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pic>
        <p:nvPicPr>
          <p:cNvPr id="15" name="内容占位符 14" descr="88f8fe9b-bb08-11f0-8db4-5a1236927770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8859" t="15430" r="3162"/>
          <a:stretch>
            <a:fillRect/>
          </a:stretch>
        </p:blipFill>
        <p:spPr>
          <a:xfrm>
            <a:off x="609600" y="1524000"/>
            <a:ext cx="5334000" cy="3251200"/>
          </a:xfrm>
          <a:custGeom>
            <a:avLst/>
            <a:gdLst>
              <a:gd name="connisteX0" fmla="*/ 0 w 5334000"/>
              <a:gd name="connsiteY0" fmla="*/ 0 h 3251200"/>
              <a:gd name="connisteX1" fmla="*/ 5334000 w 5334000"/>
              <a:gd name="connsiteY1" fmla="*/ 0 h 3251200"/>
              <a:gd name="connisteX2" fmla="*/ 5334000 w 5334000"/>
              <a:gd name="connsiteY2" fmla="*/ 3251200 h 3251200"/>
              <a:gd name="connisteX3" fmla="*/ 0 w 5334000"/>
              <a:gd name="connsiteY3" fmla="*/ 3251200 h 3251200"/>
              <a:gd name="connisteX4" fmla="*/ 0 w 5334000"/>
              <a:gd name="connsiteY4" fmla="*/ 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3251200">
                <a:moveTo>
                  <a:pt x="0" y="0"/>
                </a:moveTo>
                <a:lnTo>
                  <a:pt x="5334000" y="0"/>
                </a:lnTo>
                <a:lnTo>
                  <a:pt x="53340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数据仓库架构模式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数据仓库架构主要有Inmon的自顶向下模式和Kimball的自底向上模式，分别适用于不同的企业数据环境。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6" name="内容占位符 15" descr="88f8fe39-bb08-11f0-8db4-5a1236927770"/>
          <p:cNvPicPr>
            <a:picLocks noChangeAspect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l="19949" t="20898" r="21817" b="16016"/>
          <a:stretch>
            <a:fillRect/>
          </a:stretch>
        </p:blipFill>
        <p:spPr>
          <a:xfrm>
            <a:off x="6248400" y="1524000"/>
            <a:ext cx="5334000" cy="3251200"/>
          </a:xfrm>
          <a:custGeom>
            <a:avLst/>
            <a:gdLst>
              <a:gd name="connisteX0" fmla="*/ 0 w 5334000"/>
              <a:gd name="connsiteY0" fmla="*/ 0 h 3251200"/>
              <a:gd name="connisteX1" fmla="*/ 5334000 w 5334000"/>
              <a:gd name="connsiteY1" fmla="*/ 0 h 3251200"/>
              <a:gd name="connisteX2" fmla="*/ 5334000 w 5334000"/>
              <a:gd name="connsiteY2" fmla="*/ 3251200 h 3251200"/>
              <a:gd name="connisteX3" fmla="*/ 0 w 5334000"/>
              <a:gd name="connsiteY3" fmla="*/ 3251200 h 3251200"/>
              <a:gd name="connisteX4" fmla="*/ 0 w 5334000"/>
              <a:gd name="connsiteY4" fmla="*/ 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334000" h="3251200">
                <a:moveTo>
                  <a:pt x="0" y="0"/>
                </a:moveTo>
                <a:lnTo>
                  <a:pt x="5334000" y="0"/>
                </a:lnTo>
                <a:lnTo>
                  <a:pt x="53340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OLAP的基本操作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OLAP操作包括切片、切块、钻取等，通过多维数据分析帮助用户从不同角度获取信息。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关联规则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05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pic>
        <p:nvPicPr>
          <p:cNvPr id="15" name="图片占位符 14" descr="8946e71b-bb08-11f0-b490-1a79a98bbbca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 l="16667" r="16667"/>
          <a:stretch>
            <a:fillRect/>
          </a:stretch>
        </p:blipFill>
        <p:spPr>
          <a:xfrm>
            <a:off x="20320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关联规则的核心指标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关联规则的核心指标包括支持度（项集出现频度）、置信度（规则可靠性）、提升度（衡量相关性，&gt;1表示正相关）。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6" name="图片占位符 15" descr="8946e4fe-bb08-11f0-b490-1a79a98bbbca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 r="29124" b="5435"/>
          <a:stretch>
            <a:fillRect/>
          </a:stretch>
        </p:blipFill>
        <p:spPr>
          <a:xfrm>
            <a:off x="7823200" y="1803400"/>
            <a:ext cx="2336800" cy="2336800"/>
          </a:xfrm>
          <a:custGeom>
            <a:avLst/>
            <a:gdLst>
              <a:gd name="connisteX0" fmla="*/ 0 w 2336800"/>
              <a:gd name="connsiteY0" fmla="*/ 1168400 h 2336800"/>
              <a:gd name="connisteX1" fmla="*/ 1168400 w 2336800"/>
              <a:gd name="connsiteY1" fmla="*/ 0 h 2336800"/>
              <a:gd name="connisteX2" fmla="*/ 1168400 w 2336800"/>
              <a:gd name="connsiteY2" fmla="*/ 0 h 2336800"/>
              <a:gd name="connisteX3" fmla="*/ 2336800 w 2336800"/>
              <a:gd name="connsiteY3" fmla="*/ 1168400 h 2336800"/>
              <a:gd name="connisteX4" fmla="*/ 2336800 w 2336800"/>
              <a:gd name="connsiteY4" fmla="*/ 1168400 h 2336800"/>
              <a:gd name="connisteX5" fmla="*/ 1168400 w 2336800"/>
              <a:gd name="connsiteY5" fmla="*/ 2336800 h 2336800"/>
              <a:gd name="connisteX6" fmla="*/ 1168400 w 2336800"/>
              <a:gd name="connsiteY6" fmla="*/ 2336800 h 2336800"/>
              <a:gd name="connisteX7" fmla="*/ 0 w 2336800"/>
              <a:gd name="connsiteY7" fmla="*/ 1168400 h 2336800"/>
              <a:gd name="connisteX8" fmla="*/ 0 w 2336800"/>
              <a:gd name="connsiteY8" fmla="*/ 1168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336800" h="2336800">
                <a:moveTo>
                  <a:pt x="0" y="1168400"/>
                </a:moveTo>
                <a:cubicBezTo>
                  <a:pt x="0" y="523110"/>
                  <a:pt x="523110" y="0"/>
                  <a:pt x="1168400" y="0"/>
                </a:cubicBezTo>
                <a:lnTo>
                  <a:pt x="1168400" y="0"/>
                </a:lnTo>
                <a:cubicBezTo>
                  <a:pt x="1813690" y="0"/>
                  <a:pt x="2336800" y="523110"/>
                  <a:pt x="2336800" y="1168400"/>
                </a:cubicBezTo>
                <a:lnTo>
                  <a:pt x="2336800" y="1168400"/>
                </a:lnTo>
                <a:cubicBezTo>
                  <a:pt x="2336800" y="1813690"/>
                  <a:pt x="1813690" y="2336800"/>
                  <a:pt x="1168400" y="2336800"/>
                </a:cubicBezTo>
                <a:lnTo>
                  <a:pt x="1168400" y="2336800"/>
                </a:lnTo>
                <a:cubicBezTo>
                  <a:pt x="523110" y="2336800"/>
                  <a:pt x="0" y="1813690"/>
                  <a:pt x="0" y="1168400"/>
                </a:cubicBezTo>
                <a:lnTo>
                  <a:pt x="0" y="11684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频繁项集的定义与性质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频繁项集是支持度≥阈值的项集，满足先验原理，即频繁项集的所有子集也一定是频繁的。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0"/>
    </p:custData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pic>
        <p:nvPicPr>
          <p:cNvPr id="12" name="内容占位符 11" descr="8714399f-bb08-11f0-bac2-ded83cb638ad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r="20000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486400 w 5486400"/>
              <a:gd name="connsiteY1" fmla="*/ 0 h 4724400"/>
              <a:gd name="connisteX2" fmla="*/ 5486400 w 5486400"/>
              <a:gd name="connsiteY2" fmla="*/ 4724400 h 4724400"/>
              <a:gd name="connisteX3" fmla="*/ 0 w 5486400"/>
              <a:gd name="connsiteY3" fmla="*/ 4724400 h 4724400"/>
              <a:gd name="connisteX4" fmla="*/ 0 w 54864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4724400">
                <a:moveTo>
                  <a:pt x="0" y="0"/>
                </a:moveTo>
                <a:lnTo>
                  <a:pt x="5486400" y="0"/>
                </a:lnTo>
                <a:lnTo>
                  <a:pt x="54864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Apriori算法原理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Apriori算法通过逐层生成候选集，利用先验原理剪枝，需多次扫描数据库来挖掘频繁项集。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7"/>
    </p:custData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聚类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06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pic>
        <p:nvPicPr>
          <p:cNvPr id="10" name="内容占位符 9" descr="8891f774-bb08-11f0-a5a5-9e21e7cf4a53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l="1608" r="5381"/>
          <a:stretch>
            <a:fillRect/>
          </a:stretch>
        </p:blipFill>
        <p:spPr>
          <a:xfrm>
            <a:off x="75184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4038600 w 4038600"/>
              <a:gd name="connsiteY1" fmla="*/ 0 h 4724400"/>
              <a:gd name="connisteX2" fmla="*/ 4038600 w 4038600"/>
              <a:gd name="connsiteY2" fmla="*/ 4724400 h 4724400"/>
              <a:gd name="connisteX3" fmla="*/ 0 w 4038600"/>
              <a:gd name="connsiteY3" fmla="*/ 4724400 h 4724400"/>
              <a:gd name="connisteX4" fmla="*/ 0 w 40386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4724400">
                <a:moveTo>
                  <a:pt x="0" y="0"/>
                </a:moveTo>
                <a:lnTo>
                  <a:pt x="4038600" y="0"/>
                </a:lnTo>
                <a:lnTo>
                  <a:pt x="40386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簇的定义与评价指标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簇是相似数据对象的集合，其评价指标包括外部指标（如纯度、NMI等）和内部指标（轮廓系数）。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7"/>
    </p:custData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主要方法：原理和特点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31" name="图片占位符 30" descr="88f768b8-bb08-11f0-a806-be1c7f8e951c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12852" r="12852"/>
          <a:stretch>
            <a:fillRect/>
          </a:stretch>
        </p:blipFill>
        <p:spPr>
          <a:xfrm>
            <a:off x="609600" y="1524000"/>
            <a:ext cx="2514600" cy="20320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分割法聚类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分割法如K-Means算法，适用于凸形分布数据，通过最小化簇内方差实现聚类。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>
          <a:xfrm>
            <a:off x="3429000" y="3667760"/>
            <a:ext cx="2514600" cy="2692400"/>
          </a:xfrm>
        </p:spPr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  <a:sym typeface="+mn-ea"/>
              </a:rPr>
              <a:t>层次法聚类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32" name="图片占位符 31" descr="88f76664-bb08-11f0-a806-be1c7f8e951c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15625" t="9848" r="14648"/>
          <a:stretch>
            <a:fillRect/>
          </a:stretch>
        </p:blipFill>
        <p:spPr>
          <a:xfrm>
            <a:off x="3429000" y="1524000"/>
            <a:ext cx="2514600" cy="20320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3528060" y="4971415"/>
            <a:ext cx="1905000" cy="406400"/>
          </a:xfrm>
        </p:spPr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网格聚类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3733800" y="4216400"/>
            <a:ext cx="1905000" cy="704215"/>
          </a:xfrm>
        </p:spPr>
        <p:txBody>
          <a:bodyPr>
            <a:normAutofit fontScale="90000"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层次法包括凝聚式聚类（自底向上合并）。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33" name="图片占位符 32" descr="88f76729-bb08-11f0-a806-be1c7f8e951c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t="9596" b="9596"/>
          <a:stretch>
            <a:fillRect/>
          </a:stretch>
        </p:blipFill>
        <p:spPr>
          <a:xfrm>
            <a:off x="6248400" y="1524000"/>
            <a:ext cx="2514600" cy="20320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密度法聚类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密度法如DBSCAN算法，基于ε邻域和MinPts参数，能识别任意形状簇和噪声点。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34" name="图片占位符 33" descr="default_2_img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15195" r="15195"/>
          <a:stretch>
            <a:fillRect/>
          </a:stretch>
        </p:blipFill>
        <p:spPr>
          <a:xfrm>
            <a:off x="9067800" y="1524000"/>
            <a:ext cx="2514600" cy="203200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模型法聚类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模型法如GMM（高斯混合模型），假设数据服从高斯混合分布，通过EM算法估计模型参数进行聚类。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22"/>
    </p:custData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分类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07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pic>
        <p:nvPicPr>
          <p:cNvPr id="9" name="内容占位符 8" descr="8767c8e6-bb08-11f0-9002-a211e1b5f5dc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6944" b="6944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486400 w 5486400"/>
              <a:gd name="connsiteY1" fmla="*/ 0 h 4724400"/>
              <a:gd name="connisteX2" fmla="*/ 5486400 w 5486400"/>
              <a:gd name="connsiteY2" fmla="*/ 4724400 h 4724400"/>
              <a:gd name="connisteX3" fmla="*/ 0 w 5486400"/>
              <a:gd name="connsiteY3" fmla="*/ 4724400 h 4724400"/>
              <a:gd name="connisteX4" fmla="*/ 0 w 5486400"/>
              <a:gd name="connsiteY4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4724400">
                <a:moveTo>
                  <a:pt x="0" y="0"/>
                </a:moveTo>
                <a:lnTo>
                  <a:pt x="5486400" y="0"/>
                </a:lnTo>
                <a:lnTo>
                  <a:pt x="54864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混淆矩阵及衍生指标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混淆矩阵包含TP（真正例）、TN（真负例）、FP（假正例）、FN（假负例），衍生出准确率、召回率、F1分数、AUC等评价指标。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6"/>
    </p:custData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</a:t>
            </a:r>
            <a:r>
              <a:rPr lang="en-US" altLang="zh-CN">
                <a:latin typeface="汉仪中宋简" panose="02010600000101010101" charset="-122"/>
                <a:ea typeface="汉仪中宋简" panose="02010600000101010101" charset="-122"/>
              </a:rPr>
              <a:t>:</a:t>
            </a:r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原理和特点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决策树算法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决策树算法包括ID3（基于信息增益）、C4.5（基于信息增益率）、CART（基于Gini指数），可解释性强但易过拟合。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SVM算法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SVM通过寻找最优超平面进行分类，利用核函数处理非线性数据，在小样本高维数据上表现优异。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KNN算法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装饰  8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KNN是懒惰学习算法，依赖k近邻的多数投票进行分类，实现简单但预测时耗时较长。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朴素贝叶斯算法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朴素贝叶斯基于属性独立性假设，适用于高维数据（如文本分类），对噪声数据具有较强的鲁棒性。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4"/>
    </p:custData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异常检测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汉仪书宋二简" panose="02010600000101010101" charset="-122"/>
                <a:ea typeface="汉仪书宋二简" panose="02010600000101010101" charset="-122"/>
              </a:rPr>
              <a:t>09</a:t>
            </a:r>
            <a:endParaRPr lang="en-US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关键概念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7" name="图片占位符 16" descr="default_6_img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异常类型分类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异常类型包括全局异常（整体数据中偏离）、背景异常（上下文相关异常）、群体异常（数据子集异常）。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 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pic>
        <p:nvPicPr>
          <p:cNvPr id="18" name="图片占位符 17" descr="default_2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21875" r="21875"/>
          <a:stretch>
            <a:fillRect/>
          </a:stretch>
        </p:blipFill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异常检测方法分类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异常检测方法分为无监督（如LOF、孤立森林）、半监督（如One-Class SVM）和有监督（如分类器）三类。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12"/>
    </p:custData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汉仪中宋简" panose="02010600000101010101" charset="-122"/>
                <a:ea typeface="汉仪中宋简" panose="02010600000101010101" charset="-122"/>
              </a:rPr>
              <a:t>主要方法</a:t>
            </a:r>
            <a:endParaRPr lang="zh-CN" altLang="en-US">
              <a:latin typeface="汉仪中宋简" panose="02010600000101010101" charset="-122"/>
              <a:ea typeface="汉仪中宋简" panose="02010600000101010101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基于密度的异常检测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基于密度的方法如LOF（局部异常因子），通过比较数据点与其邻域的密度识别异常。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基于聚类的异常检测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基于聚类的方法包括DBSCAN（将噪声点视为异常）和孤立森林（通过隔离路径长度判断异常）。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8331200" y="2997200"/>
            <a:ext cx="3251200" cy="1271905"/>
          </a:xfrm>
        </p:spPr>
        <p:txBody>
          <a:bodyPr>
            <a:normAutofit/>
          </a:bodyPr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基于统计和距离的异常检测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  <a:p>
            <a:r>
              <a:rPr lang="zh-CN" altLang="en-US">
                <a:latin typeface="汉仪书宋二简" panose="02010600000101010101" charset="-122"/>
                <a:ea typeface="汉仪书宋二简" panose="02010600000101010101" charset="-122"/>
              </a:rPr>
              <a:t>时间序列异常的类型</a:t>
            </a:r>
            <a:endParaRPr lang="zh-CN" altLang="en-US">
              <a:latin typeface="汉仪书宋二简" panose="02010600000101010101" charset="-122"/>
              <a:ea typeface="汉仪书宋二简" panose="02010600000101010101" charset="-122"/>
            </a:endParaRPr>
          </a:p>
        </p:txBody>
      </p:sp>
    </p:spTree>
    <p:custDataLst>
      <p:tags r:id="rId7"/>
    </p:custData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数据可视化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高维数据可视化方法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图数据、文本可视化方法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b="1" spc="300" dirty="0">
                <a:latin typeface="+mj-ea"/>
                <a:ea typeface="+mj-ea"/>
                <a:sym typeface="+mn-ea"/>
              </a:rPr>
              <a:t>交互可视化方法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70b7a7d50d105207a7a28d8e4e21525f4e7d57"/>
  <p:tag name="KSO_WM_NEWLAYOUT_GROUP_ID" val="layout_10007"/>
  <p:tag name="KSO_WM_NEWLAYOUT_ID" val="slide_3769a8e1402e790d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59ec10dadd2a43da17c778cb30f83fc4dc8228"/>
  <p:tag name="KSO_WM_NEWLAYOUT_GROUP_ID" val="layout_31"/>
  <p:tag name="KSO_WM_NEWLAYOUT_ID" val="slide_026ae2c13dbe2c5b"/>
</p:tagLst>
</file>

<file path=ppt/tags/tag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8ca6f8d0f9b9607accc7aee52c794de6ad622d"/>
  <p:tag name="KSO_WM_NEWLAYOUT_GROUP_ID" val="layout_10003"/>
  <p:tag name="KSO_WM_NEWLAYOUT_ID" val="slide_1766f3ab37d21f6e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7fed047aeb03969f743c45bd7065f9797300ec"/>
  <p:tag name="KSO_WM_NEWLAYOUT_GROUP_ID" val="layout_10012"/>
  <p:tag name="KSO_WM_NEWLAYOUT_ID" val="slide_e570027fc99f031c"/>
</p:tagLst>
</file>

<file path=ppt/tags/tag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1ca76e1424c33e8931ad537bd8363ad5ff9a75"/>
  <p:tag name="KSO_WM_NEWLAYOUT_GROUP_ID" val="layout_38"/>
  <p:tag name="KSO_WM_NEWLAYOUT_ID" val="slide_53fbc8173f910587"/>
</p:tagLst>
</file>

<file path=ppt/tags/tag50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2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a108d20b1a46f961211b13b1f2259494575face"/>
  <p:tag name="KSO_WM_NEWLAYOUT_GROUP_ID" val="layout_61"/>
  <p:tag name="KSO_WM_NEWLAYOUT_ID" val="slide_62a85fdcd898282e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1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24cb85f1da341761f58f3fda938291d98a9485"/>
  <p:tag name="KSO_WM_NEWLAYOUT_GROUP_ID" val="layout_60"/>
  <p:tag name="KSO_WM_NEWLAYOUT_ID" val="slide_7a497b07d3397511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4c4b7557a51874c681fa98c39310757613e5c0"/>
  <p:tag name="KSO_WM_NEWLAYOUT_GROUP_ID" val="layout_34"/>
  <p:tag name="KSO_WM_NEWLAYOUT_ID" val="slide_3833bd97a87af417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77ad7bba5efd12b0b0cd05a55b1c49cdcf258"/>
  <p:tag name="KSO_WM_NEWLAYOUT_GROUP_ID" val="layout_10009"/>
  <p:tag name="KSO_WM_NEWLAYOUT_ID" val="slide_663634cc5316c693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b87cf9b97c3f9d9ed04f9a2a6fec88d9f8379f"/>
  <p:tag name="KSO_WM_NEWLAYOUT_GROUP_ID" val="layout_30"/>
  <p:tag name="KSO_WM_NEWLAYOUT_ID" val="slide_97e71a9c1fd50a82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0208552d36823db84343c3e9a31a7072526621"/>
  <p:tag name="KSO_WM_NEWLAYOUT_GROUP_ID" val="layout_53"/>
  <p:tag name="KSO_WM_NEWLAYOUT_ID" val="slide_1c63f389541666c8"/>
</p:tagLst>
</file>

<file path=ppt/tags/tag122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6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0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bec4ea527ce0e04ebf2c0b0c2bd9c5ee0f01bc"/>
  <p:tag name="KSO_WM_NEWLAYOUT_GROUP_ID" val="layout_26"/>
  <p:tag name="KSO_WM_NEWLAYOUT_ID" val="slide_33b65c8d547e38d4"/>
</p:tagLst>
</file>

<file path=ppt/tags/tag138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2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6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36b0eab64c26dff61900010f2b240840f6e81f6"/>
  <p:tag name="KSO_WM_NEWLAYOUT_GROUP_ID" val="layout_32"/>
  <p:tag name="KSO_WM_NEWLAYOUT_ID" val="slide_c5ffa415428627e2"/>
</p:tagLst>
</file>

<file path=ppt/tags/tag1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0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16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66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76fdc17e7d4ef0751563a1b1febfce742a0dfc"/>
  <p:tag name="KSO_WM_NEWLAYOUT_GROUP_ID" val="layout_6"/>
  <p:tag name="KSO_WM_NEWLAYOUT_ID" val="slide_a9b8dd85d7f4ac41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18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190.xml><?xml version="1.0" encoding="utf-8"?>
<p:tagLst xmlns:p="http://schemas.openxmlformats.org/presentationml/2006/main">
  <p:tag name="KSO_WM_BEAUTIFY_FLAG" val="#wm#"/>
  <p:tag name="KSO_WM_TEMPLATE_CATEGORY" val="custom"/>
  <p:tag name="KSO_WM_TEMPLATE_INDEX" val="40494644"/>
</p:tagLst>
</file>

<file path=ppt/tags/tag19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19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19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76fdc17e7d4ef0751563a1b1febfce742a0dfc"/>
  <p:tag name="KSO_WM_NEWLAYOUT_GROUP_ID" val="layout_6"/>
  <p:tag name="KSO_WM_NEWLAYOUT_ID" val="slide_a9b8dd85d7f4ac41"/>
  <p:tag name="KSO_WM_UNIT_PRESET_TEXT" val="单击此处添加标题"/>
</p:tagLst>
</file>

<file path=ppt/tags/tag1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9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0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a9b8dd85d7f4ac41"/>
</p:tagLst>
</file>

<file path=ppt/tags/tag20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20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206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36b0eab64c26dff61900010f2b240840f6e81f6"/>
  <p:tag name="KSO_WM_NEWLAYOUT_GROUP_ID" val="layout_32"/>
  <p:tag name="KSO_WM_NEWLAYOUT_ID" val="slide_c5ffa415428627e2"/>
  <p:tag name="KSO_WM_UNIT_PRESET_TEXT" val="单击此处添加标题"/>
</p:tagLst>
</file>

<file path=ppt/tags/tag2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0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21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1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1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21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1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22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2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c5ffa415428627e2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bec4ea527ce0e04ebf2c0b0c2bd9c5ee0f01bc"/>
  <p:tag name="KSO_WM_NEWLAYOUT_GROUP_ID" val="layout_26"/>
  <p:tag name="KSO_WM_NEWLAYOUT_ID" val="slide_33b65c8d547e38d4"/>
  <p:tag name="KSO_WM_UNIT_PRESET_TEXT" val="单击此处添加标题"/>
</p:tagLst>
</file>

<file path=ppt/tags/tag225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687463088&quot;,&quot;product_name&quot;:&quot;365wps-copilotchat-web&quot;,&quot;intention_code&quot;:&quot;365wps_cc_create_ppt&quot;}*gallery_gallery_ai_v2.1.6_ONLINE*31636166376334663036386235373864-slide-8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29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32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56407679&quot;,&quot;product_name&quot;:&quot;365wps-copilotchat-web&quot;,&quot;intention_code&quot;:&quot;365wps_cc_create_ppt&quot;}*gallery_gallery_ai_v2.1.6_ONLINE*31636166376334663036386235373864-slide-8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3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33b65c8d547e38d4"/>
</p:tagLst>
</file>

<file path=ppt/tags/tag23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23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23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0208552d36823db84343c3e9a31a7072526621"/>
  <p:tag name="KSO_WM_NEWLAYOUT_GROUP_ID" val="layout_53"/>
  <p:tag name="KSO_WM_NEWLAYOUT_ID" val="slide_1c63f389541666c8"/>
  <p:tag name="KSO_WM_UNIT_PRESET_TEXT" val="单击此处添加标题"/>
</p:tagLst>
</file>

<file path=ppt/tags/tag241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68445697&quot;,&quot;product_name&quot;:&quot;365wps-copilotchat-web&quot;,&quot;intention_code&quot;:&quot;365wps_cc_create_ppt&quot;}*gallery_gallery_ai_v2.1.6_ONLINE*31636166376334663036386235373864-slide-11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45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42732123&quot;,&quot;product_name&quot;:&quot;365wps-copilotchat-web&quot;,&quot;intention_code&quot;:&quot;365wps_cc_create_ppt&quot;}*gallery_gallery_ai_v2.1.6_ONLINE*31636166376334663036386235373864-slide-11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49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373799703&quot;,&quot;product_name&quot;:&quot;365wps-copilotchat-web&quot;,&quot;intention_code&quot;:&quot;365wps_cc_create_ppt&quot;}*gallery_gallery_ai_v2.1.6_ONLINE*31636166376334663036386235373864-slide-11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1c63f389541666c8"/>
</p:tagLst>
</file>

<file path=ppt/tags/tag254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25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256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b87cf9b97c3f9d9ed04f9a2a6fec88d9f8379f"/>
  <p:tag name="KSO_WM_NEWLAYOUT_GROUP_ID" val="layout_30"/>
  <p:tag name="KSO_WM_NEWLAYOUT_ID" val="slide_97e71a9c1fd50a82"/>
  <p:tag name="KSO_WM_UNIT_PRESET_TEXT" val="单击此处添加标题"/>
</p:tagLst>
</file>

<file path=ppt/tags/tag2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97e71a9c1fd50a82"/>
</p:tagLst>
</file>

<file path=ppt/tags/tag2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cd77ad7bba5efd12b0b0cd05a55b1c49cdcf258"/>
  <p:tag name="KSO_WM_NEWLAYOUT_GROUP_ID" val="layout_10009"/>
  <p:tag name="KSO_WM_NEWLAYOUT_ID" val="slide_663634cc5316c693"/>
  <p:tag name="KSO_WM_UNIT_PRESET_TEXT" val="单击此处添加标题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14936357&quot;,&quot;product_name&quot;:&quot;365wps-copilotchat-web&quot;,&quot;intention_code&quot;:&quot;365wps_cc_create_ppt&quot;}*gallery_gallery_ai_v2.1.6_ONLINE*31636166376334663036386235373864-slide-15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74647109&quot;,&quot;product_name&quot;:&quot;365wps-copilotchat-web&quot;,&quot;intention_code&quot;:&quot;365wps_cc_create_ppt&quot;}*gallery_gallery_ai_v2.1.6_ONLINE*31636166376334663036386235373864-slide-15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86"/>
  <p:tag name="KSO_WM_TEMPLATE_SLIDE_ID" val="slide_663634cc5316c693"/>
</p:tagLst>
</file>

<file path=ppt/tags/tag27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27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278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4c4b7557a51874c681fa98c39310757613e5c0"/>
  <p:tag name="KSO_WM_NEWLAYOUT_GROUP_ID" val="layout_34"/>
  <p:tag name="KSO_WM_NEWLAYOUT_ID" val="slide_3833bd97a87af417"/>
  <p:tag name="KSO_WM_UNIT_PRESET_TEXT" val="单击此处添加标题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40817617&quot;,&quot;product_name&quot;:&quot;365wps-copilotchat-web&quot;,&quot;intention_code&quot;:&quot;365wps_cc_create_ppt&quot;}*gallery_gallery_ai_v2.1.6_ONLINE*31636166376334663036386235373864-slide-18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627587368&quot;,&quot;product_name&quot;:&quot;365wps-copilotchat-web&quot;,&quot;intention_code&quot;:&quot;365wps_cc_create_ppt&quot;}*gallery_gallery_ai_v2.1.6_ONLINE*31636166376334663036386235373864-slide-18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86"/>
  <p:tag name="KSO_WM_TEMPLATE_SLIDE_ID" val="slide_3833bd97a87af417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24cb85f1da341761f58f3fda938291d98a9485"/>
  <p:tag name="KSO_WM_NEWLAYOUT_GROUP_ID" val="layout_60"/>
  <p:tag name="KSO_WM_NEWLAYOUT_ID" val="slide_7a497b07d3397511"/>
  <p:tag name="KSO_WM_UNIT_PRESET_TEXT" val="单击此处添加标题"/>
</p:tagLst>
</file>

<file path=ppt/tags/tag2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56133822&quot;,&quot;product_name&quot;:&quot;365wps-copilotchat-web&quot;,&quot;intention_code&quot;:&quot;365wps_cc_create_ppt&quot;}*gallery_gallery_ai_v2.1.6_ONLINE*31636166376334663036386235373864-slide-19"/>
</p:tagLst>
</file>

<file path=ppt/tags/tag28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86"/>
  <p:tag name="KSO_WM_TEMPLATE_SLIDE_ID" val="slide_7a497b07d3397511"/>
</p:tagLst>
</file>

<file path=ppt/tags/tag29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29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295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2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a108d20b1a46f961211b13b1f2259494575face"/>
  <p:tag name="KSO_WM_NEWLAYOUT_GROUP_ID" val="layout_61"/>
  <p:tag name="KSO_WM_NEWLAYOUT_ID" val="slide_62a85fdcd898282e"/>
  <p:tag name="KSO_WM_UNIT_PRESET_TEXT" val="单击此处添加标题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490427586&quot;,&quot;product_name&quot;:&quot;365wps-copilotchat-web&quot;,&quot;intention_code&quot;:&quot;365wps_cc_create_ppt&quot;}*gallery_gallery_ai_v2.1.6_ONLINE*31636166376334663036386235373864-slide-22"/>
</p:tagLst>
</file>

<file path=ppt/tags/tag298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0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86"/>
  <p:tag name="KSO_WM_TEMPLATE_SLIDE_ID" val="slide_62a85fdcd898282e"/>
</p:tagLst>
</file>

<file path=ppt/tags/tag3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1ca76e1424c33e8931ad537bd8363ad5ff9a75"/>
  <p:tag name="KSO_WM_NEWLAYOUT_GROUP_ID" val="layout_38"/>
  <p:tag name="KSO_WM_NEWLAYOUT_ID" val="slide_53fbc8173f910587"/>
  <p:tag name="KSO_WM_UNIT_PRESET_TEXT" val="单击此处添加标题"/>
</p:tagLst>
</file>

<file path=ppt/tags/tag303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295917096&quot;,&quot;product_name&quot;:&quot;365wps-copilotchat-web&quot;,&quot;intention_code&quot;:&quot;365wps_cc_create_ppt&quot;}*gallery_gallery_ai_v2.1.6_ONLINE*31636166376334663036386235373864-slide-23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211281345296&quot;,&quot;product_name&quot;:&quot;365wps-copilotchat-web&quot;,&quot;intention_code&quot;:&quot;365wps_cc_create_ppt&quot;}*gallery_gallery_ai_v2.1.6_ONLINE*31636166376334663036386235373864-slide-23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1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471616629&quot;,&quot;product_name&quot;:&quot;365wps-copilotchat-web&quot;,&quot;intention_code&quot;:&quot;365wps_cc_create_ppt&quot;}*gallery_gallery_ai_v2.1.6_ONLINE*31636166376334663036386235373864-slide-23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FIGMA_DECORATION_INDEX" val="18_pictureY1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&quot;,&quot;id&quot;:&quot;&quot;}*_ai_*1762430578223d2f39a39e9b9-slide-0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1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686"/>
  <p:tag name="KSO_WM_TEMPLATE_SLIDE_ID" val="slide_53fbc8173f910587"/>
</p:tagLst>
</file>

<file path=ppt/tags/tag32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32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322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7fed047aeb03969f743c45bd7065f9797300ec"/>
  <p:tag name="KSO_WM_NEWLAYOUT_GROUP_ID" val="layout_10012"/>
  <p:tag name="KSO_WM_NEWLAYOUT_ID" val="slide_e570027fc99f031c"/>
  <p:tag name="KSO_WM_UNIT_PRESET_TEXT" val="单击此处添加标题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95462615&quot;,&quot;product_name&quot;:&quot;365wps-copilotchat-web&quot;,&quot;intention_code&quot;:&quot;365wps_cc_create_ppt&quot;}*gallery_gallery_ai_v2.1.6_ONLINE*31636166376334663036386235373864-slide-26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27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686"/>
  <p:tag name="KSO_WM_TEMPLATE_SLIDE_ID" val="slide_e570027fc99f031c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8ca6f8d0f9b9607accc7aee52c794de6ad622d"/>
  <p:tag name="KSO_WM_NEWLAYOUT_GROUP_ID" val="layout_10003"/>
  <p:tag name="KSO_WM_NEWLAYOUT_ID" val="slide_1766f3ab37d21f6e"/>
  <p:tag name="KSO_WM_UNIT_PRESET_TEXT" val="单击此处添加标题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3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3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3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3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686"/>
  <p:tag name="KSO_WM_TEMPLATE_SLIDE_ID" val="slide_1766f3ab37d21f6e"/>
</p:tagLst>
</file>

<file path=ppt/tags/tag34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44"/>
  <p:tag name="KSO_WM_UNIT_LAYERLEVEL" val="1"/>
  <p:tag name="KSO_WM_UNIT_ID" val="custom40494644_3*a*1"/>
  <p:tag name="KSO_WM_TAG_VERSION" val="3.0"/>
  <p:tag name="KSO_WM_UNIT_ISCONTENTSTITLE" val="0"/>
  <p:tag name="KSO_WM_UNIT_ISNUMDGMTITLE" val="0"/>
  <p:tag name="KSO_WM_UNIT_PRESET_TEXT" val="章节页的标题内容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</p:tagLst>
</file>

<file path=ppt/tags/tag343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44"/>
  <p:tag name="KSO_WM_UNIT_LAYERLEVEL" val="1"/>
  <p:tag name="KSO_WM_UNIT_ID" val="custom40494644_3*e*1"/>
  <p:tag name="KSO_WM_TAG_VERSION" val="3.0"/>
  <p:tag name="KSO_WM_UNIT_NOCLEAR" val="0"/>
  <p:tag name="KSO_WM_UNIT_VALUE" val="1"/>
  <p:tag name="KSO_WM_UNIT_HIGHLIGHT" val="0"/>
  <p:tag name="KSO_WM_UNIT_COMPATIBLE" val="1"/>
  <p:tag name="KSO_WM_UNIT_DIAGRAM_ISNUMVISUAL" val="0"/>
  <p:tag name="KSO_WM_UNIT_DIAGRAM_ISREFERUNIT" val="0"/>
</p:tagLst>
</file>

<file path=ppt/tags/tag344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44"/>
  <p:tag name="KSO_WM_SLIDE_ID" val="custom40494644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59ec10dadd2a43da17c778cb30f83fc4dc8228"/>
  <p:tag name="KSO_WM_NEWLAYOUT_GROUP_ID" val="layout_31"/>
  <p:tag name="KSO_WM_NEWLAYOUT_ID" val="slide_026ae2c13dbe2c5b"/>
  <p:tag name="KSO_WM_UNIT_PRESET_TEXT" val="单击此处添加标题"/>
</p:tagLst>
</file>

<file path=ppt/tags/tag3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&quot;,&quot;id&quot;:&quot;&quot;}*_ai_*17624305781109eba3f014710-slide-0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17624305781109eba3f014710-slide-0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686"/>
  <p:tag name="KSO_WM_TEMPLATE_SLIDE_ID" val="slide_026ae2c13dbe2c5b"/>
</p:tagLst>
</file>

<file path=ppt/tags/tag3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70b7a7d50d105207a7a28d8e4e21525f4e7d57"/>
  <p:tag name="KSO_WM_NEWLAYOUT_GROUP_ID" val="layout_10007"/>
  <p:tag name="KSO_WM_NEWLAYOUT_ID" val="slide_3769a8e1402e790d"/>
  <p:tag name="KSO_WM_UNIT_PRESET_TEXT" val="单击此处添加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686"/>
  <p:tag name="KSO_WM_TEMPLATE_SLIDE_ID" val="slide_3769a8e1402e790d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70b7a7d50d105207a7a28d8e4e21525f4e7d57"/>
  <p:tag name="KSO_WM_NEWLAYOUT_GROUP_ID" val="layout_10007"/>
  <p:tag name="KSO_WM_NEWLAYOUT_ID" val="slide_3769a8e1402e790d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heme/theme1.xml><?xml version="1.0" encoding="utf-8"?>
<a:theme xmlns:a="http://schemas.openxmlformats.org/drawingml/2006/main" name="目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2253</Words>
  <Application>WPS 演示</Application>
  <PresentationFormat>宽屏</PresentationFormat>
  <Paragraphs>281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Century Gothic</vt:lpstr>
      <vt:lpstr>汉仪书宋二简</vt:lpstr>
      <vt:lpstr>汉仪中宋简</vt:lpstr>
      <vt:lpstr>Wingdings</vt:lpstr>
      <vt:lpstr>Arial Unicode MS</vt:lpstr>
      <vt:lpstr>Calibri</vt:lpstr>
      <vt:lpstr>目4​​</vt:lpstr>
      <vt:lpstr>封3​​</vt:lpstr>
      <vt:lpstr>题型</vt:lpstr>
      <vt:lpstr>概述</vt:lpstr>
      <vt:lpstr>关键概念</vt:lpstr>
      <vt:lpstr>数据</vt:lpstr>
      <vt:lpstr>关键概念</vt:lpstr>
      <vt:lpstr>主要方法</vt:lpstr>
      <vt:lpstr>数据预处理</vt:lpstr>
      <vt:lpstr>关键概念</vt:lpstr>
      <vt:lpstr>数据仓库和数据湖</vt:lpstr>
      <vt:lpstr>关键概念</vt:lpstr>
      <vt:lpstr>主要方法</vt:lpstr>
      <vt:lpstr>关联规则</vt:lpstr>
      <vt:lpstr>关键概念</vt:lpstr>
      <vt:lpstr>主要方法</vt:lpstr>
      <vt:lpstr>聚类</vt:lpstr>
      <vt:lpstr>关键概念</vt:lpstr>
      <vt:lpstr>主要方法：原理和特点</vt:lpstr>
      <vt:lpstr>分类</vt:lpstr>
      <vt:lpstr>关键概念</vt:lpstr>
      <vt:lpstr>主要方法:原理和特点</vt:lpstr>
      <vt:lpstr>异常检测</vt:lpstr>
      <vt:lpstr>关键概念</vt:lpstr>
      <vt:lpstr>主要方法</vt:lpstr>
      <vt:lpstr>数据可视化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hanning yuan</dc:creator>
  <cp:lastModifiedBy>yuan hn</cp:lastModifiedBy>
  <cp:revision>14</cp:revision>
  <dcterms:created xsi:type="dcterms:W3CDTF">2023-08-09T12:44:00Z</dcterms:created>
  <dcterms:modified xsi:type="dcterms:W3CDTF">2025-11-07T01:21:27Z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BACF66B8A68146D5AA46709068E765A4_12</vt:lpwstr>
  </property>
</Properties>
</file>